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  <p:sldMasterId id="2147483664" r:id="rId2"/>
    <p:sldMasterId id="2147483787" r:id="rId3"/>
    <p:sldMasterId id="2147483800" r:id="rId4"/>
    <p:sldMasterId id="2147483813" r:id="rId5"/>
    <p:sldMasterId id="2147483826" r:id="rId6"/>
  </p:sldMasterIdLst>
  <p:notesMasterIdLst>
    <p:notesMasterId r:id="rId48"/>
  </p:notesMasterIdLst>
  <p:handoutMasterIdLst>
    <p:handoutMasterId r:id="rId49"/>
  </p:handoutMasterIdLst>
  <p:sldIdLst>
    <p:sldId id="828" r:id="rId7"/>
    <p:sldId id="787" r:id="rId8"/>
    <p:sldId id="789" r:id="rId9"/>
    <p:sldId id="788" r:id="rId10"/>
    <p:sldId id="790" r:id="rId11"/>
    <p:sldId id="791" r:id="rId12"/>
    <p:sldId id="792" r:id="rId13"/>
    <p:sldId id="793" r:id="rId14"/>
    <p:sldId id="794" r:id="rId15"/>
    <p:sldId id="796" r:id="rId16"/>
    <p:sldId id="797" r:id="rId17"/>
    <p:sldId id="798" r:id="rId18"/>
    <p:sldId id="799" r:id="rId19"/>
    <p:sldId id="800" r:id="rId20"/>
    <p:sldId id="801" r:id="rId21"/>
    <p:sldId id="802" r:id="rId22"/>
    <p:sldId id="803" r:id="rId23"/>
    <p:sldId id="804" r:id="rId24"/>
    <p:sldId id="805" r:id="rId25"/>
    <p:sldId id="806" r:id="rId26"/>
    <p:sldId id="807" r:id="rId27"/>
    <p:sldId id="808" r:id="rId28"/>
    <p:sldId id="809" r:id="rId29"/>
    <p:sldId id="810" r:id="rId30"/>
    <p:sldId id="811" r:id="rId31"/>
    <p:sldId id="812" r:id="rId32"/>
    <p:sldId id="813" r:id="rId33"/>
    <p:sldId id="814" r:id="rId34"/>
    <p:sldId id="815" r:id="rId35"/>
    <p:sldId id="818" r:id="rId36"/>
    <p:sldId id="816" r:id="rId37"/>
    <p:sldId id="819" r:id="rId38"/>
    <p:sldId id="817" r:id="rId39"/>
    <p:sldId id="820" r:id="rId40"/>
    <p:sldId id="824" r:id="rId41"/>
    <p:sldId id="825" r:id="rId42"/>
    <p:sldId id="826" r:id="rId43"/>
    <p:sldId id="827" r:id="rId44"/>
    <p:sldId id="823" r:id="rId45"/>
    <p:sldId id="821" r:id="rId46"/>
    <p:sldId id="822" r:id="rId47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kaya" initials="z" lastIdx="4" clrIdx="0">
    <p:extLst>
      <p:ext uri="{19B8F6BF-5375-455C-9EA6-DF929625EA0E}">
        <p15:presenceInfo xmlns:p15="http://schemas.microsoft.com/office/powerpoint/2012/main" userId="zka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33CCCC"/>
    <a:srgbClr val="CCFFCC"/>
    <a:srgbClr val="FFFFCC"/>
    <a:srgbClr val="CCFFFF"/>
    <a:srgbClr val="FFFF00"/>
    <a:srgbClr val="DDDDDD"/>
    <a:srgbClr val="FFCCFF"/>
    <a:srgbClr val="FF99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1786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08" y="12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commentAuthors" Target="commentAuthor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00D6C2-52E2-460C-9B58-3CD61A24B0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6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629" y="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tr-TR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957" y="4861781"/>
            <a:ext cx="5207386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56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629" y="972356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4F9E22C-A560-44E3-9891-E6761E7FE4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8BCA47C0-B7EB-403B-A39B-0D22BA9C7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8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54BBEDAF-4CAD-4687-AECE-1E45E0407E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0F005141-3E15-4B0D-989A-F17E2C0B290D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2255F62-7E68-45B6-B8BB-EE0FA6E0AE2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787566AF-3F22-4EEC-ADED-0001FD731C9E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06148"/>
            <a:ext cx="7772400" cy="40075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1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3" y="1524003"/>
            <a:ext cx="3624263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3"/>
            <a:ext cx="3624262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ECD2814-999E-4032-906C-2175D48D707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1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240"/>
            <a:ext cx="4040188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343240"/>
            <a:ext cx="4041775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F53B03B3-6070-425A-B684-6AF20A3CD5E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9C0316F6-F3E1-4B87-BA86-E40838D53467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76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CB335D22-03A4-4154-A105-3651724AD01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9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B0EDAF9-0480-4BA6-8E13-B61891626FB5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77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7DD5AB4A-A33A-4525-8D78-3D63E3001279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7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D1CE32CB-7F51-480E-A104-8947DCC1C2AC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07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18AB817D-8C5B-4BCE-B44B-882C88C9BF9B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52D630E-1F6A-4FB2-A386-9A349C5B3F66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9842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073B400-6E83-48BF-87B6-725E47C03D8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rgbClr val="336699"/>
                </a:solidFill>
              </a:rPr>
              <a:t>ue.aydin.edu.tr</a:t>
            </a:r>
          </a:p>
        </p:txBody>
      </p:sp>
    </p:spTree>
    <p:extLst>
      <p:ext uri="{BB962C8B-B14F-4D97-AF65-F5344CB8AC3E}">
        <p14:creationId xmlns:p14="http://schemas.microsoft.com/office/powerpoint/2010/main" val="651165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41026968-BEFE-44F1-97B6-7E577FCA360F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4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07D3A64E-D33D-44D4-B6C2-F6248345F7F2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8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42913ACF-11A0-4838-B2F0-D74E91052A9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997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-101927" y="1524000"/>
            <a:ext cx="8372805" cy="1982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124045F6-0237-4FB2-9E43-F13F9F29C4D7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61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1275" y="-38100"/>
            <a:ext cx="252505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2DEE1EEE-97C2-4C42-B32D-7B7D93AEEBD3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15C9AE7-7D7A-439A-A584-208B138EA1A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2325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21475"/>
            <a:ext cx="1905000" cy="1365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 b="1"/>
            </a:lvl1pPr>
          </a:lstStyle>
          <a:p>
            <a:pPr>
              <a:defRPr/>
            </a:pPr>
            <a:fld id="{74034AEE-21EC-4108-831A-6EA98F8DF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8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66D4143D-D413-4B65-BE5B-68ED75509604}" type="slidenum">
              <a:rPr lang="en-US" altLang="tr-TR" sz="1400" smtClean="0">
                <a:solidFill>
                  <a:srgbClr val="000000"/>
                </a:solidFill>
                <a:latin typeface="Arial" panose="020B0604020202020204" pitchFamily="34" charset="0"/>
                <a:ea typeface="ヒラギノ明朝 ProN W3"/>
                <a:cs typeface="ヒラギノ明朝 ProN W3"/>
                <a:sym typeface="Times" panose="02020603050405020304" pitchFamily="18" charset="0"/>
              </a:rPr>
              <a:pPr algn="r">
                <a:defRPr/>
              </a:pPr>
              <a:t>‹#›</a:t>
            </a:fld>
            <a:endParaRPr lang="en-US" altLang="tr-TR" sz="1400" dirty="0">
              <a:solidFill>
                <a:srgbClr val="000000"/>
              </a:solidFill>
              <a:latin typeface="Arial" panose="020B0604020202020204" pitchFamily="34" charset="0"/>
              <a:ea typeface="ヒラギノ明朝 ProN W3"/>
              <a:cs typeface="ヒラギノ明朝 ProN W3"/>
              <a:sym typeface="Times" panose="02020603050405020304" pitchFamily="18" charset="0"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F5F935-ABB1-4E93-AEFD-0D4486CAD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 smtClean="0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21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051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0" y="1524000"/>
            <a:ext cx="3624263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0"/>
            <a:ext cx="3624262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2958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8594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998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350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07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342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2692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125" y="-38100"/>
            <a:ext cx="579120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481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4996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61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874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28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9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381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05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EABF3948-6436-4873-87BF-0CE3FE2D4B8E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07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 sz="2000"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 sz="2000"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077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1DA75B1C-1FC8-4677-A6B8-31AFE1B3CD3C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 dirty="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2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4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9" r:id="rId10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6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</a:defRPr>
            </a:lvl1pPr>
          </a:lstStyle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tr-TR" sz="2200" b="1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8E6CDD4-4A55-4656-9F51-403AD196A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1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2" r:id="rId2"/>
    <p:sldLayoutId id="2147483835" r:id="rId3"/>
    <p:sldLayoutId id="2147483838" r:id="rId4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anose="05000000000000000000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anose="05000000000000000000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anose="05000000000000000000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0" y="698500"/>
            <a:ext cx="9144000" cy="240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tr-TR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Tasarım ve Programlama</a:t>
            </a: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altLang="tr-TR" sz="3200" b="1" dirty="0">
                <a:solidFill>
                  <a:srgbClr val="0070C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Operatörler</a:t>
            </a:r>
            <a:endParaRPr kumimoji="0" lang="en-US" altLang="tr-TR" sz="2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79C63A1D-0907-4A02-A70F-DA401177A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27725"/>
            <a:ext cx="91440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r-TR" altLang="tr-TR" b="1" dirty="0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Dr. </a:t>
            </a:r>
            <a:r>
              <a:rPr lang="tr-TR" altLang="tr-TR" b="1" dirty="0" err="1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Öğr</a:t>
            </a:r>
            <a:r>
              <a:rPr lang="tr-TR" altLang="tr-TR" b="1" dirty="0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. Üyesi</a:t>
            </a:r>
            <a:r>
              <a:rPr kumimoji="0" lang="tr-TR" altLang="tr-TR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. Zihni KAYA</a:t>
            </a:r>
            <a:endParaRPr kumimoji="0" lang="en-US" altLang="tr-TR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tr-TR" sz="2000" b="1" dirty="0">
              <a:solidFill>
                <a:srgbClr val="336699"/>
              </a:solidFill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Uygulamal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ı</a:t>
            </a:r>
            <a:r>
              <a:rPr kumimoji="0" lang="en-US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</a:t>
            </a:r>
            <a:r>
              <a:rPr kumimoji="0" lang="en-US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Bilimler</a:t>
            </a:r>
            <a:r>
              <a:rPr kumimoji="0" lang="en-US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</a:t>
            </a:r>
            <a:r>
              <a:rPr kumimoji="0" lang="en-US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Fakültesi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, Yönetim Bilişim </a:t>
            </a:r>
            <a:r>
              <a:rPr lang="tr-TR" altLang="tr-TR" sz="2000" b="1" dirty="0">
                <a:solidFill>
                  <a:srgbClr val="336699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istemleri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altLang="tr-T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zihnikaya</a:t>
            </a:r>
            <a:r>
              <a:rPr kumimoji="0" lang="tr-TR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@</a:t>
            </a:r>
            <a:r>
              <a:rPr kumimoji="0" lang="en-US" altLang="tr-TR" sz="2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aydin.edu.tr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tr-TR" sz="2000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tr-TR" sz="2000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A95D6CDF-BED1-4B82-A5D5-5C5AD07AAF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60" y="5399328"/>
            <a:ext cx="3520063" cy="113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5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Operatörler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5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Operatörler değişkenler ve değerler arasında ilişki kurmak ve çeşitli işlemler yapmak için kullanılır. Operatör grupları şu şekilde sıralanabilir;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Aritmetik operatörler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Atama operatörleri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Karşılaştırma operatörleri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Artırma/Azaltma operatörleri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Mantıksal operatörler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Metin operatörleri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Dizi operatörleri</a:t>
            </a:r>
          </a:p>
        </p:txBody>
      </p:sp>
    </p:spTree>
    <p:extLst>
      <p:ext uri="{BB962C8B-B14F-4D97-AF65-F5344CB8AC3E}">
        <p14:creationId xmlns:p14="http://schemas.microsoft.com/office/powerpoint/2010/main" val="127889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Aritmetik operatörler</a:t>
            </a:r>
            <a:endParaRPr lang="en-US" sz="32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E6160AAB-A118-4E38-82B0-51D8F40E9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11" y="1747731"/>
            <a:ext cx="7807252" cy="18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5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Toplama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İki değişkenin değerini toplar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&lt;?</a:t>
            </a:r>
            <a:r>
              <a:rPr lang="es-ES" i="0" u="none" strike="noStrike" baseline="0" dirty="0" err="1">
                <a:latin typeface="Courier New" panose="02070309020205020404" pitchFamily="49" charset="0"/>
              </a:rPr>
              <a:t>php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10;  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$y = 6;</a:t>
            </a:r>
          </a:p>
          <a:p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$x + $y;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?&gt;</a:t>
            </a:r>
            <a:endParaRPr lang="tr-TR" sz="4800" dirty="0"/>
          </a:p>
        </p:txBody>
      </p:sp>
    </p:spTree>
    <p:extLst>
      <p:ext uri="{BB962C8B-B14F-4D97-AF65-F5344CB8AC3E}">
        <p14:creationId xmlns:p14="http://schemas.microsoft.com/office/powerpoint/2010/main" val="3184409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Çıkarma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Birinci değişkenden ikincisini çıkarır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&lt;?</a:t>
            </a:r>
            <a:r>
              <a:rPr lang="es-ES" i="0" u="none" strike="noStrike" baseline="0" dirty="0" err="1">
                <a:latin typeface="Courier New" panose="02070309020205020404" pitchFamily="49" charset="0"/>
              </a:rPr>
              <a:t>php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10;  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$y = 6;</a:t>
            </a:r>
          </a:p>
          <a:p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$x </a:t>
            </a:r>
            <a:r>
              <a:rPr lang="tr-TR" i="0" u="none" strike="noStrike" baseline="0" dirty="0">
                <a:latin typeface="Courier New" panose="02070309020205020404" pitchFamily="49" charset="0"/>
              </a:rPr>
              <a:t>-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 $y;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?&gt;</a:t>
            </a:r>
            <a:endParaRPr lang="tr-TR" sz="4800" dirty="0"/>
          </a:p>
        </p:txBody>
      </p:sp>
    </p:spTree>
    <p:extLst>
      <p:ext uri="{BB962C8B-B14F-4D97-AF65-F5344CB8AC3E}">
        <p14:creationId xmlns:p14="http://schemas.microsoft.com/office/powerpoint/2010/main" val="1540309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Çarpma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Değişkenlerin değerlerini çarpar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&lt;?</a:t>
            </a:r>
            <a:r>
              <a:rPr lang="es-ES" i="0" u="none" strike="noStrike" baseline="0" dirty="0" err="1">
                <a:latin typeface="Courier New" panose="02070309020205020404" pitchFamily="49" charset="0"/>
              </a:rPr>
              <a:t>php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10;  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$y = 6;</a:t>
            </a:r>
          </a:p>
          <a:p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$x </a:t>
            </a:r>
            <a:r>
              <a:rPr lang="tr-TR" dirty="0">
                <a:latin typeface="Courier New" panose="02070309020205020404" pitchFamily="49" charset="0"/>
              </a:rPr>
              <a:t>*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 $y;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?&gt;</a:t>
            </a:r>
            <a:endParaRPr lang="tr-TR" sz="4800" dirty="0"/>
          </a:p>
        </p:txBody>
      </p:sp>
    </p:spTree>
    <p:extLst>
      <p:ext uri="{BB962C8B-B14F-4D97-AF65-F5344CB8AC3E}">
        <p14:creationId xmlns:p14="http://schemas.microsoft.com/office/powerpoint/2010/main" val="2081458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 err="1"/>
              <a:t>Mod</a:t>
            </a:r>
            <a:r>
              <a:rPr lang="tr-TR" sz="3200" dirty="0"/>
              <a:t>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Birinci değişkenin ikinci değişkene bölümünden kalanı verir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&lt;?</a:t>
            </a:r>
            <a:r>
              <a:rPr lang="es-ES" i="0" u="none" strike="noStrike" baseline="0" dirty="0" err="1">
                <a:latin typeface="Courier New" panose="02070309020205020404" pitchFamily="49" charset="0"/>
              </a:rPr>
              <a:t>php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10;  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$y = 6;</a:t>
            </a:r>
          </a:p>
          <a:p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$x </a:t>
            </a:r>
            <a:r>
              <a:rPr lang="tr-TR" dirty="0">
                <a:latin typeface="Courier New" panose="02070309020205020404" pitchFamily="49" charset="0"/>
              </a:rPr>
              <a:t>%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 $y;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?&gt;</a:t>
            </a:r>
            <a:endParaRPr lang="tr-TR" sz="4800" dirty="0"/>
          </a:p>
        </p:txBody>
      </p:sp>
    </p:spTree>
    <p:extLst>
      <p:ext uri="{BB962C8B-B14F-4D97-AF65-F5344CB8AC3E}">
        <p14:creationId xmlns:p14="http://schemas.microsoft.com/office/powerpoint/2010/main" val="3695421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Üs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Birinci değişkenin ikinci değişkene göre kuvvetini verir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&lt;?</a:t>
            </a:r>
            <a:r>
              <a:rPr lang="es-ES" i="0" u="none" strike="noStrike" baseline="0" dirty="0" err="1">
                <a:latin typeface="Courier New" panose="02070309020205020404" pitchFamily="49" charset="0"/>
              </a:rPr>
              <a:t>php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10;  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$y = </a:t>
            </a:r>
            <a:r>
              <a:rPr lang="tr-TR" dirty="0">
                <a:latin typeface="Courier New" panose="02070309020205020404" pitchFamily="49" charset="0"/>
              </a:rPr>
              <a:t>3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;</a:t>
            </a:r>
          </a:p>
          <a:p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$x </a:t>
            </a:r>
            <a:r>
              <a:rPr lang="tr-TR" i="0" u="none" strike="noStrike" baseline="0" dirty="0">
                <a:latin typeface="Courier New" panose="02070309020205020404" pitchFamily="49" charset="0"/>
              </a:rPr>
              <a:t>**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 $y;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?&gt;</a:t>
            </a:r>
            <a:endParaRPr lang="tr-TR" sz="4800" dirty="0"/>
          </a:p>
        </p:txBody>
      </p:sp>
    </p:spTree>
    <p:extLst>
      <p:ext uri="{BB962C8B-B14F-4D97-AF65-F5344CB8AC3E}">
        <p14:creationId xmlns:p14="http://schemas.microsoft.com/office/powerpoint/2010/main" val="167481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Atama Operatörleri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PHP’de temel atama operatörü “=” simgesidir. Sağdaki değer soldaki değişkene atanır.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&lt;?</a:t>
            </a:r>
            <a:r>
              <a:rPr lang="es-ES" i="0" u="none" strike="noStrike" baseline="0" dirty="0" err="1">
                <a:latin typeface="Courier New" panose="02070309020205020404" pitchFamily="49" charset="0"/>
              </a:rPr>
              <a:t>php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10;  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$x;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?&gt;</a:t>
            </a:r>
            <a:endParaRPr lang="tr-TR" sz="4800" dirty="0"/>
          </a:p>
        </p:txBody>
      </p:sp>
    </p:spTree>
    <p:extLst>
      <p:ext uri="{BB962C8B-B14F-4D97-AF65-F5344CB8AC3E}">
        <p14:creationId xmlns:p14="http://schemas.microsoft.com/office/powerpoint/2010/main" val="2164932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Atama Operatörleri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yeni değeri kendi değeri ve $y’nin toplamıdır.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20;  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+= 100;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$x;</a:t>
            </a:r>
          </a:p>
        </p:txBody>
      </p:sp>
    </p:spTree>
    <p:extLst>
      <p:ext uri="{BB962C8B-B14F-4D97-AF65-F5344CB8AC3E}">
        <p14:creationId xmlns:p14="http://schemas.microsoft.com/office/powerpoint/2010/main" val="2562342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Atama Operatörleri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yeni değeri kendi değerinden $y’nin eksiltilmiş halidir.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&lt;?</a:t>
            </a:r>
            <a:r>
              <a:rPr lang="es-ES" i="0" u="none" strike="noStrike" baseline="0" dirty="0" err="1">
                <a:latin typeface="Courier New" panose="02070309020205020404" pitchFamily="49" charset="0"/>
              </a:rPr>
              <a:t>php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50;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-= 30;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$x;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4042552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Atama Operatörleri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yeni değeri kendi değeri ile $y’nin çarpımıdır.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&lt;?</a:t>
            </a:r>
            <a:r>
              <a:rPr lang="es-ES" i="0" u="none" strike="noStrike" baseline="0" dirty="0" err="1">
                <a:latin typeface="Courier New" panose="02070309020205020404" pitchFamily="49" charset="0"/>
              </a:rPr>
              <a:t>php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5;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*= 6;</a:t>
            </a:r>
          </a:p>
          <a:p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$x;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4002187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Atama Operatörleri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yeni değeri kendi değerinin $y’ye bölümüdür.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&lt;?</a:t>
            </a:r>
            <a:r>
              <a:rPr lang="es-ES" i="0" u="none" strike="noStrike" baseline="0" dirty="0" err="1">
                <a:latin typeface="Courier New" panose="02070309020205020404" pitchFamily="49" charset="0"/>
              </a:rPr>
              <a:t>php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/= 5;</a:t>
            </a:r>
          </a:p>
          <a:p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$x;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?&gt; </a:t>
            </a:r>
          </a:p>
        </p:txBody>
      </p:sp>
    </p:spTree>
    <p:extLst>
      <p:ext uri="{BB962C8B-B14F-4D97-AF65-F5344CB8AC3E}">
        <p14:creationId xmlns:p14="http://schemas.microsoft.com/office/powerpoint/2010/main" val="1264779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Atama Operatörleri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yeni değeri kendi değerinin $y’ye bölümünden kalandır.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&lt;?</a:t>
            </a:r>
            <a:r>
              <a:rPr lang="es-ES" i="0" u="none" strike="noStrike" baseline="0" dirty="0" err="1">
                <a:latin typeface="Courier New" panose="02070309020205020404" pitchFamily="49" charset="0"/>
              </a:rPr>
              <a:t>php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15;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%= 4;</a:t>
            </a:r>
          </a:p>
          <a:p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$x;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294065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Karşılaştırma Operatörleri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Metin ya da sayı değerlerini birbirleriyle karşılaştırmak için kullanılır.</a:t>
            </a:r>
          </a:p>
        </p:txBody>
      </p:sp>
    </p:spTree>
    <p:extLst>
      <p:ext uri="{BB962C8B-B14F-4D97-AF65-F5344CB8AC3E}">
        <p14:creationId xmlns:p14="http://schemas.microsoft.com/office/powerpoint/2010/main" val="1227970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Eşit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$y’ye eşitse doğru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304698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$x = 100;  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$y = "100";</a:t>
            </a:r>
          </a:p>
          <a:p>
            <a:endParaRPr lang="en-US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 err="1">
                <a:latin typeface="Courier New" panose="02070309020205020404" pitchFamily="49" charset="0"/>
              </a:rPr>
              <a:t>var_dump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($x == $y);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</a:rPr>
              <a:t>Çıktı:</a:t>
            </a:r>
          </a:p>
          <a:p>
            <a:r>
              <a:rPr lang="tr-TR" dirty="0" err="1">
                <a:latin typeface="Courier New" panose="02070309020205020404" pitchFamily="49" charset="0"/>
              </a:rPr>
              <a:t>bool</a:t>
            </a:r>
            <a:r>
              <a:rPr lang="tr-TR" dirty="0">
                <a:latin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</a:rPr>
              <a:t>true</a:t>
            </a:r>
            <a:r>
              <a:rPr lang="tr-TR" dirty="0">
                <a:latin typeface="Courier New" panose="02070309020205020404" pitchFamily="49" charset="0"/>
              </a:rPr>
              <a:t>)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?&gt;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563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Denk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$x ve $y aynı tür değer taşıyorsa ve birbirlerine eşitse doğru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304698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$x = 100;  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$y = "100";</a:t>
            </a:r>
          </a:p>
          <a:p>
            <a:endParaRPr lang="en-US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 err="1">
                <a:latin typeface="Courier New" panose="02070309020205020404" pitchFamily="49" charset="0"/>
              </a:rPr>
              <a:t>var_dump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($x === $y);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</a:rPr>
              <a:t>Çıktı:</a:t>
            </a:r>
          </a:p>
          <a:p>
            <a:r>
              <a:rPr lang="tr-TR" dirty="0" err="1">
                <a:latin typeface="Courier New" panose="02070309020205020404" pitchFamily="49" charset="0"/>
              </a:rPr>
              <a:t>bool</a:t>
            </a:r>
            <a:r>
              <a:rPr lang="tr-TR" dirty="0">
                <a:latin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</a:rPr>
              <a:t>false</a:t>
            </a:r>
            <a:r>
              <a:rPr lang="tr-TR" dirty="0">
                <a:latin typeface="Courier New" panose="02070309020205020404" pitchFamily="49" charset="0"/>
              </a:rPr>
              <a:t>)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?&gt;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257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Eşit Değil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$y’ye eşit değilse doğru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100;  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$y = "100";</a:t>
            </a:r>
          </a:p>
          <a:p>
            <a:r>
              <a:rPr lang="es-ES" i="0" u="none" strike="noStrike" baseline="0" dirty="0" err="1">
                <a:latin typeface="Courier New" panose="02070309020205020404" pitchFamily="49" charset="0"/>
              </a:rPr>
              <a:t>var_dump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($x != $y);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</a:rPr>
              <a:t>Çıktı:</a:t>
            </a:r>
          </a:p>
          <a:p>
            <a:r>
              <a:rPr lang="tr-TR" dirty="0" err="1">
                <a:latin typeface="Courier New" panose="02070309020205020404" pitchFamily="49" charset="0"/>
              </a:rPr>
              <a:t>bool</a:t>
            </a:r>
            <a:r>
              <a:rPr lang="tr-TR" dirty="0">
                <a:latin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</a:rPr>
              <a:t>false</a:t>
            </a:r>
            <a:r>
              <a:rPr lang="tr-TR" dirty="0">
                <a:latin typeface="Courier New" panose="02070309020205020404" pitchFamily="49" charset="0"/>
              </a:rPr>
              <a:t>)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?&gt;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755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Eşit Değil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$y’ye eşit değilse doğru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100;  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$y = "100";</a:t>
            </a:r>
          </a:p>
          <a:p>
            <a:r>
              <a:rPr lang="es-ES" i="0" u="none" strike="noStrike" baseline="0" dirty="0" err="1">
                <a:latin typeface="Courier New" panose="02070309020205020404" pitchFamily="49" charset="0"/>
              </a:rPr>
              <a:t>var_dump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($x </a:t>
            </a:r>
            <a:r>
              <a:rPr lang="tr-TR" dirty="0">
                <a:latin typeface="Courier New" panose="02070309020205020404" pitchFamily="49" charset="0"/>
              </a:rPr>
              <a:t>&lt;&gt;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 $y);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</a:rPr>
              <a:t>Çıktı:</a:t>
            </a:r>
          </a:p>
          <a:p>
            <a:r>
              <a:rPr lang="tr-TR" dirty="0" err="1">
                <a:latin typeface="Courier New" panose="02070309020205020404" pitchFamily="49" charset="0"/>
              </a:rPr>
              <a:t>bool</a:t>
            </a:r>
            <a:r>
              <a:rPr lang="tr-TR" dirty="0">
                <a:latin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</a:rPr>
              <a:t>false</a:t>
            </a:r>
            <a:r>
              <a:rPr lang="tr-TR" dirty="0">
                <a:latin typeface="Courier New" panose="02070309020205020404" pitchFamily="49" charset="0"/>
              </a:rPr>
              <a:t>)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?&gt;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556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Büyük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$y’den büyükse doğru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100;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$y = 50;</a:t>
            </a:r>
          </a:p>
          <a:p>
            <a:r>
              <a:rPr lang="es-ES" i="0" u="none" strike="noStrike" baseline="0" dirty="0" err="1">
                <a:latin typeface="Courier New" panose="02070309020205020404" pitchFamily="49" charset="0"/>
              </a:rPr>
              <a:t>var_dump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($x &gt; $y)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</a:rPr>
              <a:t>Çıktı:</a:t>
            </a:r>
          </a:p>
          <a:p>
            <a:r>
              <a:rPr lang="tr-TR" dirty="0" err="1">
                <a:latin typeface="Courier New" panose="02070309020205020404" pitchFamily="49" charset="0"/>
              </a:rPr>
              <a:t>bool</a:t>
            </a:r>
            <a:r>
              <a:rPr lang="tr-TR" dirty="0">
                <a:latin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</a:rPr>
              <a:t>true</a:t>
            </a:r>
            <a:r>
              <a:rPr lang="tr-TR" dirty="0">
                <a:latin typeface="Courier New" panose="02070309020205020404" pitchFamily="49" charset="0"/>
              </a:rPr>
              <a:t>)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?&gt;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034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Küçük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$y’den küçükse doğru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100;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$y = 50;</a:t>
            </a:r>
          </a:p>
          <a:p>
            <a:r>
              <a:rPr lang="es-ES" i="0" u="none" strike="noStrike" baseline="0" dirty="0" err="1">
                <a:latin typeface="Courier New" panose="02070309020205020404" pitchFamily="49" charset="0"/>
              </a:rPr>
              <a:t>var_dump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($x </a:t>
            </a:r>
            <a:r>
              <a:rPr lang="tr-TR" i="0" u="none" strike="noStrike" baseline="0" dirty="0">
                <a:latin typeface="Courier New" panose="02070309020205020404" pitchFamily="49" charset="0"/>
              </a:rPr>
              <a:t>&lt;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 $y)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</a:rPr>
              <a:t>Çıktı:</a:t>
            </a:r>
          </a:p>
          <a:p>
            <a:r>
              <a:rPr lang="tr-TR" dirty="0" err="1">
                <a:latin typeface="Courier New" panose="02070309020205020404" pitchFamily="49" charset="0"/>
              </a:rPr>
              <a:t>bool</a:t>
            </a:r>
            <a:r>
              <a:rPr lang="tr-TR" dirty="0">
                <a:latin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</a:rPr>
              <a:t>false</a:t>
            </a:r>
            <a:r>
              <a:rPr lang="tr-TR" dirty="0">
                <a:latin typeface="Courier New" panose="02070309020205020404" pitchFamily="49" charset="0"/>
              </a:rPr>
              <a:t>)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?&gt;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330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Büyük Eşit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$y’nin değerine eşitse ya da $y’nin değerinden büyükse doğru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50;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$y = 50;</a:t>
            </a:r>
          </a:p>
          <a:p>
            <a:r>
              <a:rPr lang="es-ES" i="0" u="none" strike="noStrike" baseline="0" dirty="0" err="1">
                <a:latin typeface="Courier New" panose="02070309020205020404" pitchFamily="49" charset="0"/>
              </a:rPr>
              <a:t>var_dump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($x &gt;= $y);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</a:rPr>
              <a:t>Çıktı:</a:t>
            </a:r>
          </a:p>
          <a:p>
            <a:r>
              <a:rPr lang="tr-TR" dirty="0" err="1">
                <a:latin typeface="Courier New" panose="02070309020205020404" pitchFamily="49" charset="0"/>
              </a:rPr>
              <a:t>bool</a:t>
            </a:r>
            <a:r>
              <a:rPr lang="tr-TR" dirty="0">
                <a:latin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</a:rPr>
              <a:t>true</a:t>
            </a:r>
            <a:r>
              <a:rPr lang="tr-TR" dirty="0">
                <a:latin typeface="Courier New" panose="02070309020205020404" pitchFamily="49" charset="0"/>
              </a:rPr>
              <a:t>)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?&gt;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998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Küçük Eşit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$y’nin değerine eşitse ya da $y’nin değerinden büyükse doğru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50;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$y = 50;</a:t>
            </a:r>
          </a:p>
          <a:p>
            <a:r>
              <a:rPr lang="es-ES" i="0" u="none" strike="noStrike" baseline="0" dirty="0" err="1">
                <a:latin typeface="Courier New" panose="02070309020205020404" pitchFamily="49" charset="0"/>
              </a:rPr>
              <a:t>var_dump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($x </a:t>
            </a:r>
            <a:r>
              <a:rPr lang="tr-TR" i="0" u="none" strike="noStrike" baseline="0" dirty="0">
                <a:latin typeface="Courier New" panose="02070309020205020404" pitchFamily="49" charset="0"/>
              </a:rPr>
              <a:t>&lt;</a:t>
            </a:r>
            <a:r>
              <a:rPr lang="es-ES" i="0" u="none" strike="noStrike" baseline="0" dirty="0">
                <a:latin typeface="Courier New" panose="02070309020205020404" pitchFamily="49" charset="0"/>
              </a:rPr>
              <a:t>= $y);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</a:rPr>
              <a:t>Çıktı:</a:t>
            </a:r>
          </a:p>
          <a:p>
            <a:r>
              <a:rPr lang="tr-TR" dirty="0" err="1">
                <a:latin typeface="Courier New" panose="02070309020205020404" pitchFamily="49" charset="0"/>
              </a:rPr>
              <a:t>bool</a:t>
            </a:r>
            <a:r>
              <a:rPr lang="tr-TR" dirty="0">
                <a:latin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</a:rPr>
              <a:t>true</a:t>
            </a:r>
            <a:r>
              <a:rPr lang="tr-TR" dirty="0">
                <a:latin typeface="Courier New" panose="02070309020205020404" pitchFamily="49" charset="0"/>
              </a:rPr>
              <a:t>)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?&gt;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479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Artırma Azaltma Operatörleri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değişkenin değerini artırmak ya da azaltmak için kullanılan operatörlerdir.</a:t>
            </a:r>
          </a:p>
        </p:txBody>
      </p:sp>
    </p:spTree>
    <p:extLst>
      <p:ext uri="{BB962C8B-B14F-4D97-AF65-F5344CB8AC3E}">
        <p14:creationId xmlns:p14="http://schemas.microsoft.com/office/powerpoint/2010/main" val="3728110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Önceden Artırma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$x değişkeni kullanılmadan bir artırılır.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&lt;?</a:t>
            </a:r>
            <a:r>
              <a:rPr lang="es-ES" i="0" u="none" strike="noStrike" baseline="0" dirty="0" err="1">
                <a:latin typeface="Courier New" panose="02070309020205020404" pitchFamily="49" charset="0"/>
              </a:rPr>
              <a:t>php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10;  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++$x;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</a:rPr>
              <a:t>Çıktı:</a:t>
            </a:r>
          </a:p>
          <a:p>
            <a:r>
              <a:rPr lang="tr-TR" i="0" u="none" strike="noStrike" baseline="0" dirty="0">
                <a:latin typeface="Courier New" panose="02070309020205020404" pitchFamily="49" charset="0"/>
              </a:rPr>
              <a:t>11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24900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Önceden Azaltma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$x değişkeni kullanılmadan bir azaltılır.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&lt;?</a:t>
            </a:r>
            <a:r>
              <a:rPr lang="es-ES" i="0" u="none" strike="noStrike" baseline="0" dirty="0" err="1">
                <a:latin typeface="Courier New" panose="02070309020205020404" pitchFamily="49" charset="0"/>
              </a:rPr>
              <a:t>php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10;  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--$x;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</a:rPr>
              <a:t>Çıktı:</a:t>
            </a:r>
          </a:p>
          <a:p>
            <a:r>
              <a:rPr lang="tr-TR" i="0" u="none" strike="noStrike" baseline="0" dirty="0">
                <a:latin typeface="Courier New" panose="02070309020205020404" pitchFamily="49" charset="0"/>
              </a:rPr>
              <a:t>9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1335952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Sonradan Azaltma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x’in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değeri $x değişkeni kullanıldıktan sonra bir azaltılır.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i="0" u="none" strike="noStrike" baseline="0" dirty="0">
                <a:latin typeface="Courier New" panose="02070309020205020404" pitchFamily="49" charset="0"/>
              </a:rPr>
              <a:t>&lt;?</a:t>
            </a:r>
            <a:r>
              <a:rPr lang="es-ES" i="0" u="none" strike="noStrike" baseline="0" dirty="0" err="1">
                <a:latin typeface="Courier New" panose="02070309020205020404" pitchFamily="49" charset="0"/>
              </a:rPr>
              <a:t>php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$x = 10;  </a:t>
            </a: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echo $x--;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</a:rPr>
              <a:t>Çıktı:</a:t>
            </a:r>
          </a:p>
          <a:p>
            <a:r>
              <a:rPr lang="tr-TR" i="0" u="none" strike="noStrike" baseline="0">
                <a:latin typeface="Courier New" panose="02070309020205020404" pitchFamily="49" charset="0"/>
              </a:rPr>
              <a:t>10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  <a:p>
            <a:r>
              <a:rPr lang="es-ES" i="0" u="none" strike="noStrike" baseline="0" dirty="0">
                <a:latin typeface="Courier New" panose="02070309020205020404" pitchFamily="49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40805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Mantıksal Operatörler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Mantıksal operatörler koşullu ifadeler ile birlikte kullanılır.</a:t>
            </a:r>
          </a:p>
        </p:txBody>
      </p:sp>
    </p:spTree>
    <p:extLst>
      <p:ext uri="{BB962C8B-B14F-4D97-AF65-F5344CB8AC3E}">
        <p14:creationId xmlns:p14="http://schemas.microsoft.com/office/powerpoint/2010/main" val="1418148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$x ve $y’nin değerlerinin her ikisi de doğruysa doğru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304698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$x = 100;  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$y = 50;</a:t>
            </a:r>
          </a:p>
          <a:p>
            <a:endParaRPr lang="en-US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if ($x == 100 and $y == 50) {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    echo "Hello world!";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}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?&gt;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676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$x ve $y’nin değerlerinin her ikisi de doğruysa doğru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304698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$x = 100;  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$y = 50;</a:t>
            </a:r>
          </a:p>
          <a:p>
            <a:endParaRPr lang="en-US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if ($x == 100 </a:t>
            </a:r>
            <a:r>
              <a:rPr lang="tr-TR" i="0" u="none" strike="noStrike" baseline="0" dirty="0">
                <a:latin typeface="Courier New" panose="02070309020205020404" pitchFamily="49" charset="0"/>
              </a:rPr>
              <a:t>&amp;&amp;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$y == 50) {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    echo "Hello world!";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}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?&gt;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6809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Veya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$x veya $y’nin herhangi biri doğruysa doğru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304698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$x = 100;  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$y = 50;</a:t>
            </a:r>
          </a:p>
          <a:p>
            <a:endParaRPr lang="en-US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if ($x == 100 or $y == 80) {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    echo "Hello world!";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}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?&gt;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93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Veya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$x veya $y’nin herhangi biri doğruysa doğru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304698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$x = 100;  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$y = 50;</a:t>
            </a:r>
          </a:p>
          <a:p>
            <a:endParaRPr lang="en-US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if ($x == 100 </a:t>
            </a:r>
            <a:r>
              <a:rPr lang="tr-TR" dirty="0">
                <a:latin typeface="Courier New" panose="02070309020205020404" pitchFamily="49" charset="0"/>
              </a:rPr>
              <a:t>||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$y == 80) {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    echo "Hello world!";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}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?&gt;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1840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Değil Operatörü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$x doğru değilse doğru döndürür.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$x = 100;  </a:t>
            </a:r>
          </a:p>
          <a:p>
            <a:endParaRPr lang="en-US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if (!($x == 90)) {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    echo "Hello world!";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}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?&gt;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1305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60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Basit bir hesap makinesi.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18781" y="1477791"/>
            <a:ext cx="8305101" cy="34163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&lt;h2&gt;Basit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Hesap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Makinesi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&lt;/h2&gt;</a:t>
            </a:r>
          </a:p>
          <a:p>
            <a:endParaRPr lang="en-US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&lt;form method="POST"&gt;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   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Birinci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Sayı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: &lt;input type="number" name="sayi1" required&gt;&lt;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br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&gt;&lt;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br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&gt;</a:t>
            </a: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   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İkinci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Sayı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: &lt;input type="number" name="sayi2" required&gt;&lt;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br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&gt;&lt;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br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&gt;</a:t>
            </a:r>
          </a:p>
          <a:p>
            <a:endParaRPr lang="en-US" i="0" u="none" strike="noStrike" baseline="0" dirty="0">
              <a:latin typeface="Courier New" panose="02070309020205020404" pitchFamily="49" charset="0"/>
            </a:endParaRPr>
          </a:p>
          <a:p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2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18781" y="1477791"/>
            <a:ext cx="8305101" cy="48320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İşlem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Seç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: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&lt;select name="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islem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"&gt;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&lt;option value="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topla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"&gt;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Toplama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(+)&lt;/option&gt;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&lt;option value="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cikar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"&gt;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Çıkarma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(-)&lt;/option&gt;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&lt;option value="carp"&gt;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Çarpma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(*)&lt;/option&gt;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&lt;option value="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bol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"&gt;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Bölme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(/)&lt;/option&gt;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&lt;option value="mod"&gt;Mod (%)&lt;/option&gt;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&lt;/select&gt;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&lt;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br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&gt;&lt;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br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&gt;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&lt;input type="submit" name="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gonder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" value="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Hesapla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"&gt;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&lt;/form&gt;</a:t>
            </a:r>
            <a:endParaRPr lang="es-ES" sz="2200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235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18781" y="1477791"/>
            <a:ext cx="8305101" cy="449353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&lt;?php</a:t>
            </a:r>
          </a:p>
          <a:p>
            <a:endParaRPr lang="en-US" sz="2200" i="0" u="none" strike="noStrike" baseline="0" dirty="0">
              <a:latin typeface="Courier New" panose="02070309020205020404" pitchFamily="49" charset="0"/>
            </a:endParaRP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if (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isset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($_POST['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gonder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'])) {</a:t>
            </a:r>
          </a:p>
          <a:p>
            <a:endParaRPr lang="en-US" sz="2200" i="0" u="none" strike="noStrike" baseline="0" dirty="0">
              <a:latin typeface="Courier New" panose="02070309020205020404" pitchFamily="49" charset="0"/>
            </a:endParaRP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$sayi1 = $_POST['sayi1'];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$sayi2 = $_POST['sayi2'];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$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islem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= $_POST['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islem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'];</a:t>
            </a:r>
          </a:p>
          <a:p>
            <a:endParaRPr lang="en-US" sz="2200" i="0" u="none" strike="noStrike" baseline="0" dirty="0">
              <a:latin typeface="Courier New" panose="02070309020205020404" pitchFamily="49" charset="0"/>
            </a:endParaRP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switch ($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islem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) {</a:t>
            </a:r>
          </a:p>
          <a:p>
            <a:endParaRPr lang="en-US" sz="2200" i="0" u="none" strike="noStrike" baseline="0" dirty="0">
              <a:latin typeface="Courier New" panose="02070309020205020404" pitchFamily="49" charset="0"/>
            </a:endParaRP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case "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topla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":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$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sonuc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= $sayi1 + $sayi2;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break;</a:t>
            </a:r>
          </a:p>
        </p:txBody>
      </p:sp>
    </p:spTree>
    <p:extLst>
      <p:ext uri="{BB962C8B-B14F-4D97-AF65-F5344CB8AC3E}">
        <p14:creationId xmlns:p14="http://schemas.microsoft.com/office/powerpoint/2010/main" val="34572438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18781" y="1477791"/>
            <a:ext cx="8305101" cy="517064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case "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cikar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":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$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sonuc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= $sayi1 - $sayi2;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break;</a:t>
            </a:r>
          </a:p>
          <a:p>
            <a:endParaRPr lang="en-US" sz="2200" i="0" u="none" strike="noStrike" baseline="0" dirty="0">
              <a:latin typeface="Courier New" panose="02070309020205020404" pitchFamily="49" charset="0"/>
            </a:endParaRP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case "carp":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$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sonuc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= $sayi1 * $sayi2;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break;</a:t>
            </a:r>
          </a:p>
          <a:p>
            <a:endParaRPr lang="en-US" sz="2200" i="0" u="none" strike="noStrike" baseline="0" dirty="0">
              <a:latin typeface="Courier New" panose="02070309020205020404" pitchFamily="49" charset="0"/>
            </a:endParaRP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case "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bol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":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if ($sayi2 != 0) {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    $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sonuc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= $sayi1 / $sayi2;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} else {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    $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sonuc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= "0'a 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bölme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hatası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!";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}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break;</a:t>
            </a:r>
          </a:p>
        </p:txBody>
      </p:sp>
    </p:spTree>
    <p:extLst>
      <p:ext uri="{BB962C8B-B14F-4D97-AF65-F5344CB8AC3E}">
        <p14:creationId xmlns:p14="http://schemas.microsoft.com/office/powerpoint/2010/main" val="3995276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18781" y="1477791"/>
            <a:ext cx="8305101" cy="415498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case "mod":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$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sonuc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= $sayi1 % $sayi2;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break;</a:t>
            </a:r>
          </a:p>
          <a:p>
            <a:endParaRPr lang="en-US" sz="2200" i="0" u="none" strike="noStrike" baseline="0" dirty="0">
              <a:latin typeface="Courier New" panose="02070309020205020404" pitchFamily="49" charset="0"/>
            </a:endParaRP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default: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        $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sonuc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= "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Geçersiz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işlem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";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}</a:t>
            </a:r>
          </a:p>
          <a:p>
            <a:endParaRPr lang="en-US" sz="2200" i="0" u="none" strike="noStrike" baseline="0" dirty="0">
              <a:latin typeface="Courier New" panose="02070309020205020404" pitchFamily="49" charset="0"/>
            </a:endParaRP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    echo "&lt;h3&gt;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Sonuç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: $</a:t>
            </a:r>
            <a:r>
              <a:rPr lang="en-US" sz="2200" i="0" u="none" strike="noStrike" baseline="0" dirty="0" err="1">
                <a:latin typeface="Courier New" panose="02070309020205020404" pitchFamily="49" charset="0"/>
              </a:rPr>
              <a:t>sonuc</a:t>
            </a:r>
            <a:r>
              <a:rPr lang="en-US" sz="2200" i="0" u="none" strike="noStrike" baseline="0" dirty="0">
                <a:latin typeface="Courier New" panose="02070309020205020404" pitchFamily="49" charset="0"/>
              </a:rPr>
              <a:t>&lt;/h3&gt;";</a:t>
            </a: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}</a:t>
            </a:r>
          </a:p>
          <a:p>
            <a:endParaRPr lang="en-US" sz="2200" i="0" u="none" strike="noStrike" baseline="0" dirty="0">
              <a:latin typeface="Courier New" panose="02070309020205020404" pitchFamily="49" charset="0"/>
            </a:endParaRPr>
          </a:p>
          <a:p>
            <a:r>
              <a:rPr lang="en-US" sz="2200" i="0" u="none" strike="noStrike" baseline="0" dirty="0">
                <a:latin typeface="Courier New" panose="02070309020205020404" pitchFamily="49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29269023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60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Alışveriş sepeti hesaplama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18781" y="1477791"/>
            <a:ext cx="8305101" cy="452431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$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total_price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= 0;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$items = [    ['name' =&gt; '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Telefon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', 'price' =&gt; 10000, 'quantity' =&gt; 2],    ['name' =&gt; '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Kulaklık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', 'price' =&gt; 500, 'quantity' =&gt; 3],];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foreach ($items as $item) {    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i="0" u="none" strike="noStrike" baseline="0" dirty="0">
                <a:latin typeface="Courier New" panose="02070309020205020404" pitchFamily="49" charset="0"/>
              </a:rPr>
              <a:t>	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$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total_price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+= $item['price'] * </a:t>
            </a:r>
            <a:r>
              <a:rPr lang="tr-TR" i="0" u="none" strike="noStrike" baseline="0" dirty="0">
                <a:latin typeface="Courier New" panose="02070309020205020404" pitchFamily="49" charset="0"/>
              </a:rPr>
              <a:t>	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$item['quantity']; //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Aritmetik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ve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atama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operatörleri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}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echo "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Toplam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Sepet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Tutarı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: " . $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total_price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. " TL\n";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240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60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 giriş sistemi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18781" y="1477791"/>
            <a:ext cx="8305101" cy="415498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$username = "admin";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$password = "12345";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inputUser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= "admin";$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inputPass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= "12345";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if ($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inputUser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=== $username &amp;&amp; $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inputPass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=== $password) 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{ </a:t>
            </a:r>
            <a:r>
              <a:rPr lang="tr-TR" i="0" u="none" strike="noStrike" baseline="0" dirty="0">
                <a:latin typeface="Courier New" panose="02070309020205020404" pitchFamily="49" charset="0"/>
              </a:rPr>
              <a:t>		</a:t>
            </a:r>
          </a:p>
          <a:p>
            <a:r>
              <a:rPr lang="tr-TR" dirty="0">
                <a:latin typeface="Courier New" panose="02070309020205020404" pitchFamily="49" charset="0"/>
              </a:rPr>
              <a:t>	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echo "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Giriş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başarılı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!\n";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} else {    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i="0" u="none" strike="noStrike" baseline="0" dirty="0">
                <a:latin typeface="Courier New" panose="02070309020205020404" pitchFamily="49" charset="0"/>
              </a:rPr>
              <a:t>	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echo "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Hatalı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kullanıcı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adı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veya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şifre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!\n";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}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5449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60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Ürün Stok Yönetimi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18781" y="1477791"/>
            <a:ext cx="8305101" cy="34163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i="0" u="none" strike="noStrike" baseline="0" dirty="0">
                <a:latin typeface="Courier New" panose="02070309020205020404" pitchFamily="49" charset="0"/>
              </a:rPr>
              <a:t>$stock = 10;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$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order_quantity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= 3;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if ($stock &gt;= $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order_quantity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) {    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i="0" u="none" strike="noStrike" baseline="0" dirty="0">
                <a:latin typeface="Courier New" panose="02070309020205020404" pitchFamily="49" charset="0"/>
              </a:rPr>
              <a:t>	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$stock -= $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order_quantity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; 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tr-TR" i="0" u="none" strike="noStrike" baseline="0" dirty="0">
                <a:latin typeface="Courier New" panose="02070309020205020404" pitchFamily="49" charset="0"/>
              </a:rPr>
              <a:t>	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echo "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Sipariş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onaylandı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! Kalan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stok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: " . $stock . "\n";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} else {</a:t>
            </a:r>
            <a:endParaRPr lang="tr-TR" i="0" u="none" strike="noStrike" baseline="0" dirty="0">
              <a:latin typeface="Courier New" panose="02070309020205020404" pitchFamily="49" charset="0"/>
            </a:endParaRPr>
          </a:p>
          <a:p>
            <a:r>
              <a:rPr lang="en-US" i="0" u="none" strike="noStrike" baseline="0" dirty="0">
                <a:latin typeface="Courier New" panose="02070309020205020404" pitchFamily="49" charset="0"/>
              </a:rPr>
              <a:t>    echo "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Yetersiz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i="0" u="none" strike="noStrike" baseline="0" dirty="0" err="1">
                <a:latin typeface="Courier New" panose="02070309020205020404" pitchFamily="49" charset="0"/>
              </a:rPr>
              <a:t>stok</a:t>
            </a:r>
            <a:r>
              <a:rPr lang="en-US" i="0" u="none" strike="noStrike" baseline="0" dirty="0">
                <a:latin typeface="Courier New" panose="02070309020205020404" pitchFamily="49" charset="0"/>
              </a:rPr>
              <a:t>!\n";</a:t>
            </a:r>
            <a:endParaRPr lang="tr-TR" i="0" u="none" strike="noStrike" baseline="0">
              <a:latin typeface="Courier New" panose="02070309020205020404" pitchFamily="49" charset="0"/>
            </a:endParaRPr>
          </a:p>
          <a:p>
            <a:r>
              <a:rPr lang="en-US" i="0" u="none" strike="noStrike" baseline="0">
                <a:latin typeface="Courier New" panose="02070309020205020404" pitchFamily="49" charset="0"/>
              </a:rPr>
              <a:t>}</a:t>
            </a:r>
            <a:endParaRPr lang="es-ES" i="0" u="none" strike="noStrike" baseline="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75930"/>
      </p:ext>
    </p:extLst>
  </p:cSld>
  <p:clrMapOvr>
    <a:masterClrMapping/>
  </p:clrMapOvr>
</p:sld>
</file>

<file path=ppt/theme/theme1.xml><?xml version="1.0" encoding="utf-8"?>
<a:theme xmlns:a="http://schemas.openxmlformats.org/drawingml/2006/main" name="1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279938</TotalTime>
  <Words>1622</Words>
  <Application>Microsoft Office PowerPoint</Application>
  <PresentationFormat>Ekran Gösterisi (4:3)</PresentationFormat>
  <Paragraphs>344</Paragraphs>
  <Slides>41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6</vt:i4>
      </vt:variant>
      <vt:variant>
        <vt:lpstr>Slayt Başlıkları</vt:lpstr>
      </vt:variant>
      <vt:variant>
        <vt:i4>41</vt:i4>
      </vt:variant>
    </vt:vector>
  </HeadingPairs>
  <TitlesOfParts>
    <vt:vector size="51" baseType="lpstr">
      <vt:lpstr>Arial</vt:lpstr>
      <vt:lpstr>Courier New</vt:lpstr>
      <vt:lpstr>Times New Roman</vt:lpstr>
      <vt:lpstr>Wingdings</vt:lpstr>
      <vt:lpstr>1_UMd_Draft4-8Oct</vt:lpstr>
      <vt:lpstr>2_UMd_Draft4-8Oct</vt:lpstr>
      <vt:lpstr>3_UMd_Draft4-8Oct</vt:lpstr>
      <vt:lpstr>4_UMd_Draft4-8Oct</vt:lpstr>
      <vt:lpstr>5_UMd_Draft4-8Oct</vt:lpstr>
      <vt:lpstr>15_UMd_Draft4-8Oct</vt:lpstr>
      <vt:lpstr>PowerPoint Sunusu</vt:lpstr>
      <vt:lpstr>Operatörler</vt:lpstr>
      <vt:lpstr>Aritmetik operatörler</vt:lpstr>
      <vt:lpstr>Toplama Operatörü</vt:lpstr>
      <vt:lpstr>Çıkarma Operatörü</vt:lpstr>
      <vt:lpstr>Çarpma Operatörü</vt:lpstr>
      <vt:lpstr>Mod Operatörü</vt:lpstr>
      <vt:lpstr>Üs Operatörü</vt:lpstr>
      <vt:lpstr>Atama Operatörleri</vt:lpstr>
      <vt:lpstr>Atama Operatörleri</vt:lpstr>
      <vt:lpstr>Atama Operatörleri</vt:lpstr>
      <vt:lpstr>Atama Operatörleri</vt:lpstr>
      <vt:lpstr>Atama Operatörleri</vt:lpstr>
      <vt:lpstr>Atama Operatörleri</vt:lpstr>
      <vt:lpstr>Karşılaştırma Operatörleri</vt:lpstr>
      <vt:lpstr>Eşit Operatörü</vt:lpstr>
      <vt:lpstr>Denk Operatörü</vt:lpstr>
      <vt:lpstr>Eşit Değil Operatörü</vt:lpstr>
      <vt:lpstr>Eşit Değil Operatörü</vt:lpstr>
      <vt:lpstr>Büyük Operatörü</vt:lpstr>
      <vt:lpstr>Küçük Operatörü</vt:lpstr>
      <vt:lpstr>Büyük Eşit Operatörü</vt:lpstr>
      <vt:lpstr>Küçük Eşit Operatörü</vt:lpstr>
      <vt:lpstr>Artırma Azaltma Operatörleri</vt:lpstr>
      <vt:lpstr>Önceden Artırma Operatörü</vt:lpstr>
      <vt:lpstr>Önceden Azaltma Operatörü</vt:lpstr>
      <vt:lpstr>Sonradan Azaltma Operatörü</vt:lpstr>
      <vt:lpstr>Mantıksal Operatörler</vt:lpstr>
      <vt:lpstr>Ve Operatörü</vt:lpstr>
      <vt:lpstr>Ve Operatörü</vt:lpstr>
      <vt:lpstr>Veya Operatörü</vt:lpstr>
      <vt:lpstr>Veya Operatörü</vt:lpstr>
      <vt:lpstr>Değil Operatörü</vt:lpstr>
      <vt:lpstr>Örnek</vt:lpstr>
      <vt:lpstr>Örnek</vt:lpstr>
      <vt:lpstr>Örnek</vt:lpstr>
      <vt:lpstr>Örnek</vt:lpstr>
      <vt:lpstr>Örnek</vt:lpstr>
      <vt:lpstr>Örnek</vt:lpstr>
      <vt:lpstr>Örnek</vt:lpstr>
      <vt:lpstr>Örnek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JK/KR, modified by C.Xu/E.Attalla</dc:creator>
  <cp:lastModifiedBy>Zihni KAYA</cp:lastModifiedBy>
  <cp:revision>1647</cp:revision>
  <cp:lastPrinted>2013-04-21T19:31:14Z</cp:lastPrinted>
  <dcterms:created xsi:type="dcterms:W3CDTF">1999-10-08T19:08:27Z</dcterms:created>
  <dcterms:modified xsi:type="dcterms:W3CDTF">2026-03-02T10:07:59Z</dcterms:modified>
</cp:coreProperties>
</file>