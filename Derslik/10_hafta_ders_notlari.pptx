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64" r:id="rId2"/>
    <p:sldMasterId id="2147483787" r:id="rId3"/>
    <p:sldMasterId id="2147483800" r:id="rId4"/>
    <p:sldMasterId id="2147483813" r:id="rId5"/>
    <p:sldMasterId id="2147483826" r:id="rId6"/>
  </p:sldMasterIdLst>
  <p:notesMasterIdLst>
    <p:notesMasterId r:id="rId34"/>
  </p:notesMasterIdLst>
  <p:handoutMasterIdLst>
    <p:handoutMasterId r:id="rId35"/>
  </p:handoutMasterIdLst>
  <p:sldIdLst>
    <p:sldId id="770" r:id="rId7"/>
    <p:sldId id="787" r:id="rId8"/>
    <p:sldId id="789" r:id="rId9"/>
    <p:sldId id="790" r:id="rId10"/>
    <p:sldId id="791" r:id="rId11"/>
    <p:sldId id="792" r:id="rId12"/>
    <p:sldId id="793" r:id="rId13"/>
    <p:sldId id="794" r:id="rId14"/>
    <p:sldId id="795" r:id="rId15"/>
    <p:sldId id="796" r:id="rId16"/>
    <p:sldId id="797" r:id="rId17"/>
    <p:sldId id="798" r:id="rId18"/>
    <p:sldId id="799" r:id="rId19"/>
    <p:sldId id="800" r:id="rId20"/>
    <p:sldId id="801" r:id="rId21"/>
    <p:sldId id="802" r:id="rId22"/>
    <p:sldId id="803" r:id="rId23"/>
    <p:sldId id="804" r:id="rId24"/>
    <p:sldId id="805" r:id="rId25"/>
    <p:sldId id="806" r:id="rId26"/>
    <p:sldId id="807" r:id="rId27"/>
    <p:sldId id="808" r:id="rId28"/>
    <p:sldId id="809" r:id="rId29"/>
    <p:sldId id="810" r:id="rId30"/>
    <p:sldId id="811" r:id="rId31"/>
    <p:sldId id="812" r:id="rId32"/>
    <p:sldId id="813" r:id="rId33"/>
  </p:sldIdLst>
  <p:sldSz cx="9144000" cy="6858000" type="screen4x3"/>
  <p:notesSz cx="7099300" cy="10234613"/>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aya" initials="z" lastIdx="4" clrIdx="0">
    <p:extLst>
      <p:ext uri="{19B8F6BF-5375-455C-9EA6-DF929625EA0E}">
        <p15:presenceInfo xmlns:p15="http://schemas.microsoft.com/office/powerpoint/2012/main" userId="zka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33CCCC"/>
    <a:srgbClr val="CCFFCC"/>
    <a:srgbClr val="FFFFCC"/>
    <a:srgbClr val="CCFFFF"/>
    <a:srgbClr val="FFFF00"/>
    <a:srgbClr val="DDDDDD"/>
    <a:srgbClr val="FFCCFF"/>
    <a:srgbClr val="FF99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Açık Stil 2 - Vurgu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1786" autoAdjust="0"/>
  </p:normalViewPr>
  <p:slideViewPr>
    <p:cSldViewPr snapToGrid="0">
      <p:cViewPr varScale="1">
        <p:scale>
          <a:sx n="114" d="100"/>
          <a:sy n="114" d="100"/>
        </p:scale>
        <p:origin x="15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77" d="100"/>
          <a:sy n="77" d="100"/>
        </p:scale>
        <p:origin x="400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 Id="rId8" Type="http://schemas.openxmlformats.org/officeDocument/2006/relationships/slide" Target="slides/slide2.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31075"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31076"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31077"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E00D6C2-52E2-460C-9B58-3CD61A24B075}" type="slidenum">
              <a:rPr lang="en-US"/>
              <a:pPr/>
              <a:t>‹#›</a:t>
            </a:fld>
            <a:endParaRPr lang="en-US"/>
          </a:p>
        </p:txBody>
      </p:sp>
    </p:spTree>
    <p:extLst>
      <p:ext uri="{BB962C8B-B14F-4D97-AF65-F5344CB8AC3E}">
        <p14:creationId xmlns:p14="http://schemas.microsoft.com/office/powerpoint/2010/main" val="218466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endParaRPr lang="tr-TR"/>
          </a:p>
        </p:txBody>
      </p:sp>
      <p:sp>
        <p:nvSpPr>
          <p:cNvPr id="3075" name="Rectangle 3"/>
          <p:cNvSpPr>
            <a:spLocks noGrp="1" noChangeArrowheads="1"/>
          </p:cNvSpPr>
          <p:nvPr>
            <p:ph type="dt" idx="1"/>
          </p:nvPr>
        </p:nvSpPr>
        <p:spPr bwMode="auto">
          <a:xfrm>
            <a:off x="4022629" y="0"/>
            <a:ext cx="3076671"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endParaRPr lang="tr-TR"/>
          </a:p>
        </p:txBody>
      </p:sp>
      <p:sp>
        <p:nvSpPr>
          <p:cNvPr id="8909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45957" y="4861781"/>
            <a:ext cx="5207386"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723560"/>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endParaRPr lang="tr-TR"/>
          </a:p>
        </p:txBody>
      </p:sp>
      <p:sp>
        <p:nvSpPr>
          <p:cNvPr id="3079" name="Rectangle 7"/>
          <p:cNvSpPr>
            <a:spLocks noGrp="1" noChangeArrowheads="1"/>
          </p:cNvSpPr>
          <p:nvPr>
            <p:ph type="sldNum" sz="quarter" idx="5"/>
          </p:nvPr>
        </p:nvSpPr>
        <p:spPr bwMode="auto">
          <a:xfrm>
            <a:off x="4022629" y="9723560"/>
            <a:ext cx="3076671"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94F9E22C-A560-44E3-9891-E6761E7FE4D2}" type="slidenum">
              <a:rPr lang="en-US"/>
              <a:pPr/>
              <a:t>‹#›</a:t>
            </a:fld>
            <a:endParaRPr lang="en-US"/>
          </a:p>
        </p:txBody>
      </p:sp>
    </p:spTree>
    <p:extLst>
      <p:ext uri="{BB962C8B-B14F-4D97-AF65-F5344CB8AC3E}">
        <p14:creationId xmlns:p14="http://schemas.microsoft.com/office/powerpoint/2010/main" val="15424214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3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8BCA47C0-B7EB-403B-A39B-0D22BA9C779C}" type="slidenum">
              <a:rPr lang="en-US"/>
              <a:pPr>
                <a:defRPr/>
              </a:pPr>
              <a:t>‹#›</a:t>
            </a:fld>
            <a:endParaRPr lang="en-US"/>
          </a:p>
        </p:txBody>
      </p:sp>
    </p:spTree>
    <p:extLst>
      <p:ext uri="{BB962C8B-B14F-4D97-AF65-F5344CB8AC3E}">
        <p14:creationId xmlns:p14="http://schemas.microsoft.com/office/powerpoint/2010/main" val="1689086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54BBEDAF-4CAD-4687-AECE-1E45E0407EEE}" type="slidenum">
              <a:rPr lang="en-US"/>
              <a:pPr>
                <a:defRPr/>
              </a:pPr>
              <a:t>‹#›</a:t>
            </a:fld>
            <a:endParaRPr lang="en-US"/>
          </a:p>
        </p:txBody>
      </p:sp>
    </p:spTree>
    <p:extLst>
      <p:ext uri="{BB962C8B-B14F-4D97-AF65-F5344CB8AC3E}">
        <p14:creationId xmlns:p14="http://schemas.microsoft.com/office/powerpoint/2010/main" val="245271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0F005141-3E15-4B0D-989A-F17E2C0B290D}"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
        <p:nvSpPr>
          <p:cNvPr id="5" name="Footer Placeholder 4"/>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dirty="0">
              <a:solidFill>
                <a:srgbClr val="000000"/>
              </a:solidFill>
              <a:latin typeface="Arial" charset="0"/>
            </a:endParaRPr>
          </a:p>
        </p:txBody>
      </p:sp>
    </p:spTree>
    <p:extLst>
      <p:ext uri="{BB962C8B-B14F-4D97-AF65-F5344CB8AC3E}">
        <p14:creationId xmlns:p14="http://schemas.microsoft.com/office/powerpoint/2010/main" val="25056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2255F62-7E68-45B6-B8BB-EE0FA6E0AE2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endParaRPr lang="en-US" sz="1400" dirty="0">
              <a:solidFill>
                <a:srgbClr val="336699"/>
              </a:solidFill>
            </a:endParaRPr>
          </a:p>
        </p:txBody>
      </p:sp>
    </p:spTree>
    <p:extLst>
      <p:ext uri="{BB962C8B-B14F-4D97-AF65-F5344CB8AC3E}">
        <p14:creationId xmlns:p14="http://schemas.microsoft.com/office/powerpoint/2010/main" val="3368260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787566AF-3F22-4EEC-ADED-0001FD731C9E}"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4006148"/>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4541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9953" y="1524003"/>
            <a:ext cx="3624263"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524003"/>
            <a:ext cx="3624262"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ECD2814-999E-4032-906C-2175D48D707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3231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43240"/>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343240"/>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F53B03B3-6070-425A-B684-6AF20A3CD5E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8"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189713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9C0316F6-F3E1-4B87-BA86-E40838D53467}"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3760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CB335D22-03A4-4154-A105-3651724AD01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313819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B0EDAF9-0480-4BA6-8E13-B61891626FB5}"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2434778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7DD5AB4A-A33A-4525-8D78-3D63E3001279}"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3158276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D1CE32CB-7F51-480E-A104-8947DCC1C2AC}"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074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18AB817D-8C5B-4BCE-B44B-882C88C9BF9B}"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166554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52D630E-1F6A-4FB2-A386-9A349C5B3F66}"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842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073B400-6E83-48BF-87B6-725E47C03D8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4"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r>
              <a:rPr lang="en-US" sz="1400" dirty="0">
                <a:solidFill>
                  <a:srgbClr val="336699"/>
                </a:solidFill>
              </a:rPr>
              <a:t>ue.aydin.edu.tr</a:t>
            </a:r>
          </a:p>
        </p:txBody>
      </p:sp>
    </p:spTree>
    <p:extLst>
      <p:ext uri="{BB962C8B-B14F-4D97-AF65-F5344CB8AC3E}">
        <p14:creationId xmlns:p14="http://schemas.microsoft.com/office/powerpoint/2010/main" val="651165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41026968-BEFE-44F1-97B6-7E577FCA360F}"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58574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07D3A64E-D33D-44D4-B6C2-F6248345F7F2}"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3613348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42913ACF-11A0-4838-B2F0-D74E91052A9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727997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01927" y="1524000"/>
            <a:ext cx="8372805" cy="1982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124045F6-0237-4FB2-9E43-F13F9F29C4D7}"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97361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31275" y="-38100"/>
            <a:ext cx="252505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2DEE1EEE-97C2-4C42-B32D-7B7D93AEEBD3}"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42530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15C9AE7-7D7A-439A-A584-208B138EA1A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2325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21475"/>
            <a:ext cx="1905000" cy="136525"/>
          </a:xfr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b="1"/>
            </a:lvl1pPr>
          </a:lstStyle>
          <a:p>
            <a:pPr>
              <a:defRPr/>
            </a:pPr>
            <a:fld id="{74034AEE-21EC-4108-831A-6EA98F8DFE1D}" type="slidenum">
              <a:rPr lang="en-US"/>
              <a:pPr>
                <a:defRPr/>
              </a:pPr>
              <a:t>‹#›</a:t>
            </a:fld>
            <a:endParaRPr lang="en-US"/>
          </a:p>
        </p:txBody>
      </p:sp>
    </p:spTree>
    <p:extLst>
      <p:ext uri="{BB962C8B-B14F-4D97-AF65-F5344CB8AC3E}">
        <p14:creationId xmlns:p14="http://schemas.microsoft.com/office/powerpoint/2010/main" val="1639708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lgn="r">
              <a:defRPr/>
            </a:pPr>
            <a:fld id="{66D4143D-D413-4B65-BE5B-68ED75509604}" type="slidenum">
              <a:rPr lang="en-US" altLang="tr-TR" sz="1400" smtClean="0">
                <a:solidFill>
                  <a:srgbClr val="000000"/>
                </a:solidFill>
                <a:latin typeface="Arial" panose="020B0604020202020204" pitchFamily="34" charset="0"/>
                <a:ea typeface="ヒラギノ明朝 ProN W3"/>
                <a:cs typeface="ヒラギノ明朝 ProN W3"/>
                <a:sym typeface="Times" panose="02020603050405020304" pitchFamily="18" charset="0"/>
              </a:rPr>
              <a:pPr algn="r">
                <a:defRPr/>
              </a:pPr>
              <a:t>‹#›</a:t>
            </a:fld>
            <a:endParaRPr lang="en-US" altLang="tr-TR" sz="1400" dirty="0">
              <a:solidFill>
                <a:srgbClr val="000000"/>
              </a:solidFill>
              <a:latin typeface="Arial" panose="020B0604020202020204" pitchFamily="34" charset="0"/>
              <a:ea typeface="ヒラギノ明朝 ProN W3"/>
              <a:cs typeface="ヒラギノ明朝 ProN W3"/>
              <a:sym typeface="Times" panose="02020603050405020304" pitchFamily="18" charset="0"/>
            </a:endParaRPr>
          </a:p>
        </p:txBody>
      </p:sp>
      <p:sp>
        <p:nvSpPr>
          <p:cNvPr id="4" name="Slayt Numarası Yer Tutucusu 3">
            <a:extLst>
              <a:ext uri="{FF2B5EF4-FFF2-40B4-BE49-F238E27FC236}">
                <a16:creationId xmlns:a16="http://schemas.microsoft.com/office/drawing/2014/main" id="{00F5F935-ABB1-4E93-AEFD-0D4486CAD23A}"/>
              </a:ext>
            </a:extLst>
          </p:cNvPr>
          <p:cNvSpPr>
            <a:spLocks noGrp="1"/>
          </p:cNvSpPr>
          <p:nvPr>
            <p:ph type="sldNum" sz="quarter" idx="10"/>
          </p:nvPr>
        </p:nvSpPr>
        <p:spPr/>
        <p:txBody>
          <a:bodyPr/>
          <a:lstStyle/>
          <a:p>
            <a:pPr>
              <a:lnSpc>
                <a:spcPct val="90000"/>
              </a:lnSpc>
              <a:defRPr/>
            </a:pPr>
            <a:fld id="{8BDC377B-EC9C-4253-A88C-5B0E49C4E108}" type="slidenum">
              <a:rPr lang="en-US" smtClean="0">
                <a:latin typeface="Arial" pitchFamily="34" charset="0"/>
              </a:rPr>
              <a:pPr>
                <a:lnSpc>
                  <a:spcPct val="90000"/>
                </a:lnSpc>
                <a:defRPr/>
              </a:pPr>
              <a:t>‹#›</a:t>
            </a:fld>
            <a:endParaRPr lang="en-US">
              <a:latin typeface="Arial" pitchFamily="34" charset="0"/>
            </a:endParaRPr>
          </a:p>
        </p:txBody>
      </p:sp>
    </p:spTree>
    <p:extLst>
      <p:ext uri="{BB962C8B-B14F-4D97-AF65-F5344CB8AC3E}">
        <p14:creationId xmlns:p14="http://schemas.microsoft.com/office/powerpoint/2010/main" val="20844218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73051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869950" y="1524000"/>
            <a:ext cx="3624263"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6613" y="1524000"/>
            <a:ext cx="3624262"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6329580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18594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4270998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35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207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99342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42692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365125" y="-38100"/>
            <a:ext cx="579120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631481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04996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3961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38468748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328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1072924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3.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4.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6.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38100"/>
            <a:ext cx="9144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869950" y="1524000"/>
            <a:ext cx="740092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205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EABF3948-6436-4873-87BF-0CE3FE2D4B8E}"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3305079488"/>
      </p:ext>
    </p:extLst>
  </p:cSld>
  <p:clrMap bg1="lt1" tx1="dk1" bg2="lt2" tx2="dk2" accent1="accent1" accent2="accent2" accent3="accent3" accent4="accent4" accent5="accent5" accent6="accent6" hlink="hlink" folHlink="folHlink"/>
  <p:sldLayoutIdLst>
    <p:sldLayoutId id="2147483902" r:id="rId1"/>
  </p:sldLayoutIdLst>
  <p:hf sldNum="0" hdr="0" ftr="0" dt="0"/>
  <p:txStyles>
    <p:titleStyle>
      <a:lvl1pPr algn="ctr" rtl="0" eaLnBrk="0" fontAlgn="base" hangingPunct="0">
        <a:lnSpc>
          <a:spcPct val="95000"/>
        </a:lnSpc>
        <a:spcBef>
          <a:spcPct val="0"/>
        </a:spcBef>
        <a:spcAft>
          <a:spcPct val="0"/>
        </a:spcAft>
        <a:defRPr sz="3200" b="1">
          <a:solidFill>
            <a:srgbClr val="336699"/>
          </a:solidFill>
          <a:latin typeface="+mj-lt"/>
          <a:ea typeface="+mj-ea"/>
          <a:cs typeface="+mj-cs"/>
        </a:defRPr>
      </a:lvl1pPr>
      <a:lvl2pPr algn="ctr" rtl="0" eaLnBrk="0" fontAlgn="base" hangingPunct="0">
        <a:lnSpc>
          <a:spcPct val="95000"/>
        </a:lnSpc>
        <a:spcBef>
          <a:spcPct val="0"/>
        </a:spcBef>
        <a:spcAft>
          <a:spcPct val="0"/>
        </a:spcAft>
        <a:defRPr sz="3200" b="1">
          <a:solidFill>
            <a:srgbClr val="336699"/>
          </a:solidFill>
          <a:latin typeface="Arial" pitchFamily="34" charset="0"/>
        </a:defRPr>
      </a:lvl2pPr>
      <a:lvl3pPr algn="ctr" rtl="0" eaLnBrk="0" fontAlgn="base" hangingPunct="0">
        <a:lnSpc>
          <a:spcPct val="95000"/>
        </a:lnSpc>
        <a:spcBef>
          <a:spcPct val="0"/>
        </a:spcBef>
        <a:spcAft>
          <a:spcPct val="0"/>
        </a:spcAft>
        <a:defRPr sz="3200" b="1">
          <a:solidFill>
            <a:srgbClr val="336699"/>
          </a:solidFill>
          <a:latin typeface="Arial" pitchFamily="34" charset="0"/>
        </a:defRPr>
      </a:lvl3pPr>
      <a:lvl4pPr algn="ctr" rtl="0" eaLnBrk="0" fontAlgn="base" hangingPunct="0">
        <a:lnSpc>
          <a:spcPct val="95000"/>
        </a:lnSpc>
        <a:spcBef>
          <a:spcPct val="0"/>
        </a:spcBef>
        <a:spcAft>
          <a:spcPct val="0"/>
        </a:spcAft>
        <a:defRPr sz="3200" b="1">
          <a:solidFill>
            <a:srgbClr val="336699"/>
          </a:solidFill>
          <a:latin typeface="Arial" pitchFamily="34" charset="0"/>
        </a:defRPr>
      </a:lvl4pPr>
      <a:lvl5pPr algn="ctr" rtl="0" eaLnBrk="0" fontAlgn="base" hangingPunct="0">
        <a:lnSpc>
          <a:spcPct val="95000"/>
        </a:lnSpc>
        <a:spcBef>
          <a:spcPct val="0"/>
        </a:spcBef>
        <a:spcAft>
          <a:spcPct val="0"/>
        </a:spcAft>
        <a:defRPr sz="3200" b="1">
          <a:solidFill>
            <a:srgbClr val="336699"/>
          </a:solidFill>
          <a:latin typeface="Arial" pitchFamily="34" charset="0"/>
        </a:defRPr>
      </a:lvl5pPr>
      <a:lvl6pPr marL="457200" algn="ctr" rtl="0" eaLnBrk="0" fontAlgn="base" hangingPunct="0">
        <a:lnSpc>
          <a:spcPct val="95000"/>
        </a:lnSpc>
        <a:spcBef>
          <a:spcPct val="0"/>
        </a:spcBef>
        <a:spcAft>
          <a:spcPct val="0"/>
        </a:spcAft>
        <a:defRPr sz="3200" b="1">
          <a:solidFill>
            <a:srgbClr val="336699"/>
          </a:solidFill>
          <a:latin typeface="Arial" pitchFamily="34" charset="0"/>
        </a:defRPr>
      </a:lvl6pPr>
      <a:lvl7pPr marL="914400" algn="ctr" rtl="0" eaLnBrk="0" fontAlgn="base" hangingPunct="0">
        <a:lnSpc>
          <a:spcPct val="95000"/>
        </a:lnSpc>
        <a:spcBef>
          <a:spcPct val="0"/>
        </a:spcBef>
        <a:spcAft>
          <a:spcPct val="0"/>
        </a:spcAft>
        <a:defRPr sz="3200" b="1">
          <a:solidFill>
            <a:srgbClr val="336699"/>
          </a:solidFill>
          <a:latin typeface="Arial" pitchFamily="34" charset="0"/>
        </a:defRPr>
      </a:lvl7pPr>
      <a:lvl8pPr marL="1371600" algn="ctr" rtl="0" eaLnBrk="0" fontAlgn="base" hangingPunct="0">
        <a:lnSpc>
          <a:spcPct val="95000"/>
        </a:lnSpc>
        <a:spcBef>
          <a:spcPct val="0"/>
        </a:spcBef>
        <a:spcAft>
          <a:spcPct val="0"/>
        </a:spcAft>
        <a:defRPr sz="3200" b="1">
          <a:solidFill>
            <a:srgbClr val="336699"/>
          </a:solidFill>
          <a:latin typeface="Arial" pitchFamily="34" charset="0"/>
        </a:defRPr>
      </a:lvl8pPr>
      <a:lvl9pPr marL="1828800" algn="ctr" rtl="0" eaLnBrk="0" fontAlgn="base" hangingPunct="0">
        <a:lnSpc>
          <a:spcPct val="95000"/>
        </a:lnSpc>
        <a:spcBef>
          <a:spcPct val="0"/>
        </a:spcBef>
        <a:spcAft>
          <a:spcPct val="0"/>
        </a:spcAft>
        <a:defRPr sz="32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sz="2000">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sz="2000">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65125" y="-3810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869950" y="1524000"/>
            <a:ext cx="7400925"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Line 5"/>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nSpc>
                <a:spcPct val="90000"/>
              </a:lnSpc>
              <a:spcAft>
                <a:spcPct val="50000"/>
              </a:spcAft>
              <a:buFontTx/>
              <a:buChar char="•"/>
            </a:pPr>
            <a:endParaRPr lang="en-US" sz="2200">
              <a:solidFill>
                <a:srgbClr val="000000"/>
              </a:solidFill>
              <a:latin typeface="Arial" pitchFamily="34" charset="0"/>
            </a:endParaRPr>
          </a:p>
        </p:txBody>
      </p:sp>
      <p:sp>
        <p:nvSpPr>
          <p:cNvPr id="3077"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1DA75B1C-1FC8-4677-A6B8-31AFE1B3CD3C}"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dirty="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839824220"/>
      </p:ext>
    </p:extLst>
  </p:cSld>
  <p:clrMap bg1="lt1" tx1="dk1" bg2="lt2" tx2="dk2" accent1="accent1" accent2="accent2" accent3="accent3" accent4="accent4" accent5="accent5" accent6="accent6" hlink="hlink" folHlink="folHlink"/>
  <p:sldLayoutIdLst>
    <p:sldLayoutId id="2147483670" r:id="rId1"/>
    <p:sldLayoutId id="2147483671" r:id="rId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charset="0"/>
        </a:defRPr>
      </a:lvl2pPr>
      <a:lvl3pPr algn="ctr" rtl="0" eaLnBrk="0" fontAlgn="base" hangingPunct="0">
        <a:lnSpc>
          <a:spcPct val="95000"/>
        </a:lnSpc>
        <a:spcBef>
          <a:spcPct val="0"/>
        </a:spcBef>
        <a:spcAft>
          <a:spcPct val="0"/>
        </a:spcAft>
        <a:defRPr sz="3600" b="1">
          <a:solidFill>
            <a:srgbClr val="336699"/>
          </a:solidFill>
          <a:latin typeface="Arial" charset="0"/>
        </a:defRPr>
      </a:lvl3pPr>
      <a:lvl4pPr algn="ctr" rtl="0" eaLnBrk="0" fontAlgn="base" hangingPunct="0">
        <a:lnSpc>
          <a:spcPct val="95000"/>
        </a:lnSpc>
        <a:spcBef>
          <a:spcPct val="0"/>
        </a:spcBef>
        <a:spcAft>
          <a:spcPct val="0"/>
        </a:spcAft>
        <a:defRPr sz="3600" b="1">
          <a:solidFill>
            <a:srgbClr val="336699"/>
          </a:solidFill>
          <a:latin typeface="Arial" charset="0"/>
        </a:defRPr>
      </a:lvl4pPr>
      <a:lvl5pPr algn="ctr" rtl="0" eaLnBrk="0" fontAlgn="base" hangingPunct="0">
        <a:lnSpc>
          <a:spcPct val="95000"/>
        </a:lnSpc>
        <a:spcBef>
          <a:spcPct val="0"/>
        </a:spcBef>
        <a:spcAft>
          <a:spcPct val="0"/>
        </a:spcAft>
        <a:defRPr sz="3600" b="1">
          <a:solidFill>
            <a:srgbClr val="336699"/>
          </a:solidFill>
          <a:latin typeface="Arial" charset="0"/>
        </a:defRPr>
      </a:lvl5pPr>
      <a:lvl6pPr marL="457200" algn="ctr" rtl="0" eaLnBrk="0" fontAlgn="base" hangingPunct="0">
        <a:lnSpc>
          <a:spcPct val="95000"/>
        </a:lnSpc>
        <a:spcBef>
          <a:spcPct val="0"/>
        </a:spcBef>
        <a:spcAft>
          <a:spcPct val="0"/>
        </a:spcAft>
        <a:defRPr sz="3600" b="1">
          <a:solidFill>
            <a:srgbClr val="336699"/>
          </a:solidFill>
          <a:latin typeface="Arial" charset="0"/>
        </a:defRPr>
      </a:lvl6pPr>
      <a:lvl7pPr marL="914400" algn="ctr" rtl="0" eaLnBrk="0" fontAlgn="base" hangingPunct="0">
        <a:lnSpc>
          <a:spcPct val="95000"/>
        </a:lnSpc>
        <a:spcBef>
          <a:spcPct val="0"/>
        </a:spcBef>
        <a:spcAft>
          <a:spcPct val="0"/>
        </a:spcAft>
        <a:defRPr sz="3600" b="1">
          <a:solidFill>
            <a:srgbClr val="336699"/>
          </a:solidFill>
          <a:latin typeface="Arial" charset="0"/>
        </a:defRPr>
      </a:lvl7pPr>
      <a:lvl8pPr marL="1371600" algn="ctr" rtl="0" eaLnBrk="0" fontAlgn="base" hangingPunct="0">
        <a:lnSpc>
          <a:spcPct val="95000"/>
        </a:lnSpc>
        <a:spcBef>
          <a:spcPct val="0"/>
        </a:spcBef>
        <a:spcAft>
          <a:spcPct val="0"/>
        </a:spcAft>
        <a:defRPr sz="3600" b="1">
          <a:solidFill>
            <a:srgbClr val="336699"/>
          </a:solidFill>
          <a:latin typeface="Arial" charset="0"/>
        </a:defRPr>
      </a:lvl8pPr>
      <a:lvl9pPr marL="1828800" algn="ctr" rtl="0" eaLnBrk="0" fontAlgn="base" hangingPunct="0">
        <a:lnSpc>
          <a:spcPct val="95000"/>
        </a:lnSpc>
        <a:spcBef>
          <a:spcPct val="0"/>
        </a:spcBef>
        <a:spcAft>
          <a:spcPct val="0"/>
        </a:spcAft>
        <a:defRPr sz="3600" b="1">
          <a:solidFill>
            <a:srgbClr val="336699"/>
          </a:solidFill>
          <a:latin typeface="Arial"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145684690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9" r:id="rId10"/>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309526261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6" r:id="rId3"/>
    <p:sldLayoutId id="2147483807" r:id="rId4"/>
    <p:sldLayoutId id="2147483808" r:id="rId5"/>
    <p:sldLayoutId id="2147483809" r:id="rId6"/>
    <p:sldLayoutId id="2147483810" r:id="rId7"/>
    <p:sldLayoutId id="2147483811" r:id="rId8"/>
    <p:sldLayoutId id="2147483812" r:id="rId9"/>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spcBef>
                <a:spcPct val="30000"/>
              </a:spcBef>
              <a:spcAft>
                <a:spcPct val="0"/>
              </a:spcAft>
              <a:buFontTx/>
              <a:buNone/>
              <a:defRPr sz="900" b="0">
                <a:solidFill>
                  <a:srgbClr val="000000"/>
                </a:solidFill>
              </a:defRPr>
            </a:lvl1pPr>
          </a:lstStyle>
          <a:p>
            <a:pPr>
              <a:lnSpc>
                <a:spcPct val="90000"/>
              </a:lnSpc>
              <a:defRPr/>
            </a:pPr>
            <a:fld id="{8BDC377B-EC9C-4253-A88C-5B0E49C4E108}" type="slidenum">
              <a:rPr lang="en-US">
                <a:latin typeface="Arial" pitchFamily="34" charset="0"/>
              </a:rPr>
              <a:pPr>
                <a:lnSpc>
                  <a:spcPct val="90000"/>
                </a:lnSpc>
                <a:defRPr/>
              </a:pPr>
              <a:t>‹#›</a:t>
            </a:fld>
            <a:endParaRPr lang="en-US">
              <a:latin typeface="Arial" pitchFamily="34" charset="0"/>
            </a:endParaRPr>
          </a:p>
        </p:txBody>
      </p:sp>
      <p:sp>
        <p:nvSpPr>
          <p:cNvPr id="9221"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tr-TR" sz="2200" b="1">
              <a:solidFill>
                <a:srgbClr val="000000"/>
              </a:solidFill>
              <a:latin typeface="Arial" pitchFamily="34" charset="0"/>
            </a:endParaRPr>
          </a:p>
        </p:txBody>
      </p:sp>
    </p:spTree>
    <p:extLst>
      <p:ext uri="{BB962C8B-B14F-4D97-AF65-F5344CB8AC3E}">
        <p14:creationId xmlns:p14="http://schemas.microsoft.com/office/powerpoint/2010/main" val="41434673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tr-TR"/>
              <a:t>Click To Edit Master Title Style</a:t>
            </a:r>
          </a:p>
        </p:txBody>
      </p:sp>
      <p:sp>
        <p:nvSpPr>
          <p:cNvPr id="8195"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lnSpc>
                <a:spcPct val="90000"/>
              </a:lnSpc>
              <a:spcBef>
                <a:spcPct val="30000"/>
              </a:spcBef>
              <a:spcAft>
                <a:spcPct val="0"/>
              </a:spcAft>
              <a:buFontTx/>
              <a:buNone/>
              <a:defRPr sz="900" b="0">
                <a:solidFill>
                  <a:srgbClr val="000000"/>
                </a:solidFill>
                <a:latin typeface="Arial" pitchFamily="34" charset="0"/>
              </a:defRPr>
            </a:lvl1pPr>
          </a:lstStyle>
          <a:p>
            <a:pPr>
              <a:defRPr/>
            </a:pPr>
            <a:fld id="{08E6CDD4-4A55-4656-9F51-403AD196A10A}" type="slidenum">
              <a:rPr lang="en-US"/>
              <a:pPr>
                <a:defRPr/>
              </a:pPr>
              <a:t>‹#›</a:t>
            </a:fld>
            <a:endParaRPr lang="en-US"/>
          </a:p>
        </p:txBody>
      </p:sp>
      <p:sp>
        <p:nvSpPr>
          <p:cNvPr id="8197"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sz="1200">
              <a:solidFill>
                <a:srgbClr val="000000"/>
              </a:solidFill>
            </a:endParaRPr>
          </a:p>
        </p:txBody>
      </p:sp>
    </p:spTree>
    <p:extLst>
      <p:ext uri="{BB962C8B-B14F-4D97-AF65-F5344CB8AC3E}">
        <p14:creationId xmlns:p14="http://schemas.microsoft.com/office/powerpoint/2010/main" val="1267217728"/>
      </p:ext>
    </p:extLst>
  </p:cSld>
  <p:clrMap bg1="lt1" tx1="dk1" bg2="lt2" tx2="dk2" accent1="accent1" accent2="accent2" accent3="accent3" accent4="accent4" accent5="accent5" accent6="accent6" hlink="hlink" folHlink="folHlink"/>
  <p:sldLayoutIdLst>
    <p:sldLayoutId id="2147483828" r:id="rId1"/>
    <p:sldLayoutId id="2147483832" r:id="rId2"/>
    <p:sldLayoutId id="2147483835" r:id="rId3"/>
    <p:sldLayoutId id="2147483838" r:id="rId4"/>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anose="05000000000000000000"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anose="05000000000000000000"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anose="05000000000000000000"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37893" name="Rectangle 3"/>
          <p:cNvSpPr>
            <a:spLocks noChangeArrowheads="1"/>
          </p:cNvSpPr>
          <p:nvPr/>
        </p:nvSpPr>
        <p:spPr bwMode="auto">
          <a:xfrm>
            <a:off x="0" y="698500"/>
            <a:ext cx="9144000" cy="240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lvl="0" algn="ctr">
              <a:lnSpc>
                <a:spcPct val="95000"/>
              </a:lnSpc>
              <a:spcBef>
                <a:spcPct val="0"/>
              </a:spcBef>
              <a:buClrTx/>
              <a:buSzTx/>
              <a:buNone/>
              <a:defRPr/>
            </a:pPr>
            <a:endParaRPr lang="tr-TR" sz="32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lang="tr-TR" sz="3600" b="1">
                <a:solidFill>
                  <a:srgbClr val="0070C0"/>
                </a:solidFill>
                <a:latin typeface="Arial" panose="020B0604020202020204" pitchFamily="34" charset="0"/>
                <a:cs typeface="Arial" panose="020B0604020202020204" pitchFamily="34" charset="0"/>
              </a:rPr>
              <a:t>Web Tasarım ve Programlama</a:t>
            </a:r>
            <a:endParaRPr lang="tr-TR"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endParaRPr lang="en-US"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kumimoji="0" lang="tr-TR" altLang="tr-TR" sz="32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t>Diziler </a:t>
            </a:r>
            <a:endParaRPr kumimoji="0" lang="en-US" altLang="tr-TR" sz="26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1136066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Diziler çok sayıdaki değeri tek bir değişkende saklamak için kullanılır.</a:t>
            </a:r>
          </a:p>
        </p:txBody>
      </p:sp>
    </p:spTree>
    <p:extLst>
      <p:ext uri="{BB962C8B-B14F-4D97-AF65-F5344CB8AC3E}">
        <p14:creationId xmlns:p14="http://schemas.microsoft.com/office/powerpoint/2010/main" val="1278896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a:t>
            </a:r>
            <a:endParaRPr lang="en-US" sz="3200" dirty="0"/>
          </a:p>
        </p:txBody>
      </p:sp>
      <p:sp>
        <p:nvSpPr>
          <p:cNvPr id="154627" name="Rectangle 3"/>
          <p:cNvSpPr>
            <a:spLocks noChangeArrowheads="1"/>
          </p:cNvSpPr>
          <p:nvPr/>
        </p:nvSpPr>
        <p:spPr bwMode="auto">
          <a:xfrm>
            <a:off x="0" y="876300"/>
            <a:ext cx="9144000" cy="429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Örneğin dizi değişken kullanmadan sadece değişkenlerle araba markalarını tutmak isteseydik aşağıdaki gibi bir atama yapacaktık;</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$araba1 = “Volvo”;</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$araba2=”BMW”;</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$araba3=”Toyota”;</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Yukarıdaki atama dizilere göre çok da kullanışlı değildir. Örneğin bir döngüyle özel bir araba markasını bulmak isteyebilirdik. Ya da yukarıdaki gibi üç araba markası yerine 1000 tane araba markası atamamız gerebilirdi. Bu durumda dizileri kullanmalıydık.</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5243036"/>
            <a:ext cx="8305101" cy="1477328"/>
          </a:xfrm>
          <a:prstGeom prst="rect">
            <a:avLst/>
          </a:prstGeom>
          <a:solidFill>
            <a:schemeClr val="accent1"/>
          </a:solidFill>
        </p:spPr>
        <p:txBody>
          <a:bodyPr wrap="square" rtlCol="0">
            <a:spAutoFit/>
          </a:bodyPr>
          <a:lstStyle/>
          <a:p>
            <a:r>
              <a:rPr lang="tr-TR" sz="1800" b="0" i="0" u="none" strike="noStrike" baseline="0" dirty="0">
                <a:solidFill>
                  <a:srgbClr val="FF0000"/>
                </a:solidFill>
                <a:latin typeface="Courier New" panose="02070309020205020404" pitchFamily="49" charset="0"/>
              </a:rPr>
              <a:t>&lt;?</a:t>
            </a:r>
            <a:r>
              <a:rPr lang="tr-TR" sz="1800" b="0" i="0" u="none" strike="noStrike" baseline="0" dirty="0" err="1">
                <a:solidFill>
                  <a:srgbClr val="FF0000"/>
                </a:solidFill>
                <a:latin typeface="Courier New" panose="02070309020205020404" pitchFamily="49" charset="0"/>
              </a:rPr>
              <a:t>php</a:t>
            </a:r>
            <a:endParaRPr lang="tr-TR" sz="1800" b="0" i="0" u="none" strike="noStrike" baseline="0" dirty="0">
              <a:solidFill>
                <a:srgbClr val="FF0000"/>
              </a:solidFill>
              <a:latin typeface="Courier New" panose="02070309020205020404" pitchFamily="49" charset="0"/>
            </a:endParaRPr>
          </a:p>
          <a:p>
            <a:r>
              <a:rPr lang="pt-BR" sz="1800" b="0" i="0" u="none" strike="noStrike" baseline="0" dirty="0">
                <a:solidFill>
                  <a:srgbClr val="000080"/>
                </a:solidFill>
                <a:latin typeface="Courier New" panose="02070309020205020404" pitchFamily="49" charset="0"/>
              </a:rPr>
              <a:t>$arabalar</a:t>
            </a:r>
            <a:r>
              <a:rPr lang="pt-BR" sz="1800" b="0" i="0" u="none" strike="noStrike" baseline="0" dirty="0">
                <a:solidFill>
                  <a:srgbClr val="8000FF"/>
                </a:solidFill>
                <a:latin typeface="Courier New" panose="02070309020205020404" pitchFamily="49" charset="0"/>
              </a:rPr>
              <a:t>=</a:t>
            </a:r>
            <a:r>
              <a:rPr lang="pt-BR" sz="1800" b="1" i="0" u="none" strike="noStrike" baseline="0" dirty="0">
                <a:solidFill>
                  <a:srgbClr val="0000FF"/>
                </a:solidFill>
                <a:latin typeface="Courier New" panose="02070309020205020404" pitchFamily="49" charset="0"/>
              </a:rPr>
              <a:t>array</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"Volvo"</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"BMW"</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"Toyota"</a:t>
            </a:r>
            <a:r>
              <a:rPr lang="pt-BR" sz="1800" b="0" i="0" u="none" strike="noStrike" baseline="0" dirty="0">
                <a:solidFill>
                  <a:srgbClr val="8000FF"/>
                </a:solidFill>
                <a:latin typeface="Courier New" panose="02070309020205020404" pitchFamily="49" charset="0"/>
              </a:rPr>
              <a:t>);</a:t>
            </a:r>
          </a:p>
          <a:p>
            <a:r>
              <a:rPr lang="tr-TR" sz="1800" b="1" dirty="0">
                <a:solidFill>
                  <a:srgbClr val="0000FF"/>
                </a:solidFill>
                <a:latin typeface="Courier New" panose="02070309020205020404" pitchFamily="49" charset="0"/>
              </a:rPr>
              <a:t>e</a:t>
            </a:r>
            <a:r>
              <a:rPr lang="pt-BR" sz="1800" b="1" i="0" u="none" strike="noStrike" baseline="0" dirty="0">
                <a:solidFill>
                  <a:srgbClr val="0000FF"/>
                </a:solidFill>
                <a:latin typeface="Courier New" panose="02070309020205020404" pitchFamily="49" charset="0"/>
              </a:rPr>
              <a:t>cho</a:t>
            </a:r>
            <a:r>
              <a:rPr lang="tr-TR" sz="1800" b="1" i="0" u="none" strike="noStrike" baseline="0" dirty="0">
                <a:solidFill>
                  <a:srgbClr val="0000FF"/>
                </a:solidFill>
                <a:latin typeface="Courier New" panose="02070309020205020404" pitchFamily="49" charset="0"/>
              </a:rPr>
              <a:t> </a:t>
            </a:r>
            <a:r>
              <a:rPr lang="pt-BR" sz="1800" b="0" i="0" u="none" strike="noStrike" baseline="0" dirty="0">
                <a:solidFill>
                  <a:srgbClr val="808080"/>
                </a:solidFill>
                <a:latin typeface="Courier New" panose="02070309020205020404" pitchFamily="49" charset="0"/>
              </a:rPr>
              <a:t>"Araba modelleri "</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000080"/>
                </a:solidFill>
                <a:latin typeface="Courier New" panose="02070309020205020404" pitchFamily="49" charset="0"/>
              </a:rPr>
              <a:t>$arabalar</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FF8000"/>
                </a:solidFill>
                <a:latin typeface="Courier New" panose="02070309020205020404" pitchFamily="49" charset="0"/>
              </a:rPr>
              <a:t>0</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 "</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000080"/>
                </a:solidFill>
                <a:latin typeface="Courier New" panose="02070309020205020404" pitchFamily="49" charset="0"/>
              </a:rPr>
              <a:t>$arabalar</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FF8000"/>
                </a:solidFill>
                <a:latin typeface="Courier New" panose="02070309020205020404" pitchFamily="49" charset="0"/>
              </a:rPr>
              <a:t>1</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 ve "</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000080"/>
                </a:solidFill>
                <a:latin typeface="Courier New" panose="02070309020205020404" pitchFamily="49" charset="0"/>
              </a:rPr>
              <a:t>$arabalar</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FF8000"/>
                </a:solidFill>
                <a:latin typeface="Courier New" panose="02070309020205020404" pitchFamily="49" charset="0"/>
              </a:rPr>
              <a:t>2</a:t>
            </a:r>
            <a:r>
              <a:rPr lang="pt-BR" sz="1800" b="0" i="0" u="none" strike="noStrike" baseline="0" dirty="0">
                <a:solidFill>
                  <a:srgbClr val="8000FF"/>
                </a:solidFill>
                <a:latin typeface="Courier New" panose="02070309020205020404" pitchFamily="49" charset="0"/>
              </a:rPr>
              <a:t>].</a:t>
            </a:r>
            <a:r>
              <a:rPr lang="pt-BR" sz="1800" b="0" i="0" u="none" strike="noStrike" baseline="0" dirty="0">
                <a:solidFill>
                  <a:srgbClr val="808080"/>
                </a:solidFill>
                <a:latin typeface="Courier New" panose="02070309020205020404" pitchFamily="49" charset="0"/>
              </a:rPr>
              <a:t>"."</a:t>
            </a:r>
            <a:r>
              <a:rPr lang="pt-BR" sz="1800" b="0" i="0" u="none" strike="noStrike" baseline="0" dirty="0">
                <a:solidFill>
                  <a:srgbClr val="8000FF"/>
                </a:solidFill>
                <a:latin typeface="Courier New" panose="02070309020205020404" pitchFamily="49" charset="0"/>
              </a:rPr>
              <a:t>;</a:t>
            </a:r>
          </a:p>
          <a:p>
            <a:r>
              <a:rPr lang="tr-TR" sz="1800" b="0" i="0" u="none" strike="noStrike" baseline="0" dirty="0">
                <a:solidFill>
                  <a:srgbClr val="FF0000"/>
                </a:solidFill>
                <a:latin typeface="Courier New" panose="02070309020205020404" pitchFamily="49" charset="0"/>
              </a:rPr>
              <a:t>?&gt;</a:t>
            </a:r>
            <a:endParaRPr lang="tr-TR" sz="7200" dirty="0"/>
          </a:p>
        </p:txBody>
      </p:sp>
    </p:spTree>
    <p:extLst>
      <p:ext uri="{BB962C8B-B14F-4D97-AF65-F5344CB8AC3E}">
        <p14:creationId xmlns:p14="http://schemas.microsoft.com/office/powerpoint/2010/main" val="912538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 Oluşturmak</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PHP’de üç farklı türde dizi bulunur.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Indeksli diziler (</a:t>
            </a:r>
            <a:r>
              <a:rPr lang="tr-TR" dirty="0" err="1">
                <a:solidFill>
                  <a:srgbClr val="000000"/>
                </a:solidFill>
                <a:latin typeface="Arial" pitchFamily="34" charset="0"/>
              </a:rPr>
              <a:t>Indexed</a:t>
            </a:r>
            <a:r>
              <a:rPr lang="tr-TR" dirty="0">
                <a:solidFill>
                  <a:srgbClr val="000000"/>
                </a:solidFill>
                <a:latin typeface="Arial" pitchFamily="34" charset="0"/>
              </a:rPr>
              <a:t> </a:t>
            </a:r>
            <a:r>
              <a:rPr lang="tr-TR" dirty="0" err="1">
                <a:solidFill>
                  <a:srgbClr val="000000"/>
                </a:solidFill>
                <a:latin typeface="Arial" pitchFamily="34" charset="0"/>
              </a:rPr>
              <a:t>Arrays</a:t>
            </a:r>
            <a:r>
              <a:rPr lang="tr-TR" dirty="0">
                <a:solidFill>
                  <a:srgbClr val="000000"/>
                </a:solidFill>
                <a:latin typeface="Arial" pitchFamily="34" charset="0"/>
              </a:rPr>
              <a:t>) – Nümerik indeksli diziler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Çağrışımsal diziler (</a:t>
            </a:r>
            <a:r>
              <a:rPr lang="tr-TR" dirty="0" err="1">
                <a:solidFill>
                  <a:srgbClr val="000000"/>
                </a:solidFill>
                <a:latin typeface="Arial" pitchFamily="34" charset="0"/>
              </a:rPr>
              <a:t>Associative</a:t>
            </a:r>
            <a:r>
              <a:rPr lang="tr-TR" dirty="0">
                <a:solidFill>
                  <a:srgbClr val="000000"/>
                </a:solidFill>
                <a:latin typeface="Arial" pitchFamily="34" charset="0"/>
              </a:rPr>
              <a:t> </a:t>
            </a:r>
            <a:r>
              <a:rPr lang="tr-TR" dirty="0" err="1">
                <a:solidFill>
                  <a:srgbClr val="000000"/>
                </a:solidFill>
                <a:latin typeface="Arial" pitchFamily="34" charset="0"/>
              </a:rPr>
              <a:t>Arrays</a:t>
            </a:r>
            <a:r>
              <a:rPr lang="tr-TR" dirty="0">
                <a:solidFill>
                  <a:srgbClr val="000000"/>
                </a:solidFill>
                <a:latin typeface="Arial" pitchFamily="34" charset="0"/>
              </a:rPr>
              <a:t>) – Adlandırılmış anahtarlı diziler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Çok boyutlu diziler (</a:t>
            </a:r>
            <a:r>
              <a:rPr lang="tr-TR" dirty="0" err="1">
                <a:solidFill>
                  <a:srgbClr val="000000"/>
                </a:solidFill>
                <a:latin typeface="Arial" pitchFamily="34" charset="0"/>
              </a:rPr>
              <a:t>Multidimensional</a:t>
            </a:r>
            <a:r>
              <a:rPr lang="tr-TR" dirty="0">
                <a:solidFill>
                  <a:srgbClr val="000000"/>
                </a:solidFill>
                <a:latin typeface="Arial" pitchFamily="34" charset="0"/>
              </a:rPr>
              <a:t> </a:t>
            </a:r>
            <a:r>
              <a:rPr lang="tr-TR" dirty="0" err="1">
                <a:solidFill>
                  <a:srgbClr val="000000"/>
                </a:solidFill>
                <a:latin typeface="Arial" pitchFamily="34" charset="0"/>
              </a:rPr>
              <a:t>Arrays</a:t>
            </a:r>
            <a:r>
              <a:rPr lang="tr-TR" dirty="0">
                <a:solidFill>
                  <a:srgbClr val="000000"/>
                </a:solidFill>
                <a:latin typeface="Arial" pitchFamily="34" charset="0"/>
              </a:rPr>
              <a:t>) – Birden fazla dizi içeren diziler</a:t>
            </a:r>
          </a:p>
        </p:txBody>
      </p:sp>
    </p:spTree>
    <p:extLst>
      <p:ext uri="{BB962C8B-B14F-4D97-AF65-F5344CB8AC3E}">
        <p14:creationId xmlns:p14="http://schemas.microsoft.com/office/powerpoint/2010/main" val="98780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Indeksli Diziler</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İndeksli dizi oluşturmanın iki yolu bulunur. Aşağıdaki örnekte indeks numaralarının otomatik olarak atandığı bir dizi tanımlamanın nasıl yapıldığını görüyorsunuz.</a:t>
            </a:r>
          </a:p>
          <a:p>
            <a:pPr marL="171450" lvl="1">
              <a:spcBef>
                <a:spcPct val="20000"/>
              </a:spcBef>
              <a:buClr>
                <a:srgbClr val="0066CC"/>
              </a:buClr>
              <a:buSzPct val="75000"/>
            </a:pPr>
            <a:r>
              <a:rPr lang="tr-TR" dirty="0">
                <a:solidFill>
                  <a:srgbClr val="000000"/>
                </a:solidFill>
                <a:latin typeface="Arial" pitchFamily="34" charset="0"/>
              </a:rPr>
              <a:t>	$arabalar = </a:t>
            </a:r>
            <a:r>
              <a:rPr lang="tr-TR" dirty="0" err="1">
                <a:solidFill>
                  <a:srgbClr val="000000"/>
                </a:solidFill>
                <a:latin typeface="Arial" pitchFamily="34" charset="0"/>
              </a:rPr>
              <a:t>array</a:t>
            </a:r>
            <a:r>
              <a:rPr lang="tr-TR" dirty="0">
                <a:solidFill>
                  <a:srgbClr val="000000"/>
                </a:solidFill>
                <a:latin typeface="Arial" pitchFamily="34" charset="0"/>
              </a:rPr>
              <a:t>(“Volvo”, “BMW”, “Toyota”)</a:t>
            </a:r>
          </a:p>
        </p:txBody>
      </p:sp>
    </p:spTree>
    <p:extLst>
      <p:ext uri="{BB962C8B-B14F-4D97-AF65-F5344CB8AC3E}">
        <p14:creationId xmlns:p14="http://schemas.microsoft.com/office/powerpoint/2010/main" val="358227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Indeksli Diziler</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İndeks numaralarının belirlenerek girildiği tanımlama işlemi aşağıdaki gibi yapılır.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$arabalar[0]= “Volvo”;</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$arabalar[1]= “BMW”;</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$arabalar[2]= “Toyota”;</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dizi aşağıdaki örnekteki gibi oluşturulup ekranda çıktısı gösterilebilir.</a:t>
            </a:r>
          </a:p>
        </p:txBody>
      </p:sp>
      <p:sp>
        <p:nvSpPr>
          <p:cNvPr id="4" name="Metin kutusu 3">
            <a:extLst>
              <a:ext uri="{FF2B5EF4-FFF2-40B4-BE49-F238E27FC236}">
                <a16:creationId xmlns:a16="http://schemas.microsoft.com/office/drawing/2014/main" id="{E7F12A99-BFD8-44BE-B9F6-F1C5851FB620}"/>
              </a:ext>
            </a:extLst>
          </p:cNvPr>
          <p:cNvSpPr txBox="1"/>
          <p:nvPr/>
        </p:nvSpPr>
        <p:spPr>
          <a:xfrm>
            <a:off x="419449" y="4043411"/>
            <a:ext cx="8305101" cy="193899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"Volvo"</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"BMW"</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"Toyota"</a:t>
            </a:r>
            <a:r>
              <a:rPr lang="pt-BR" b="0" i="0" u="none" strike="noStrike" baseline="0" dirty="0">
                <a:solidFill>
                  <a:srgbClr val="8000FF"/>
                </a:solidFill>
                <a:latin typeface="Courier New" panose="02070309020205020404" pitchFamily="49" charset="0"/>
              </a:rPr>
              <a:t>);</a:t>
            </a:r>
          </a:p>
          <a:p>
            <a:r>
              <a:rPr lang="tr-TR" b="1" dirty="0">
                <a:solidFill>
                  <a:srgbClr val="0000FF"/>
                </a:solidFill>
                <a:latin typeface="Courier New" panose="02070309020205020404" pitchFamily="49" charset="0"/>
              </a:rPr>
              <a:t>e</a:t>
            </a:r>
            <a:r>
              <a:rPr lang="pt-BR" b="1" i="0" u="none" strike="noStrike" baseline="0" dirty="0">
                <a:solidFill>
                  <a:srgbClr val="0000FF"/>
                </a:solidFill>
                <a:latin typeface="Courier New" panose="02070309020205020404" pitchFamily="49" charset="0"/>
              </a:rPr>
              <a:t>cho</a:t>
            </a:r>
            <a:r>
              <a:rPr lang="tr-TR" b="1" i="0" u="none" strike="noStrike" baseline="0" dirty="0">
                <a:solidFill>
                  <a:srgbClr val="0000FF"/>
                </a:solidFill>
                <a:latin typeface="Courier New" panose="02070309020205020404" pitchFamily="49" charset="0"/>
              </a:rPr>
              <a:t> </a:t>
            </a:r>
            <a:r>
              <a:rPr lang="pt-BR" b="0" i="0" u="none" strike="noStrike" baseline="0" dirty="0">
                <a:solidFill>
                  <a:srgbClr val="808080"/>
                </a:solidFill>
                <a:latin typeface="Courier New" panose="02070309020205020404" pitchFamily="49" charset="0"/>
              </a:rPr>
              <a:t>"Araba modelleri "</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FF8000"/>
                </a:solidFill>
                <a:latin typeface="Courier New" panose="02070309020205020404" pitchFamily="49" charset="0"/>
              </a:rPr>
              <a:t>0</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 "</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FF8000"/>
                </a:solidFill>
                <a:latin typeface="Courier New" panose="02070309020205020404" pitchFamily="49" charset="0"/>
              </a:rPr>
              <a:t>1</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 ve "</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FF8000"/>
                </a:solidFill>
                <a:latin typeface="Courier New" panose="02070309020205020404" pitchFamily="49" charset="0"/>
              </a:rPr>
              <a:t>2</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t>
            </a:r>
            <a:r>
              <a:rPr lang="pt-B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8800" dirty="0"/>
          </a:p>
        </p:txBody>
      </p:sp>
    </p:spTree>
    <p:extLst>
      <p:ext uri="{BB962C8B-B14F-4D97-AF65-F5344CB8AC3E}">
        <p14:creationId xmlns:p14="http://schemas.microsoft.com/office/powerpoint/2010/main" val="4224855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Dizinin Uzunluğunu Almak</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Dizilerle çalışırken </a:t>
            </a:r>
            <a:r>
              <a:rPr lang="tr-TR" dirty="0" err="1">
                <a:solidFill>
                  <a:srgbClr val="000000"/>
                </a:solidFill>
                <a:latin typeface="Arial" pitchFamily="34" charset="0"/>
              </a:rPr>
              <a:t>count</a:t>
            </a:r>
            <a:r>
              <a:rPr lang="tr-TR" dirty="0">
                <a:solidFill>
                  <a:srgbClr val="000000"/>
                </a:solidFill>
                <a:latin typeface="Arial" pitchFamily="34" charset="0"/>
              </a:rPr>
              <a:t>() fonksiyonu dizinin uzunluğunu (dizi elemanlarının sayısını) anlamak için kullanılır.</a:t>
            </a:r>
          </a:p>
        </p:txBody>
      </p:sp>
      <p:sp>
        <p:nvSpPr>
          <p:cNvPr id="4" name="Metin kutusu 3">
            <a:extLst>
              <a:ext uri="{FF2B5EF4-FFF2-40B4-BE49-F238E27FC236}">
                <a16:creationId xmlns:a16="http://schemas.microsoft.com/office/drawing/2014/main" id="{E7F12A99-BFD8-44BE-B9F6-F1C5851FB620}"/>
              </a:ext>
            </a:extLst>
          </p:cNvPr>
          <p:cNvSpPr txBox="1"/>
          <p:nvPr/>
        </p:nvSpPr>
        <p:spPr>
          <a:xfrm>
            <a:off x="419449" y="2583726"/>
            <a:ext cx="8305101" cy="1569660"/>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"Volvo"</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"BMW"</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"Toyota"</a:t>
            </a:r>
            <a:r>
              <a:rPr lang="pt-BR" b="0" i="0" u="none" strike="noStrike" baseline="0" dirty="0">
                <a:solidFill>
                  <a:srgbClr val="8000FF"/>
                </a:solidFill>
                <a:latin typeface="Courier New" panose="02070309020205020404" pitchFamily="49" charset="0"/>
              </a:rPr>
              <a:t>);</a:t>
            </a:r>
          </a:p>
          <a:p>
            <a:r>
              <a:rPr lang="tr-TR" b="1" dirty="0" err="1">
                <a:solidFill>
                  <a:srgbClr val="0000FF"/>
                </a:solidFill>
                <a:latin typeface="Courier New" panose="02070309020205020404" pitchFamily="49" charset="0"/>
              </a:rPr>
              <a:t>e</a:t>
            </a:r>
            <a:r>
              <a:rPr lang="tr-TR" b="1" i="0" u="none" strike="noStrike" baseline="0" dirty="0" err="1">
                <a:solidFill>
                  <a:srgbClr val="0000FF"/>
                </a:solidFill>
                <a:latin typeface="Courier New" panose="02070309020205020404" pitchFamily="49" charset="0"/>
              </a:rPr>
              <a:t>cho</a:t>
            </a:r>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11500" dirty="0"/>
          </a:p>
        </p:txBody>
      </p:sp>
    </p:spTree>
    <p:extLst>
      <p:ext uri="{BB962C8B-B14F-4D97-AF65-F5344CB8AC3E}">
        <p14:creationId xmlns:p14="http://schemas.microsoft.com/office/powerpoint/2010/main" val="2853748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İndeksli Dizilerde Döngü</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Indeksli dizilerde saklanan değerlerle çalışırken genellikle döngüler kullanılır. Örneğin </a:t>
            </a:r>
            <a:r>
              <a:rPr lang="tr-TR" dirty="0" err="1">
                <a:solidFill>
                  <a:srgbClr val="000000"/>
                </a:solidFill>
                <a:latin typeface="Arial" pitchFamily="34" charset="0"/>
              </a:rPr>
              <a:t>for</a:t>
            </a:r>
            <a:r>
              <a:rPr lang="tr-TR" dirty="0">
                <a:solidFill>
                  <a:srgbClr val="000000"/>
                </a:solidFill>
                <a:latin typeface="Arial" pitchFamily="34" charset="0"/>
              </a:rPr>
              <a:t> döngüsünü bir dizinin sakladığı değerleri görmek için aşağıdaki gibi kullanabiliriz.</a:t>
            </a:r>
          </a:p>
        </p:txBody>
      </p:sp>
      <p:sp>
        <p:nvSpPr>
          <p:cNvPr id="4" name="Metin kutusu 3">
            <a:extLst>
              <a:ext uri="{FF2B5EF4-FFF2-40B4-BE49-F238E27FC236}">
                <a16:creationId xmlns:a16="http://schemas.microsoft.com/office/drawing/2014/main" id="{E7F12A99-BFD8-44BE-B9F6-F1C5851FB620}"/>
              </a:ext>
            </a:extLst>
          </p:cNvPr>
          <p:cNvSpPr txBox="1"/>
          <p:nvPr/>
        </p:nvSpPr>
        <p:spPr>
          <a:xfrm>
            <a:off x="419449" y="2583726"/>
            <a:ext cx="8305101" cy="3416320"/>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"Volvo"</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"BMW"</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"Toyota"</a:t>
            </a:r>
            <a:r>
              <a:rPr lang="pt-BR" b="0" i="0" u="none" strike="noStrike" baseline="0" dirty="0">
                <a:solidFill>
                  <a:srgbClr val="8000FF"/>
                </a:solidFill>
                <a:latin typeface="Courier New" panose="02070309020205020404" pitchFamily="49" charset="0"/>
              </a:rPr>
              <a:t>);</a:t>
            </a:r>
          </a:p>
          <a:p>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1" i="0" u="none" strike="noStrike" baseline="0" dirty="0" err="1">
                <a:solidFill>
                  <a:srgbClr val="0000FF"/>
                </a:solidFill>
                <a:latin typeface="Courier New" panose="02070309020205020404" pitchFamily="49" charset="0"/>
              </a:rPr>
              <a:t>for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0</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&lt;</a:t>
            </a:r>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16600" dirty="0"/>
          </a:p>
        </p:txBody>
      </p:sp>
    </p:spTree>
    <p:extLst>
      <p:ext uri="{BB962C8B-B14F-4D97-AF65-F5344CB8AC3E}">
        <p14:creationId xmlns:p14="http://schemas.microsoft.com/office/powerpoint/2010/main" val="337260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 – (</a:t>
            </a:r>
            <a:r>
              <a:rPr lang="tr-TR" sz="3200" dirty="0" err="1"/>
              <a:t>Associative</a:t>
            </a:r>
            <a:r>
              <a:rPr lang="tr-TR" sz="3200" dirty="0"/>
              <a:t> </a:t>
            </a:r>
            <a:r>
              <a:rPr lang="tr-TR" sz="3200" dirty="0" err="1"/>
              <a:t>Arrays</a:t>
            </a:r>
            <a:r>
              <a:rPr lang="tr-TR" sz="3200" dirty="0"/>
              <a:t>)</a:t>
            </a:r>
            <a:endParaRPr lang="en-US" sz="3200" dirty="0"/>
          </a:p>
        </p:txBody>
      </p:sp>
      <p:sp>
        <p:nvSpPr>
          <p:cNvPr id="154627" name="Rectangle 3"/>
          <p:cNvSpPr>
            <a:spLocks noChangeArrowheads="1"/>
          </p:cNvSpPr>
          <p:nvPr/>
        </p:nvSpPr>
        <p:spPr bwMode="auto">
          <a:xfrm>
            <a:off x="0" y="876301"/>
            <a:ext cx="9144000" cy="565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Çağrışımsal Diziler isimlendirilmiş anahtarlara atama yapılarak tanımlanır.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Çağrışımsal dizi oluşturmanın iki yolu bulunur. Birinci yol aşağıdaki gibidir.</a:t>
            </a:r>
          </a:p>
          <a:p>
            <a:pPr marL="171450" lvl="1">
              <a:spcBef>
                <a:spcPct val="20000"/>
              </a:spcBef>
              <a:buClr>
                <a:srgbClr val="0066CC"/>
              </a:buClr>
              <a:buSzPct val="75000"/>
            </a:pPr>
            <a:r>
              <a:rPr lang="tr-TR" dirty="0">
                <a:solidFill>
                  <a:srgbClr val="000000"/>
                </a:solidFill>
                <a:latin typeface="Arial" pitchFamily="34" charset="0"/>
              </a:rPr>
              <a:t>	$yas = </a:t>
            </a:r>
            <a:r>
              <a:rPr lang="tr-TR" dirty="0" err="1">
                <a:solidFill>
                  <a:srgbClr val="000000"/>
                </a:solidFill>
                <a:latin typeface="Arial" pitchFamily="34" charset="0"/>
              </a:rPr>
              <a:t>array</a:t>
            </a:r>
            <a:r>
              <a:rPr lang="tr-TR" dirty="0">
                <a:solidFill>
                  <a:srgbClr val="000000"/>
                </a:solidFill>
                <a:latin typeface="Arial" pitchFamily="34" charset="0"/>
              </a:rPr>
              <a:t>("Ali"=&gt;"35", "Ahmet"=&gt;"37", "Veli"=&gt;"43");</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İkinci </a:t>
            </a:r>
            <a:r>
              <a:rPr lang="tr-TR" dirty="0" err="1">
                <a:solidFill>
                  <a:srgbClr val="000000"/>
                </a:solidFill>
                <a:latin typeface="Arial" pitchFamily="34" charset="0"/>
              </a:rPr>
              <a:t>çağrışımsal</a:t>
            </a:r>
            <a:r>
              <a:rPr lang="tr-TR" dirty="0">
                <a:solidFill>
                  <a:srgbClr val="000000"/>
                </a:solidFill>
                <a:latin typeface="Arial" pitchFamily="34" charset="0"/>
              </a:rPr>
              <a:t> dizi oluşturma yolu aşağıdaki gibidir;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$yas['Ali'] = "35";</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$yas['Ahmet'] = "37";</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$yas['Veli'] = "43";</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4823586"/>
            <a:ext cx="8305101" cy="193899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array</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"Ali"</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"35"</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"Ahmet"</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"37"</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"Veli"</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"43"</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echo</a:t>
            </a:r>
            <a:r>
              <a:rPr lang="tr-TR" b="0" i="0" u="none" strike="noStrike" baseline="0" dirty="0" err="1">
                <a:solidFill>
                  <a:srgbClr val="808080"/>
                </a:solidFill>
                <a:latin typeface="Courier New" panose="02070309020205020404" pitchFamily="49" charset="0"/>
              </a:rPr>
              <a:t>"Ali</a:t>
            </a:r>
            <a:r>
              <a:rPr lang="tr-TR" b="0" i="0" u="none" strike="noStrike" baseline="0" dirty="0">
                <a:solidFill>
                  <a:srgbClr val="808080"/>
                </a:solidFill>
                <a:latin typeface="Courier New" panose="02070309020205020404" pitchFamily="49" charset="0"/>
              </a:rPr>
              <a:t> "</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'Ali'</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yaşındadır."</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23900" dirty="0"/>
          </a:p>
        </p:txBody>
      </p:sp>
    </p:spTree>
    <p:extLst>
      <p:ext uri="{BB962C8B-B14F-4D97-AF65-F5344CB8AC3E}">
        <p14:creationId xmlns:p14="http://schemas.microsoft.com/office/powerpoint/2010/main" val="1617790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Dizilerde Döngü</a:t>
            </a:r>
            <a:endParaRPr lang="en-US" sz="3200" dirty="0"/>
          </a:p>
        </p:txBody>
      </p:sp>
      <p:sp>
        <p:nvSpPr>
          <p:cNvPr id="154627" name="Rectangle 3"/>
          <p:cNvSpPr>
            <a:spLocks noChangeArrowheads="1"/>
          </p:cNvSpPr>
          <p:nvPr/>
        </p:nvSpPr>
        <p:spPr bwMode="auto">
          <a:xfrm>
            <a:off x="0" y="876301"/>
            <a:ext cx="9144000" cy="1422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Çağrışımsal dizilerdeki değerlerle çalışmak için foreach döngüsünü kullanabilirsiniz.</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416320"/>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array</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"Ali"</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"35"</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"Ahmet"</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"37"</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"Veli"</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808080"/>
                </a:solidFill>
                <a:latin typeface="Courier New" panose="02070309020205020404" pitchFamily="49" charset="0"/>
              </a:rPr>
              <a:t>"43"</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1" i="0" u="none" strike="noStrike" baseline="0" dirty="0">
                <a:solidFill>
                  <a:srgbClr val="0000FF"/>
                </a:solidFill>
                <a:latin typeface="Courier New" panose="02070309020205020404" pitchFamily="49" charset="0"/>
              </a:rPr>
              <a:t>foreach</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 </a:t>
            </a:r>
            <a:r>
              <a:rPr lang="tr-TR" b="1" i="0" u="none" strike="noStrike" baseline="0" dirty="0">
                <a:solidFill>
                  <a:srgbClr val="0000FF"/>
                </a:solidFill>
                <a:latin typeface="Courier New" panose="02070309020205020404" pitchFamily="49" charset="0"/>
              </a:rPr>
              <a:t>as </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=&gt;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deger</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"Anahtar="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Değer="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deger</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34400" dirty="0"/>
          </a:p>
        </p:txBody>
      </p:sp>
    </p:spTree>
    <p:extLst>
      <p:ext uri="{BB962C8B-B14F-4D97-AF65-F5344CB8AC3E}">
        <p14:creationId xmlns:p14="http://schemas.microsoft.com/office/powerpoint/2010/main" val="193217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Dizilerde Sıralama</a:t>
            </a:r>
            <a:endParaRPr lang="en-US" sz="3200" dirty="0"/>
          </a:p>
        </p:txBody>
      </p:sp>
      <p:sp>
        <p:nvSpPr>
          <p:cNvPr id="154627" name="Rectangle 3"/>
          <p:cNvSpPr>
            <a:spLocks noChangeArrowheads="1"/>
          </p:cNvSpPr>
          <p:nvPr/>
        </p:nvSpPr>
        <p:spPr bwMode="auto">
          <a:xfrm>
            <a:off x="0" y="876300"/>
            <a:ext cx="9144000" cy="572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PHP’de diziler sıralanırken aşağıdaki fonksiyonlar kullanılır. Sıralama dizi içindeki elemanların yerini değiştirecektir.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sort</a:t>
            </a:r>
            <a:r>
              <a:rPr lang="tr-TR" dirty="0">
                <a:solidFill>
                  <a:srgbClr val="000000"/>
                </a:solidFill>
                <a:latin typeface="Arial" pitchFamily="34" charset="0"/>
              </a:rPr>
              <a:t>() – diziyi artan sıralar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rsort</a:t>
            </a:r>
            <a:r>
              <a:rPr lang="tr-TR" dirty="0">
                <a:solidFill>
                  <a:srgbClr val="000000"/>
                </a:solidFill>
                <a:latin typeface="Arial" pitchFamily="34" charset="0"/>
              </a:rPr>
              <a:t>() – diziyi azalan sıralar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asort</a:t>
            </a:r>
            <a:r>
              <a:rPr lang="tr-TR" dirty="0">
                <a:solidFill>
                  <a:srgbClr val="000000"/>
                </a:solidFill>
                <a:latin typeface="Arial" pitchFamily="34" charset="0"/>
              </a:rPr>
              <a:t>() – </a:t>
            </a:r>
            <a:r>
              <a:rPr lang="tr-TR" dirty="0" err="1">
                <a:solidFill>
                  <a:srgbClr val="000000"/>
                </a:solidFill>
                <a:latin typeface="Arial" pitchFamily="34" charset="0"/>
              </a:rPr>
              <a:t>çağrışımsal</a:t>
            </a:r>
            <a:r>
              <a:rPr lang="tr-TR" dirty="0">
                <a:solidFill>
                  <a:srgbClr val="000000"/>
                </a:solidFill>
                <a:latin typeface="Arial" pitchFamily="34" charset="0"/>
              </a:rPr>
              <a:t> dizilerde değerlere göre artan sıralar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ksort</a:t>
            </a:r>
            <a:r>
              <a:rPr lang="tr-TR" dirty="0">
                <a:solidFill>
                  <a:srgbClr val="000000"/>
                </a:solidFill>
                <a:latin typeface="Arial" pitchFamily="34" charset="0"/>
              </a:rPr>
              <a:t>() – </a:t>
            </a:r>
            <a:r>
              <a:rPr lang="tr-TR" dirty="0" err="1">
                <a:solidFill>
                  <a:srgbClr val="000000"/>
                </a:solidFill>
                <a:latin typeface="Arial" pitchFamily="34" charset="0"/>
              </a:rPr>
              <a:t>çağrışımsal</a:t>
            </a:r>
            <a:r>
              <a:rPr lang="tr-TR" dirty="0">
                <a:solidFill>
                  <a:srgbClr val="000000"/>
                </a:solidFill>
                <a:latin typeface="Arial" pitchFamily="34" charset="0"/>
              </a:rPr>
              <a:t> dizilerde anahtarlara göre artan sıralar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arsort</a:t>
            </a:r>
            <a:r>
              <a:rPr lang="tr-TR" dirty="0">
                <a:solidFill>
                  <a:srgbClr val="000000"/>
                </a:solidFill>
                <a:latin typeface="Arial" pitchFamily="34" charset="0"/>
              </a:rPr>
              <a:t>() – </a:t>
            </a:r>
            <a:r>
              <a:rPr lang="tr-TR" dirty="0" err="1">
                <a:solidFill>
                  <a:srgbClr val="000000"/>
                </a:solidFill>
                <a:latin typeface="Arial" pitchFamily="34" charset="0"/>
              </a:rPr>
              <a:t>çağrışımsal</a:t>
            </a:r>
            <a:r>
              <a:rPr lang="tr-TR" dirty="0">
                <a:solidFill>
                  <a:srgbClr val="000000"/>
                </a:solidFill>
                <a:latin typeface="Arial" pitchFamily="34" charset="0"/>
              </a:rPr>
              <a:t> dizilerde değerlere göre azalan sıralar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krsort</a:t>
            </a:r>
            <a:r>
              <a:rPr lang="tr-TR" dirty="0">
                <a:solidFill>
                  <a:srgbClr val="000000"/>
                </a:solidFill>
                <a:latin typeface="Arial" pitchFamily="34" charset="0"/>
              </a:rPr>
              <a:t>() – </a:t>
            </a:r>
            <a:r>
              <a:rPr lang="tr-TR" dirty="0" err="1">
                <a:solidFill>
                  <a:srgbClr val="000000"/>
                </a:solidFill>
                <a:latin typeface="Arial" pitchFamily="34" charset="0"/>
              </a:rPr>
              <a:t>çağrışımsal</a:t>
            </a:r>
            <a:r>
              <a:rPr lang="tr-TR" dirty="0">
                <a:solidFill>
                  <a:srgbClr val="000000"/>
                </a:solidFill>
                <a:latin typeface="Arial" pitchFamily="34" charset="0"/>
              </a:rPr>
              <a:t> dizilerde anahtarlara göre azalan sıralar</a:t>
            </a:r>
          </a:p>
        </p:txBody>
      </p:sp>
    </p:spTree>
    <p:extLst>
      <p:ext uri="{BB962C8B-B14F-4D97-AF65-F5344CB8AC3E}">
        <p14:creationId xmlns:p14="http://schemas.microsoft.com/office/powerpoint/2010/main" val="246877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Dizilerde Artan Sıralama – </a:t>
            </a:r>
            <a:r>
              <a:rPr lang="tr-TR" sz="3200" dirty="0" err="1"/>
              <a:t>sort</a:t>
            </a:r>
            <a:r>
              <a:rPr lang="tr-TR" sz="3200" dirty="0"/>
              <a:t>()</a:t>
            </a:r>
            <a:endParaRPr lang="en-US" sz="3200" dirty="0"/>
          </a:p>
        </p:txBody>
      </p:sp>
      <p:sp>
        <p:nvSpPr>
          <p:cNvPr id="154627" name="Rectangle 3"/>
          <p:cNvSpPr>
            <a:spLocks noChangeArrowheads="1"/>
          </p:cNvSpPr>
          <p:nvPr/>
        </p:nvSpPr>
        <p:spPr bwMode="auto">
          <a:xfrm>
            <a:off x="0" y="876301"/>
            <a:ext cx="9144000" cy="1422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bir dizi içindeki değerler alfabetik olarak artan sıralanıp ekranda gösterilmektedir.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"Volvo"</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"BMW"</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"Toyota"</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for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0</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&lt;</a:t>
            </a:r>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49600" dirty="0"/>
          </a:p>
        </p:txBody>
      </p:sp>
    </p:spTree>
    <p:extLst>
      <p:ext uri="{BB962C8B-B14F-4D97-AF65-F5344CB8AC3E}">
        <p14:creationId xmlns:p14="http://schemas.microsoft.com/office/powerpoint/2010/main" val="2949361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Dizilerde Artan Sıralama – </a:t>
            </a:r>
            <a:r>
              <a:rPr lang="tr-TR" sz="3200" dirty="0" err="1"/>
              <a:t>sort</a:t>
            </a:r>
            <a:r>
              <a:rPr lang="tr-TR" sz="3200" dirty="0"/>
              <a:t>()</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 sayılardan oluşan bir dizinin artan nasıl sıralandığını gösteriyor.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array</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4</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6</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2</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22</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11</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diziboyutu</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for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0</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&lt;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diziboyutu</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71400" dirty="0"/>
          </a:p>
        </p:txBody>
      </p:sp>
    </p:spTree>
    <p:extLst>
      <p:ext uri="{BB962C8B-B14F-4D97-AF65-F5344CB8AC3E}">
        <p14:creationId xmlns:p14="http://schemas.microsoft.com/office/powerpoint/2010/main" val="368205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Dizilerde Azalan Sıralama – </a:t>
            </a:r>
            <a:r>
              <a:rPr lang="tr-TR" sz="3200" dirty="0" err="1"/>
              <a:t>rsort</a:t>
            </a:r>
            <a:r>
              <a:rPr lang="tr-TR" sz="3200" dirty="0"/>
              <a:t>()</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arabalar dizisi içindeki değerler alfabetik olarak azalan sıralanmıştır.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$arabalar</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"Volvo"</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"BMW"</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"Toyota"</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rsort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for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0</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&lt;</a:t>
            </a:r>
            <a:r>
              <a:rPr lang="tr-TR" b="0" i="0" u="none" strike="noStrike" baseline="0" dirty="0">
                <a:solidFill>
                  <a:srgbClr val="000080"/>
                </a:solidFill>
                <a:latin typeface="Courier New" panose="02070309020205020404" pitchFamily="49" charset="0"/>
              </a:rPr>
              <a:t>$uzunluk</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000080"/>
                </a:solidFill>
                <a:latin typeface="Courier New" panose="02070309020205020404" pitchFamily="49" charset="0"/>
              </a:rPr>
              <a:t>$arabalar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102800" dirty="0"/>
          </a:p>
        </p:txBody>
      </p:sp>
    </p:spTree>
    <p:extLst>
      <p:ext uri="{BB962C8B-B14F-4D97-AF65-F5344CB8AC3E}">
        <p14:creationId xmlns:p14="http://schemas.microsoft.com/office/powerpoint/2010/main" val="466187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Dizilerde Azalan Sıralama – </a:t>
            </a:r>
            <a:r>
              <a:rPr lang="tr-TR" sz="3200" dirty="0" err="1"/>
              <a:t>rsort</a:t>
            </a:r>
            <a:r>
              <a:rPr lang="tr-TR" sz="3200" dirty="0"/>
              <a:t>()</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Dizi içindeki sayılar aşağıdaki örnekte azalan sıralanmıştır.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array</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4</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6</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2</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22</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11</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rsort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diziboyutu</a:t>
            </a:r>
            <a:r>
              <a:rPr lang="tr-TR" b="0" i="0" u="none" strike="noStrike" baseline="0" dirty="0">
                <a:solidFill>
                  <a:srgbClr val="8000FF"/>
                </a:solidFill>
                <a:latin typeface="Courier New" panose="02070309020205020404" pitchFamily="49" charset="0"/>
              </a:rPr>
              <a:t>=</a:t>
            </a:r>
            <a:r>
              <a:rPr lang="tr-TR" b="1" i="0" u="none" strike="noStrike" baseline="0" dirty="0" err="1">
                <a:solidFill>
                  <a:srgbClr val="0000FF"/>
                </a:solidFill>
                <a:latin typeface="Courier New" panose="02070309020205020404" pitchFamily="49" charset="0"/>
              </a:rPr>
              <a:t>count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for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FF8000"/>
                </a:solidFill>
                <a:latin typeface="Courier New" panose="02070309020205020404" pitchFamily="49" charset="0"/>
              </a:rPr>
              <a:t>0</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&lt;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diziboyutu</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sayilar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148100" dirty="0"/>
          </a:p>
        </p:txBody>
      </p:sp>
    </p:spTree>
    <p:extLst>
      <p:ext uri="{BB962C8B-B14F-4D97-AF65-F5344CB8AC3E}">
        <p14:creationId xmlns:p14="http://schemas.microsoft.com/office/powerpoint/2010/main" val="86442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Dizilerin Değere Göre Artan Sıralaması</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a:t>
            </a:r>
            <a:r>
              <a:rPr lang="tr-TR" dirty="0" err="1">
                <a:solidFill>
                  <a:srgbClr val="000000"/>
                </a:solidFill>
                <a:latin typeface="Arial" pitchFamily="34" charset="0"/>
              </a:rPr>
              <a:t>çağrışımsal</a:t>
            </a:r>
            <a:r>
              <a:rPr lang="tr-TR" dirty="0">
                <a:solidFill>
                  <a:srgbClr val="000000"/>
                </a:solidFill>
                <a:latin typeface="Arial" pitchFamily="34" charset="0"/>
              </a:rPr>
              <a:t> bir dizi atanan değerlere göre artan sıralanmıştır.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$yas</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"Veli"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"35"</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"Ahmet"</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"43"</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"37"</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asort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en-US" b="1" i="0" u="none" strike="noStrike" baseline="0" dirty="0">
                <a:solidFill>
                  <a:srgbClr val="0000FF"/>
                </a:solidFill>
                <a:latin typeface="Courier New" panose="02070309020205020404" pitchFamily="49" charset="0"/>
              </a:rPr>
              <a:t>foreach</a:t>
            </a:r>
            <a:r>
              <a:rPr lang="en-US" b="0" i="0" u="none" strike="noStrike" baseline="0" dirty="0">
                <a:solidFill>
                  <a:srgbClr val="8000FF"/>
                </a:solidFill>
                <a:latin typeface="Courier New" panose="02070309020205020404" pitchFamily="49" charset="0"/>
              </a:rPr>
              <a: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yas</a:t>
            </a:r>
            <a:r>
              <a:rPr lang="tr-TR" b="0" i="0" u="none" strike="noStrike" baseline="0" dirty="0">
                <a:solidFill>
                  <a:srgbClr val="000080"/>
                </a:solidFill>
                <a:latin typeface="Courier New" panose="02070309020205020404" pitchFamily="49" charset="0"/>
              </a:rPr>
              <a:t> </a:t>
            </a:r>
            <a:r>
              <a:rPr lang="en-US" b="1" i="0" u="none" strike="noStrike" baseline="0" dirty="0">
                <a:solidFill>
                  <a:srgbClr val="0000FF"/>
                </a:solidFill>
                <a:latin typeface="Courier New" panose="02070309020205020404" pitchFamily="49" charset="0"/>
              </a:rPr>
              <a:t>as</a:t>
            </a:r>
            <a:r>
              <a:rPr lang="tr-TR" b="1" i="0" u="none" strike="noStrike" baseline="0" dirty="0">
                <a:solidFill>
                  <a:srgbClr val="0000FF"/>
                </a:solidFill>
                <a:latin typeface="Courier New" panose="02070309020205020404" pitchFamily="49" charset="0"/>
              </a:rPr>
              <a:t> </a:t>
            </a:r>
            <a:r>
              <a:rPr lang="en-US" b="0" i="0" u="none" strike="noStrike" baseline="0" dirty="0">
                <a:solidFill>
                  <a:srgbClr val="000080"/>
                </a:solidFill>
                <a:latin typeface="Courier New" panose="02070309020205020404" pitchFamily="49" charset="0"/>
              </a:rPr>
              <a:t>$x</a:t>
            </a:r>
            <a:r>
              <a:rPr lang="en-US" b="0" i="0" u="none" strike="noStrike" baseline="0" dirty="0">
                <a:solidFill>
                  <a:srgbClr val="8000FF"/>
                </a:solidFill>
                <a:latin typeface="Courier New" panose="02070309020205020404" pitchFamily="49" charset="0"/>
              </a:rPr>
              <a:t>=&gt;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x_value</a:t>
            </a:r>
            <a:r>
              <a:rPr lang="en-US"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"Anahtar="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Değer="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x_value</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213200" dirty="0"/>
          </a:p>
        </p:txBody>
      </p:sp>
    </p:spTree>
    <p:extLst>
      <p:ext uri="{BB962C8B-B14F-4D97-AF65-F5344CB8AC3E}">
        <p14:creationId xmlns:p14="http://schemas.microsoft.com/office/powerpoint/2010/main" val="893365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Dizilerin Anahtara Göre Artan Sıralaması</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a:t>
            </a:r>
            <a:r>
              <a:rPr lang="tr-TR" dirty="0" err="1">
                <a:solidFill>
                  <a:srgbClr val="000000"/>
                </a:solidFill>
                <a:latin typeface="Arial" pitchFamily="34" charset="0"/>
              </a:rPr>
              <a:t>çağrışımmsal</a:t>
            </a:r>
            <a:r>
              <a:rPr lang="tr-TR" dirty="0">
                <a:solidFill>
                  <a:srgbClr val="000000"/>
                </a:solidFill>
                <a:latin typeface="Arial" pitchFamily="34" charset="0"/>
              </a:rPr>
              <a:t> bir dizi barındırdığı anahtarlara göre artan sıralanmıştır.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$yas</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"Veli"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"35"</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"Ahmet"</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"43"</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"37"</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ksort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en-US" b="1" i="0" u="none" strike="noStrike" baseline="0" dirty="0">
                <a:solidFill>
                  <a:srgbClr val="0000FF"/>
                </a:solidFill>
                <a:latin typeface="Courier New" panose="02070309020205020404" pitchFamily="49" charset="0"/>
              </a:rPr>
              <a:t>foreach</a:t>
            </a:r>
            <a:r>
              <a:rPr lang="en-US" b="0" i="0" u="none" strike="noStrike" baseline="0" dirty="0">
                <a:solidFill>
                  <a:srgbClr val="8000FF"/>
                </a:solidFill>
                <a:latin typeface="Courier New" panose="02070309020205020404" pitchFamily="49" charset="0"/>
              </a:rPr>
              <a: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yas</a:t>
            </a:r>
            <a:r>
              <a:rPr lang="tr-TR" b="0" i="0" u="none" strike="noStrike" baseline="0" dirty="0">
                <a:solidFill>
                  <a:srgbClr val="000080"/>
                </a:solidFill>
                <a:latin typeface="Courier New" panose="02070309020205020404" pitchFamily="49" charset="0"/>
              </a:rPr>
              <a:t> </a:t>
            </a:r>
            <a:r>
              <a:rPr lang="en-US" b="1" i="0" u="none" strike="noStrike" baseline="0" dirty="0">
                <a:solidFill>
                  <a:srgbClr val="0000FF"/>
                </a:solidFill>
                <a:latin typeface="Courier New" panose="02070309020205020404" pitchFamily="49" charset="0"/>
              </a:rPr>
              <a:t>as</a:t>
            </a:r>
            <a:r>
              <a:rPr lang="tr-TR" b="1" i="0" u="none" strike="noStrike" baseline="0" dirty="0">
                <a:solidFill>
                  <a:srgbClr val="0000FF"/>
                </a:solidFill>
                <a:latin typeface="Courier New" panose="02070309020205020404" pitchFamily="49" charset="0"/>
              </a:rPr>
              <a:t> </a:t>
            </a:r>
            <a:r>
              <a:rPr lang="en-US" b="0" i="0" u="none" strike="noStrike" baseline="0" dirty="0">
                <a:solidFill>
                  <a:srgbClr val="000080"/>
                </a:solidFill>
                <a:latin typeface="Courier New" panose="02070309020205020404" pitchFamily="49" charset="0"/>
              </a:rPr>
              <a:t>$x</a:t>
            </a:r>
            <a:r>
              <a:rPr lang="en-US" b="0" i="0" u="none" strike="noStrike" baseline="0" dirty="0">
                <a:solidFill>
                  <a:srgbClr val="8000FF"/>
                </a:solidFill>
                <a:latin typeface="Courier New" panose="02070309020205020404" pitchFamily="49" charset="0"/>
              </a:rPr>
              <a:t>=&gt;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x_value</a:t>
            </a:r>
            <a:r>
              <a:rPr lang="en-US"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0" i="0" u="none" strike="noStrike" baseline="0" dirty="0" err="1">
                <a:solidFill>
                  <a:srgbClr val="808080"/>
                </a:solidFill>
                <a:latin typeface="Courier New" panose="02070309020205020404" pitchFamily="49" charset="0"/>
              </a:rPr>
              <a:t>"Anahtar</a:t>
            </a:r>
            <a:r>
              <a:rPr lang="tr-TR" b="0" i="0" u="none" strike="noStrike" baseline="0" dirty="0">
                <a:solidFill>
                  <a:srgbClr val="808080"/>
                </a:solidFill>
                <a:latin typeface="Courier New" panose="02070309020205020404" pitchFamily="49" charset="0"/>
              </a:rPr>
              <a: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Değer="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x_value</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307000" dirty="0"/>
          </a:p>
        </p:txBody>
      </p:sp>
    </p:spTree>
    <p:extLst>
      <p:ext uri="{BB962C8B-B14F-4D97-AF65-F5344CB8AC3E}">
        <p14:creationId xmlns:p14="http://schemas.microsoft.com/office/powerpoint/2010/main" val="3321117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Dizilerin Değere Göre Azalan Sıralaması</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Çağrışımsal diziler atanan değere göre aşağıdaki gibi azalan sıralanabilir.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$yas</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"Veli"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"35"</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"Ahmet"</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"43"</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"37"</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arsort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en-US" b="1" i="0" u="none" strike="noStrike" baseline="0" dirty="0">
                <a:solidFill>
                  <a:srgbClr val="0000FF"/>
                </a:solidFill>
                <a:latin typeface="Courier New" panose="02070309020205020404" pitchFamily="49" charset="0"/>
              </a:rPr>
              <a:t>foreach</a:t>
            </a:r>
            <a:r>
              <a:rPr lang="en-US" b="0" i="0" u="none" strike="noStrike" baseline="0" dirty="0">
                <a:solidFill>
                  <a:srgbClr val="8000FF"/>
                </a:solidFill>
                <a:latin typeface="Courier New" panose="02070309020205020404" pitchFamily="49" charset="0"/>
              </a:rPr>
              <a: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yas</a:t>
            </a:r>
            <a:r>
              <a:rPr lang="tr-TR" b="0" i="0" u="none" strike="noStrike" baseline="0" dirty="0">
                <a:solidFill>
                  <a:srgbClr val="000080"/>
                </a:solidFill>
                <a:latin typeface="Courier New" panose="02070309020205020404" pitchFamily="49" charset="0"/>
              </a:rPr>
              <a:t> </a:t>
            </a:r>
            <a:r>
              <a:rPr lang="en-US" b="1" i="0" u="none" strike="noStrike" baseline="0" dirty="0">
                <a:solidFill>
                  <a:srgbClr val="0000FF"/>
                </a:solidFill>
                <a:latin typeface="Courier New" panose="02070309020205020404" pitchFamily="49" charset="0"/>
              </a:rPr>
              <a:t>as</a:t>
            </a:r>
            <a:r>
              <a:rPr lang="tr-TR" b="1" i="0" u="none" strike="noStrike" baseline="0" dirty="0">
                <a:solidFill>
                  <a:srgbClr val="0000FF"/>
                </a:solidFill>
                <a:latin typeface="Courier New" panose="02070309020205020404" pitchFamily="49" charset="0"/>
              </a:rPr>
              <a:t> </a:t>
            </a:r>
            <a:r>
              <a:rPr lang="en-US" b="0" i="0" u="none" strike="noStrike" baseline="0" dirty="0">
                <a:solidFill>
                  <a:srgbClr val="000080"/>
                </a:solidFill>
                <a:latin typeface="Courier New" panose="02070309020205020404" pitchFamily="49" charset="0"/>
              </a:rPr>
              <a:t>$x</a:t>
            </a:r>
            <a:r>
              <a:rPr lang="en-US" b="0" i="0" u="none" strike="noStrike" baseline="0" dirty="0">
                <a:solidFill>
                  <a:srgbClr val="8000FF"/>
                </a:solidFill>
                <a:latin typeface="Courier New" panose="02070309020205020404" pitchFamily="49" charset="0"/>
              </a:rPr>
              <a:t>=&gt;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x_value</a:t>
            </a:r>
            <a:r>
              <a:rPr lang="en-US"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"Anahtar="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Değer="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x_value</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400000" dirty="0"/>
          </a:p>
        </p:txBody>
      </p:sp>
    </p:spTree>
    <p:extLst>
      <p:ext uri="{BB962C8B-B14F-4D97-AF65-F5344CB8AC3E}">
        <p14:creationId xmlns:p14="http://schemas.microsoft.com/office/powerpoint/2010/main" val="1007663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Çağrışımsal Dizilerin Anahtara Göre Azalan Sıralaması</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Çağrışımsal dizilerde anahtarlara göre azalan sıralama aşağıdaki örneğe benzer şekilde yapılır.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2105553"/>
            <a:ext cx="8305101" cy="3785652"/>
          </a:xfrm>
          <a:prstGeom prst="rect">
            <a:avLst/>
          </a:prstGeom>
          <a:solidFill>
            <a:schemeClr val="accent1"/>
          </a:solidFill>
        </p:spPr>
        <p:txBody>
          <a:bodyPr wrap="square" rtlCol="0">
            <a:spAutoFit/>
          </a:bodyPr>
          <a:lstStyle/>
          <a:p>
            <a:r>
              <a:rPr lang="tr-TR" b="0" i="0" u="none" strike="noStrike" baseline="0" dirty="0">
                <a:solidFill>
                  <a:srgbClr val="FF0000"/>
                </a:solidFill>
                <a:latin typeface="Courier New" panose="02070309020205020404" pitchFamily="49" charset="0"/>
              </a:rPr>
              <a:t>&lt;?</a:t>
            </a:r>
            <a:r>
              <a:rPr lang="tr-TR" b="0" i="0" u="none" strike="noStrike" baseline="0" dirty="0" err="1">
                <a:solidFill>
                  <a:srgbClr val="FF0000"/>
                </a:solidFill>
                <a:latin typeface="Courier New" panose="02070309020205020404" pitchFamily="49" charset="0"/>
              </a:rPr>
              <a:t>php</a:t>
            </a:r>
            <a:endParaRPr lang="tr-TR" b="0" i="0" u="none" strike="noStrike" baseline="0" dirty="0">
              <a:solidFill>
                <a:srgbClr val="FF0000"/>
              </a:solidFill>
              <a:latin typeface="Courier New" panose="02070309020205020404" pitchFamily="49" charset="0"/>
            </a:endParaRPr>
          </a:p>
          <a:p>
            <a:r>
              <a:rPr lang="pt-BR" b="0" i="0" u="none" strike="noStrike" baseline="0" dirty="0">
                <a:solidFill>
                  <a:srgbClr val="000080"/>
                </a:solidFill>
                <a:latin typeface="Courier New" panose="02070309020205020404" pitchFamily="49" charset="0"/>
              </a:rPr>
              <a:t>$yas</a:t>
            </a:r>
            <a:r>
              <a:rPr lang="pt-BR" b="0" i="0" u="none" strike="noStrike" baseline="0" dirty="0">
                <a:solidFill>
                  <a:srgbClr val="8000FF"/>
                </a:solidFill>
                <a:latin typeface="Courier New" panose="02070309020205020404" pitchFamily="49" charset="0"/>
              </a:rPr>
              <a:t>=</a:t>
            </a:r>
            <a:r>
              <a:rPr lang="pt-BR" b="1" i="0" u="none" strike="noStrike" baseline="0" dirty="0">
                <a:solidFill>
                  <a:srgbClr val="0000FF"/>
                </a:solidFill>
                <a:latin typeface="Courier New" panose="02070309020205020404" pitchFamily="49" charset="0"/>
              </a:rPr>
              <a:t>array</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"Veli"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"35"</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"Ahmet"</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"43"</a:t>
            </a:r>
            <a:r>
              <a:rPr lang="pt-BR" b="0" i="0" u="none" strike="noStrike" baseline="0" dirty="0">
                <a:solidFill>
                  <a:srgbClr val="8000FF"/>
                </a:solidFill>
                <a:latin typeface="Courier New" panose="02070309020205020404" pitchFamily="49" charset="0"/>
              </a:rPr>
              <a:t>,</a:t>
            </a:r>
            <a:r>
              <a:rPr lang="pt-BR" b="0" i="0" u="none" strike="noStrike" baseline="0" dirty="0">
                <a:solidFill>
                  <a:srgbClr val="808080"/>
                </a:solidFill>
                <a:latin typeface="Courier New" panose="02070309020205020404" pitchFamily="49" charset="0"/>
              </a:rPr>
              <a:t>"Ali"</a:t>
            </a:r>
            <a:r>
              <a:rPr lang="pt-BR" b="0" i="0" u="none" strike="noStrike" baseline="0" dirty="0">
                <a:solidFill>
                  <a:srgbClr val="8000FF"/>
                </a:solidFill>
                <a:latin typeface="Courier New" panose="02070309020205020404" pitchFamily="49" charset="0"/>
              </a:rPr>
              <a:t>=&gt;</a:t>
            </a:r>
            <a:r>
              <a:rPr lang="pt-BR" b="0" i="0" u="none" strike="noStrike" baseline="0" dirty="0">
                <a:solidFill>
                  <a:srgbClr val="808080"/>
                </a:solidFill>
                <a:latin typeface="Courier New" panose="02070309020205020404" pitchFamily="49" charset="0"/>
              </a:rPr>
              <a:t>"37"</a:t>
            </a:r>
            <a:r>
              <a:rPr lang="pt-BR" b="0" i="0" u="none" strike="noStrike" baseline="0" dirty="0">
                <a:solidFill>
                  <a:srgbClr val="8000FF"/>
                </a:solidFill>
                <a:latin typeface="Courier New" panose="02070309020205020404" pitchFamily="49" charset="0"/>
              </a:rPr>
              <a:t>);</a:t>
            </a:r>
          </a:p>
          <a:p>
            <a:r>
              <a:rPr lang="tr-TR" b="1" i="0" u="none" strike="noStrike" baseline="0" dirty="0" err="1">
                <a:solidFill>
                  <a:srgbClr val="0000FF"/>
                </a:solidFill>
                <a:latin typeface="Courier New" panose="02070309020205020404" pitchFamily="49" charset="0"/>
              </a:rPr>
              <a:t>krsort</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$yas</a:t>
            </a:r>
            <a:r>
              <a:rPr lang="tr-TR" b="0" i="0" u="none" strike="noStrike" baseline="0" dirty="0">
                <a:solidFill>
                  <a:srgbClr val="8000FF"/>
                </a:solidFill>
                <a:latin typeface="Courier New" panose="02070309020205020404" pitchFamily="49" charset="0"/>
              </a:rPr>
              <a:t>);</a:t>
            </a:r>
          </a:p>
          <a:p>
            <a:endParaRPr lang="tr-TR" b="0" i="0" u="none" strike="noStrike" baseline="0" dirty="0">
              <a:latin typeface="Courier New" panose="02070309020205020404" pitchFamily="49" charset="0"/>
            </a:endParaRPr>
          </a:p>
          <a:p>
            <a:r>
              <a:rPr lang="en-US" b="1" i="0" u="none" strike="noStrike" baseline="0" dirty="0">
                <a:solidFill>
                  <a:srgbClr val="0000FF"/>
                </a:solidFill>
                <a:latin typeface="Courier New" panose="02070309020205020404" pitchFamily="49" charset="0"/>
              </a:rPr>
              <a:t>foreach</a:t>
            </a:r>
            <a:r>
              <a:rPr lang="en-US" b="0" i="0" u="none" strike="noStrike" baseline="0" dirty="0">
                <a:solidFill>
                  <a:srgbClr val="8000FF"/>
                </a:solidFill>
                <a:latin typeface="Courier New" panose="02070309020205020404" pitchFamily="49" charset="0"/>
              </a:rPr>
              <a: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yas</a:t>
            </a:r>
            <a:r>
              <a:rPr lang="tr-TR" b="0" i="0" u="none" strike="noStrike" baseline="0" dirty="0">
                <a:solidFill>
                  <a:srgbClr val="000080"/>
                </a:solidFill>
                <a:latin typeface="Courier New" panose="02070309020205020404" pitchFamily="49" charset="0"/>
              </a:rPr>
              <a:t> </a:t>
            </a:r>
            <a:r>
              <a:rPr lang="en-US" b="1" i="0" u="none" strike="noStrike" baseline="0" dirty="0">
                <a:solidFill>
                  <a:srgbClr val="0000FF"/>
                </a:solidFill>
                <a:latin typeface="Courier New" panose="02070309020205020404" pitchFamily="49" charset="0"/>
              </a:rPr>
              <a:t>as</a:t>
            </a:r>
            <a:r>
              <a:rPr lang="tr-TR" b="1" i="0" u="none" strike="noStrike" baseline="0" dirty="0">
                <a:solidFill>
                  <a:srgbClr val="0000FF"/>
                </a:solidFill>
                <a:latin typeface="Courier New" panose="02070309020205020404" pitchFamily="49" charset="0"/>
              </a:rPr>
              <a:t> </a:t>
            </a:r>
            <a:r>
              <a:rPr lang="en-US" b="0" i="0" u="none" strike="noStrike" baseline="0" dirty="0">
                <a:solidFill>
                  <a:srgbClr val="000080"/>
                </a:solidFill>
                <a:latin typeface="Courier New" panose="02070309020205020404" pitchFamily="49" charset="0"/>
              </a:rPr>
              <a:t>$x</a:t>
            </a:r>
            <a:r>
              <a:rPr lang="en-US" b="0" i="0" u="none" strike="noStrike" baseline="0" dirty="0">
                <a:solidFill>
                  <a:srgbClr val="8000FF"/>
                </a:solidFill>
                <a:latin typeface="Courier New" panose="02070309020205020404" pitchFamily="49" charset="0"/>
              </a:rPr>
              <a:t>=&gt;</a:t>
            </a:r>
            <a:r>
              <a:rPr lang="en-US" b="0" i="0" u="none" strike="noStrike" baseline="0" dirty="0">
                <a:solidFill>
                  <a:srgbClr val="000080"/>
                </a:solidFill>
                <a:latin typeface="Courier New" panose="02070309020205020404" pitchFamily="49" charset="0"/>
              </a:rPr>
              <a:t>$</a:t>
            </a:r>
            <a:r>
              <a:rPr lang="en-US" b="0" i="0" u="none" strike="noStrike" baseline="0" dirty="0" err="1">
                <a:solidFill>
                  <a:srgbClr val="000080"/>
                </a:solidFill>
                <a:latin typeface="Courier New" panose="02070309020205020404" pitchFamily="49" charset="0"/>
              </a:rPr>
              <a:t>x_value</a:t>
            </a:r>
            <a:r>
              <a:rPr lang="en-US"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"Anahtar="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$x</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808080"/>
                </a:solidFill>
                <a:latin typeface="Courier New" panose="02070309020205020404" pitchFamily="49" charset="0"/>
              </a:rPr>
              <a:t>", Değer="</a:t>
            </a:r>
            <a:r>
              <a:rPr lang="tr-TR" b="0" i="0" u="none" strike="noStrike" baseline="0" dirty="0">
                <a:solidFill>
                  <a:srgbClr val="8000FF"/>
                </a:solidFill>
                <a:latin typeface="Courier New" panose="02070309020205020404" pitchFamily="49" charset="0"/>
              </a:rPr>
              <a:t>.</a:t>
            </a:r>
            <a:r>
              <a:rPr lang="tr-TR" b="0" i="0" u="none" strike="noStrike" baseline="0" dirty="0">
                <a:solidFill>
                  <a:srgbClr val="000080"/>
                </a:solidFill>
                <a:latin typeface="Courier New" panose="02070309020205020404" pitchFamily="49" charset="0"/>
              </a:rPr>
              <a:t>$</a:t>
            </a:r>
            <a:r>
              <a:rPr lang="tr-TR" b="0" i="0" u="none" strike="noStrike" baseline="0" dirty="0" err="1">
                <a:solidFill>
                  <a:srgbClr val="000080"/>
                </a:solidFill>
                <a:latin typeface="Courier New" panose="02070309020205020404" pitchFamily="49" charset="0"/>
              </a:rPr>
              <a:t>x_value</a:t>
            </a:r>
            <a:r>
              <a:rPr lang="tr-TR" b="0" i="0" u="none" strike="noStrike" baseline="0" dirty="0">
                <a:solidFill>
                  <a:srgbClr val="8000FF"/>
                </a:solidFill>
                <a:latin typeface="Courier New" panose="02070309020205020404" pitchFamily="49" charset="0"/>
              </a:rPr>
              <a:t>;</a:t>
            </a:r>
          </a:p>
          <a:p>
            <a:r>
              <a:rPr lang="tr-TR" b="1" i="0" u="none" strike="noStrike" baseline="0" dirty="0">
                <a:solidFill>
                  <a:srgbClr val="0000FF"/>
                </a:solidFill>
                <a:latin typeface="Courier New" panose="02070309020205020404" pitchFamily="49" charset="0"/>
              </a:rPr>
              <a:t>	</a:t>
            </a:r>
            <a:r>
              <a:rPr lang="tr-TR" b="1" i="0" u="none" strike="noStrike" baseline="0" dirty="0" err="1">
                <a:solidFill>
                  <a:srgbClr val="0000FF"/>
                </a:solidFill>
                <a:latin typeface="Courier New" panose="02070309020205020404" pitchFamily="49" charset="0"/>
              </a:rPr>
              <a:t>echo</a:t>
            </a:r>
            <a:r>
              <a:rPr lang="tr-TR" b="1" i="0" u="none" strike="noStrike" baseline="0" dirty="0">
                <a:solidFill>
                  <a:srgbClr val="0000FF"/>
                </a:solidFill>
                <a:latin typeface="Courier New" panose="02070309020205020404" pitchFamily="49" charset="0"/>
              </a:rPr>
              <a:t> </a:t>
            </a:r>
            <a:r>
              <a:rPr lang="tr-TR" b="0" i="0" u="none" strike="noStrike" baseline="0" dirty="0">
                <a:solidFill>
                  <a:srgbClr val="808080"/>
                </a:solidFill>
                <a:latin typeface="Courier New" panose="02070309020205020404" pitchFamily="49" charset="0"/>
              </a:rPr>
              <a:t>"&lt;</a:t>
            </a:r>
            <a:r>
              <a:rPr lang="tr-TR" b="0" i="0" u="none" strike="noStrike" baseline="0" dirty="0" err="1">
                <a:solidFill>
                  <a:srgbClr val="808080"/>
                </a:solidFill>
                <a:latin typeface="Courier New" panose="02070309020205020404" pitchFamily="49" charset="0"/>
              </a:rPr>
              <a:t>br</a:t>
            </a:r>
            <a:r>
              <a:rPr lang="tr-TR" b="0" i="0" u="none" strike="noStrike" baseline="0" dirty="0">
                <a:solidFill>
                  <a:srgbClr val="808080"/>
                </a:solidFill>
                <a:latin typeface="Courier New" panose="02070309020205020404" pitchFamily="49" charset="0"/>
              </a:rPr>
              <a:t>&gt;"</a:t>
            </a:r>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8000FF"/>
                </a:solidFill>
                <a:latin typeface="Courier New" panose="02070309020205020404" pitchFamily="49" charset="0"/>
              </a:rPr>
              <a:t>}</a:t>
            </a:r>
          </a:p>
          <a:p>
            <a:r>
              <a:rPr lang="tr-TR" b="0" i="0" u="none" strike="noStrike" baseline="0" dirty="0">
                <a:solidFill>
                  <a:srgbClr val="FF0000"/>
                </a:solidFill>
                <a:latin typeface="Courier New" panose="02070309020205020404" pitchFamily="49" charset="0"/>
              </a:rPr>
              <a:t>?&gt;</a:t>
            </a:r>
            <a:endParaRPr lang="tr-TR" sz="400000" dirty="0"/>
          </a:p>
        </p:txBody>
      </p:sp>
    </p:spTree>
    <p:extLst>
      <p:ext uri="{BB962C8B-B14F-4D97-AF65-F5344CB8AC3E}">
        <p14:creationId xmlns:p14="http://schemas.microsoft.com/office/powerpoint/2010/main" val="1420884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İki Boyutlu diziler</a:t>
            </a:r>
            <a:endParaRPr lang="en-US" sz="3200" dirty="0"/>
          </a:p>
        </p:txBody>
      </p:sp>
      <p:sp>
        <p:nvSpPr>
          <p:cNvPr id="154627" name="Rectangle 3"/>
          <p:cNvSpPr>
            <a:spLocks noChangeArrowheads="1"/>
          </p:cNvSpPr>
          <p:nvPr/>
        </p:nvSpPr>
        <p:spPr bwMode="auto">
          <a:xfrm>
            <a:off x="0" y="876301"/>
            <a:ext cx="9144000" cy="100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PHP'de</a:t>
            </a:r>
            <a:r>
              <a:rPr lang="tr-TR" dirty="0">
                <a:solidFill>
                  <a:srgbClr val="000000"/>
                </a:solidFill>
                <a:latin typeface="Arial" pitchFamily="34" charset="0"/>
              </a:rPr>
              <a:t> iki boyutlu diziler, dizilerin içinde başka diziler içeren yapılardır. Genellikle tablolar, matrisler veya gruplandırılmış verileri saklamak için kullanılırlar.</a:t>
            </a:r>
          </a:p>
        </p:txBody>
      </p:sp>
    </p:spTree>
    <p:extLst>
      <p:ext uri="{BB962C8B-B14F-4D97-AF65-F5344CB8AC3E}">
        <p14:creationId xmlns:p14="http://schemas.microsoft.com/office/powerpoint/2010/main" val="1340840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Temel İki Boyutlu Dizi Kullanımı</a:t>
            </a:r>
            <a:endParaRPr lang="en-US" sz="3200" dirty="0"/>
          </a:p>
        </p:txBody>
      </p:sp>
      <p:sp>
        <p:nvSpPr>
          <p:cNvPr id="154627" name="Rectangle 3"/>
          <p:cNvSpPr>
            <a:spLocks noChangeArrowheads="1"/>
          </p:cNvSpPr>
          <p:nvPr/>
        </p:nvSpPr>
        <p:spPr bwMode="auto">
          <a:xfrm>
            <a:off x="0" y="876301"/>
            <a:ext cx="9144000" cy="202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PHP'de</a:t>
            </a:r>
            <a:r>
              <a:rPr lang="tr-TR" dirty="0">
                <a:solidFill>
                  <a:srgbClr val="000000"/>
                </a:solidFill>
                <a:latin typeface="Arial" pitchFamily="34" charset="0"/>
              </a:rPr>
              <a:t> iki boyutlu diziler, dizilerin içinde başka diziler içeren yapılardır. Genellikle tablolar ve matrisler </a:t>
            </a:r>
            <a:r>
              <a:rPr lang="tr-TR" dirty="0" err="1">
                <a:solidFill>
                  <a:srgbClr val="000000"/>
                </a:solidFill>
                <a:latin typeface="Arial" pitchFamily="34" charset="0"/>
              </a:rPr>
              <a:t>gibiverileri</a:t>
            </a:r>
            <a:r>
              <a:rPr lang="tr-TR" dirty="0">
                <a:solidFill>
                  <a:srgbClr val="000000"/>
                </a:solidFill>
                <a:latin typeface="Arial" pitchFamily="34" charset="0"/>
              </a:rPr>
              <a:t> saklamak için kullanılırlar.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t>
            </a:r>
            <a:r>
              <a:rPr lang="tr-TR" dirty="0" err="1">
                <a:solidFill>
                  <a:srgbClr val="000000"/>
                </a:solidFill>
                <a:latin typeface="Arial" pitchFamily="34" charset="0"/>
              </a:rPr>
              <a:t>students</a:t>
            </a:r>
            <a:r>
              <a:rPr lang="tr-TR" dirty="0">
                <a:solidFill>
                  <a:srgbClr val="000000"/>
                </a:solidFill>
                <a:latin typeface="Arial" pitchFamily="34" charset="0"/>
              </a:rPr>
              <a:t>[0][0] → 0. satırın 0. sütunundaki eleman "Ali"</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t>
            </a:r>
            <a:r>
              <a:rPr lang="tr-TR" dirty="0" err="1">
                <a:solidFill>
                  <a:srgbClr val="000000"/>
                </a:solidFill>
                <a:latin typeface="Arial" pitchFamily="34" charset="0"/>
              </a:rPr>
              <a:t>students</a:t>
            </a:r>
            <a:r>
              <a:rPr lang="tr-TR" dirty="0">
                <a:solidFill>
                  <a:srgbClr val="000000"/>
                </a:solidFill>
                <a:latin typeface="Arial" pitchFamily="34" charset="0"/>
              </a:rPr>
              <a:t>[1][2] → 1. satırın 2. sütunundaki eleman "Makine Mühendisliği"</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478172" y="2969619"/>
            <a:ext cx="8305101" cy="3785652"/>
          </a:xfrm>
          <a:prstGeom prst="rect">
            <a:avLst/>
          </a:prstGeom>
          <a:solidFill>
            <a:schemeClr val="accent1"/>
          </a:solidFill>
        </p:spPr>
        <p:txBody>
          <a:bodyPr wrap="square" rtlCol="0">
            <a:spAutoFit/>
          </a:bodyPr>
          <a:lstStyle/>
          <a:p>
            <a:r>
              <a:rPr lang="tr-TR" b="0" i="0" u="none" strike="noStrike" baseline="0" dirty="0">
                <a:latin typeface="Courier New" panose="02070309020205020404" pitchFamily="49" charset="0"/>
              </a:rPr>
              <a:t>&lt;?</a:t>
            </a:r>
            <a:r>
              <a:rPr lang="tr-TR" b="0" i="0" u="none" strike="noStrike" baseline="0" dirty="0" err="1">
                <a:latin typeface="Courier New" panose="02070309020205020404" pitchFamily="49" charset="0"/>
              </a:rPr>
              <a:t>php</a:t>
            </a:r>
            <a:endParaRPr lang="tr-TR" b="0" i="0" u="none" strike="noStrike" baseline="0" dirty="0">
              <a:latin typeface="Courier New" panose="02070309020205020404" pitchFamily="49" charset="0"/>
            </a:endParaRPr>
          </a:p>
          <a:p>
            <a:r>
              <a:rPr lang="tr-TR" b="0" i="0" u="none" strike="noStrike" baseline="0" dirty="0">
                <a:latin typeface="Courier New" panose="02070309020205020404" pitchFamily="49" charset="0"/>
              </a:rPr>
              <a:t>$</a:t>
            </a:r>
            <a:r>
              <a:rPr lang="tr-TR" b="0" i="0" u="none" strike="noStrike" baseline="0" dirty="0" err="1">
                <a:latin typeface="Courier New" panose="02070309020205020404" pitchFamily="49" charset="0"/>
              </a:rPr>
              <a:t>students</a:t>
            </a:r>
            <a:r>
              <a:rPr lang="tr-TR" b="0" i="0" u="none" strike="noStrike" baseline="0" dirty="0">
                <a:latin typeface="Courier New" panose="02070309020205020404" pitchFamily="49" charset="0"/>
              </a:rPr>
              <a:t> = [</a:t>
            </a:r>
          </a:p>
          <a:p>
            <a:r>
              <a:rPr lang="tr-TR" b="0" i="0" u="none" strike="noStrike" baseline="0" dirty="0">
                <a:latin typeface="Courier New" panose="02070309020205020404" pitchFamily="49" charset="0"/>
              </a:rPr>
              <a:t>    ["Ali", 20, "Bilgisayar Mühendisliği"],</a:t>
            </a:r>
          </a:p>
          <a:p>
            <a:r>
              <a:rPr lang="tr-TR" b="0" i="0" u="none" strike="noStrike" baseline="0" dirty="0">
                <a:latin typeface="Courier New" panose="02070309020205020404" pitchFamily="49" charset="0"/>
              </a:rPr>
              <a:t>    ["Zeynep", 22, "Makine Mühendisliği"],</a:t>
            </a:r>
          </a:p>
          <a:p>
            <a:r>
              <a:rPr lang="tr-TR" b="0" i="0" u="none" strike="noStrike" baseline="0" dirty="0">
                <a:latin typeface="Courier New" panose="02070309020205020404" pitchFamily="49" charset="0"/>
              </a:rPr>
              <a:t>    ["Mehmet", 21, "Elektrik-Elektronik"]</a:t>
            </a:r>
          </a:p>
          <a:p>
            <a:r>
              <a:rPr lang="tr-TR" b="0" i="0" u="none" strike="noStrike" baseline="0" dirty="0">
                <a:latin typeface="Courier New" panose="02070309020205020404" pitchFamily="49" charset="0"/>
              </a:rPr>
              <a:t>];</a:t>
            </a:r>
          </a:p>
          <a:p>
            <a:endParaRPr lang="tr-TR" b="0" i="0" u="none" strike="noStrike" baseline="0" dirty="0">
              <a:latin typeface="Courier New" panose="02070309020205020404" pitchFamily="49" charset="0"/>
            </a:endParaRPr>
          </a:p>
          <a:p>
            <a:r>
              <a:rPr lang="tr-TR" b="0" i="0" u="none" strike="noStrike" baseline="0" dirty="0" err="1">
                <a:latin typeface="Courier New" panose="02070309020205020404" pitchFamily="49" charset="0"/>
              </a:rPr>
              <a:t>echo</a:t>
            </a:r>
            <a:r>
              <a:rPr lang="tr-TR" b="0" i="0" u="none" strike="noStrike" baseline="0" dirty="0">
                <a:latin typeface="Courier New" panose="02070309020205020404" pitchFamily="49" charset="0"/>
              </a:rPr>
              <a:t> $</a:t>
            </a:r>
            <a:r>
              <a:rPr lang="tr-TR" b="0" i="0" u="none" strike="noStrike" baseline="0" dirty="0" err="1">
                <a:latin typeface="Courier New" panose="02070309020205020404" pitchFamily="49" charset="0"/>
              </a:rPr>
              <a:t>students</a:t>
            </a:r>
            <a:r>
              <a:rPr lang="tr-TR" b="0" i="0" u="none" strike="noStrike" baseline="0" dirty="0">
                <a:latin typeface="Courier New" panose="02070309020205020404" pitchFamily="49" charset="0"/>
              </a:rPr>
              <a:t>[0][0]; // Ali</a:t>
            </a:r>
          </a:p>
          <a:p>
            <a:r>
              <a:rPr lang="tr-TR" b="0" i="0" u="none" strike="noStrike" baseline="0" dirty="0" err="1">
                <a:latin typeface="Courier New" panose="02070309020205020404" pitchFamily="49" charset="0"/>
              </a:rPr>
              <a:t>echo</a:t>
            </a:r>
            <a:r>
              <a:rPr lang="tr-TR" b="0" i="0" u="none" strike="noStrike" baseline="0" dirty="0">
                <a:latin typeface="Courier New" panose="02070309020205020404" pitchFamily="49" charset="0"/>
              </a:rPr>
              <a:t> $</a:t>
            </a:r>
            <a:r>
              <a:rPr lang="tr-TR" b="0" i="0" u="none" strike="noStrike" baseline="0" dirty="0" err="1">
                <a:latin typeface="Courier New" panose="02070309020205020404" pitchFamily="49" charset="0"/>
              </a:rPr>
              <a:t>students</a:t>
            </a:r>
            <a:r>
              <a:rPr lang="tr-TR" b="0" i="0" u="none" strike="noStrike" baseline="0" dirty="0">
                <a:latin typeface="Courier New" panose="02070309020205020404" pitchFamily="49" charset="0"/>
              </a:rPr>
              <a:t>[1][2]; // Makine Mühendisliği</a:t>
            </a:r>
          </a:p>
          <a:p>
            <a:r>
              <a:rPr lang="tr-TR" b="0" i="0" u="none" strike="noStrike" baseline="0" dirty="0">
                <a:latin typeface="Courier New" panose="02070309020205020404" pitchFamily="49" charset="0"/>
              </a:rPr>
              <a:t>?&gt;</a:t>
            </a:r>
            <a:endParaRPr lang="tr-TR" sz="400000" dirty="0"/>
          </a:p>
        </p:txBody>
      </p:sp>
    </p:spTree>
    <p:extLst>
      <p:ext uri="{BB962C8B-B14F-4D97-AF65-F5344CB8AC3E}">
        <p14:creationId xmlns:p14="http://schemas.microsoft.com/office/powerpoint/2010/main" val="2257524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Anahtarlarla İki Boyutlu Dizi Kullanımı</a:t>
            </a:r>
            <a:endParaRPr lang="en-US" sz="3200" dirty="0"/>
          </a:p>
        </p:txBody>
      </p:sp>
      <p:sp>
        <p:nvSpPr>
          <p:cNvPr id="154627" name="Rectangle 3"/>
          <p:cNvSpPr>
            <a:spLocks noChangeArrowheads="1"/>
          </p:cNvSpPr>
          <p:nvPr/>
        </p:nvSpPr>
        <p:spPr bwMode="auto">
          <a:xfrm>
            <a:off x="0" y="876301"/>
            <a:ext cx="9144000" cy="154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Anahtarlar kullanılarak diziyi daha okunaklı hale getirdik.</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t>
            </a:r>
            <a:r>
              <a:rPr lang="tr-TR" dirty="0" err="1">
                <a:solidFill>
                  <a:srgbClr val="000000"/>
                </a:solidFill>
                <a:latin typeface="Arial" pitchFamily="34" charset="0"/>
              </a:rPr>
              <a:t>students</a:t>
            </a:r>
            <a:r>
              <a:rPr lang="tr-TR" dirty="0">
                <a:solidFill>
                  <a:srgbClr val="000000"/>
                </a:solidFill>
                <a:latin typeface="Arial" pitchFamily="34" charset="0"/>
              </a:rPr>
              <a:t>["student1"]["name"] → "Ali"</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t>
            </a:r>
            <a:r>
              <a:rPr lang="tr-TR" dirty="0" err="1">
                <a:solidFill>
                  <a:srgbClr val="000000"/>
                </a:solidFill>
                <a:latin typeface="Arial" pitchFamily="34" charset="0"/>
              </a:rPr>
              <a:t>students</a:t>
            </a:r>
            <a:r>
              <a:rPr lang="tr-TR" dirty="0">
                <a:solidFill>
                  <a:srgbClr val="000000"/>
                </a:solidFill>
                <a:latin typeface="Arial" pitchFamily="34" charset="0"/>
              </a:rPr>
              <a:t>["student2"]["</a:t>
            </a:r>
            <a:r>
              <a:rPr lang="tr-TR" dirty="0" err="1">
                <a:solidFill>
                  <a:srgbClr val="000000"/>
                </a:solidFill>
                <a:latin typeface="Arial" pitchFamily="34" charset="0"/>
              </a:rPr>
              <a:t>department</a:t>
            </a:r>
            <a:r>
              <a:rPr lang="tr-TR" dirty="0">
                <a:solidFill>
                  <a:srgbClr val="000000"/>
                </a:solidFill>
                <a:latin typeface="Arial" pitchFamily="34" charset="0"/>
              </a:rPr>
              <a:t>"] → "Makine Mühendisliği"</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352337" y="2306888"/>
            <a:ext cx="8305101" cy="3816429"/>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&lt;?</a:t>
            </a:r>
            <a:r>
              <a:rPr lang="tr-TR" sz="2200" b="0" i="0" u="none" strike="noStrike" baseline="0" dirty="0" err="1">
                <a:latin typeface="Courier New" panose="02070309020205020404" pitchFamily="49" charset="0"/>
              </a:rPr>
              <a:t>php</a:t>
            </a:r>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 = [</a:t>
            </a:r>
          </a:p>
          <a:p>
            <a:r>
              <a:rPr lang="tr-TR" sz="2200" b="0" i="0" u="none" strike="noStrike" baseline="0" dirty="0">
                <a:latin typeface="Courier New" panose="02070309020205020404" pitchFamily="49" charset="0"/>
              </a:rPr>
              <a:t>    "student1" =&gt; ["name" =&gt; "Ali", "</a:t>
            </a:r>
            <a:r>
              <a:rPr lang="tr-TR" sz="2200" b="0" i="0" u="none" strike="noStrike" baseline="0" dirty="0" err="1">
                <a:latin typeface="Courier New" panose="02070309020205020404" pitchFamily="49" charset="0"/>
              </a:rPr>
              <a:t>age</a:t>
            </a:r>
            <a:r>
              <a:rPr lang="tr-TR" sz="2200" b="0" i="0" u="none" strike="noStrike" baseline="0" dirty="0">
                <a:latin typeface="Courier New" panose="02070309020205020404" pitchFamily="49" charset="0"/>
              </a:rPr>
              <a:t>" =&gt; 20, "</a:t>
            </a:r>
            <a:r>
              <a:rPr lang="tr-TR" sz="2200" b="0" i="0" u="none" strike="noStrike" baseline="0" dirty="0" err="1">
                <a:latin typeface="Courier New" panose="02070309020205020404" pitchFamily="49" charset="0"/>
              </a:rPr>
              <a:t>department</a:t>
            </a:r>
            <a:r>
              <a:rPr lang="tr-TR" sz="2200" b="0" i="0" u="none" strike="noStrike" baseline="0" dirty="0">
                <a:latin typeface="Courier New" panose="02070309020205020404" pitchFamily="49" charset="0"/>
              </a:rPr>
              <a:t>" =&gt; "Bilgisayar Mühendisliği"],</a:t>
            </a:r>
          </a:p>
          <a:p>
            <a:r>
              <a:rPr lang="tr-TR" sz="2200" b="0" i="0" u="none" strike="noStrike" baseline="0" dirty="0">
                <a:latin typeface="Courier New" panose="02070309020205020404" pitchFamily="49" charset="0"/>
              </a:rPr>
              <a:t>    "student2" =&gt; ["name" =&gt; "Zeynep", "</a:t>
            </a:r>
            <a:r>
              <a:rPr lang="tr-TR" sz="2200" b="0" i="0" u="none" strike="noStrike" baseline="0" dirty="0" err="1">
                <a:latin typeface="Courier New" panose="02070309020205020404" pitchFamily="49" charset="0"/>
              </a:rPr>
              <a:t>age</a:t>
            </a:r>
            <a:r>
              <a:rPr lang="tr-TR" sz="2200" b="0" i="0" u="none" strike="noStrike" baseline="0" dirty="0">
                <a:latin typeface="Courier New" panose="02070309020205020404" pitchFamily="49" charset="0"/>
              </a:rPr>
              <a:t>" =&gt; 22, "</a:t>
            </a:r>
            <a:r>
              <a:rPr lang="tr-TR" sz="2200" b="0" i="0" u="none" strike="noStrike" baseline="0" dirty="0" err="1">
                <a:latin typeface="Courier New" panose="02070309020205020404" pitchFamily="49" charset="0"/>
              </a:rPr>
              <a:t>department</a:t>
            </a:r>
            <a:r>
              <a:rPr lang="tr-TR" sz="2200" b="0" i="0" u="none" strike="noStrike" baseline="0" dirty="0">
                <a:latin typeface="Courier New" panose="02070309020205020404" pitchFamily="49" charset="0"/>
              </a:rPr>
              <a:t>" =&gt; "Makine Mühendisliği"]</a:t>
            </a:r>
          </a:p>
          <a:p>
            <a:r>
              <a:rPr lang="tr-TR" sz="2200" b="0" i="0" u="none" strike="noStrike" baseline="0" dirty="0">
                <a:latin typeface="Courier New" panose="02070309020205020404" pitchFamily="49" charset="0"/>
              </a:rPr>
              <a:t>];</a:t>
            </a:r>
          </a:p>
          <a:p>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["student1"]["name"]; // Ali</a:t>
            </a:r>
          </a:p>
          <a:p>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["student2"]["</a:t>
            </a:r>
            <a:r>
              <a:rPr lang="tr-TR" sz="2200" b="0" i="0" u="none" strike="noStrike" baseline="0" dirty="0" err="1">
                <a:latin typeface="Courier New" panose="02070309020205020404" pitchFamily="49" charset="0"/>
              </a:rPr>
              <a:t>department</a:t>
            </a:r>
            <a:r>
              <a:rPr lang="tr-TR" sz="2200" b="0" i="0" u="none" strike="noStrike" baseline="0" dirty="0">
                <a:latin typeface="Courier New" panose="02070309020205020404" pitchFamily="49" charset="0"/>
              </a:rPr>
              <a:t>"]; // Makine Mühendisliği</a:t>
            </a:r>
          </a:p>
          <a:p>
            <a:r>
              <a:rPr lang="tr-TR" sz="2200" b="0" i="0" u="none" strike="noStrike" baseline="0" dirty="0">
                <a:latin typeface="Courier New" panose="02070309020205020404" pitchFamily="49" charset="0"/>
              </a:rPr>
              <a:t>?&gt;</a:t>
            </a:r>
            <a:endParaRPr lang="tr-TR" sz="2200" dirty="0"/>
          </a:p>
        </p:txBody>
      </p:sp>
    </p:spTree>
    <p:extLst>
      <p:ext uri="{BB962C8B-B14F-4D97-AF65-F5344CB8AC3E}">
        <p14:creationId xmlns:p14="http://schemas.microsoft.com/office/powerpoint/2010/main" val="370957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İç İçe foreach Döngüsü ile Yazdırma</a:t>
            </a:r>
            <a:endParaRPr lang="en-US" sz="3200" dirty="0"/>
          </a:p>
        </p:txBody>
      </p:sp>
      <p:sp>
        <p:nvSpPr>
          <p:cNvPr id="154627" name="Rectangle 3"/>
          <p:cNvSpPr>
            <a:spLocks noChangeArrowheads="1"/>
          </p:cNvSpPr>
          <p:nvPr/>
        </p:nvSpPr>
        <p:spPr bwMode="auto">
          <a:xfrm>
            <a:off x="0" y="876302"/>
            <a:ext cx="9144000" cy="1128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İlk foreach, her bir öğrenciyi alıyor.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İçteki foreach, öğrencinin her bilgisini (isim, yaş, bölüm) yazdırıyor.</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335559" y="2241482"/>
            <a:ext cx="8305101" cy="4493538"/>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&lt;?</a:t>
            </a:r>
            <a:r>
              <a:rPr lang="tr-TR" sz="2200" b="0" i="0" u="none" strike="noStrike" baseline="0" dirty="0" err="1">
                <a:latin typeface="Courier New" panose="02070309020205020404" pitchFamily="49" charset="0"/>
              </a:rPr>
              <a:t>php</a:t>
            </a:r>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 = [</a:t>
            </a:r>
          </a:p>
          <a:p>
            <a:r>
              <a:rPr lang="tr-TR" sz="2200" b="0" i="0" u="none" strike="noStrike" baseline="0" dirty="0">
                <a:latin typeface="Courier New" panose="02070309020205020404" pitchFamily="49" charset="0"/>
              </a:rPr>
              <a:t>    ["Ali", 20, "Bilgisayar Mühendisliği"],</a:t>
            </a:r>
          </a:p>
          <a:p>
            <a:r>
              <a:rPr lang="tr-TR" sz="2200" b="0" i="0" u="none" strike="noStrike" baseline="0" dirty="0">
                <a:latin typeface="Courier New" panose="02070309020205020404" pitchFamily="49" charset="0"/>
              </a:rPr>
              <a:t>    ["Zeynep", 22, "Makine Mühendisliği"],</a:t>
            </a:r>
          </a:p>
          <a:p>
            <a:r>
              <a:rPr lang="tr-TR" sz="2200" b="0" i="0" u="none" strike="noStrike" baseline="0" dirty="0">
                <a:latin typeface="Courier New" panose="02070309020205020404" pitchFamily="49" charset="0"/>
              </a:rPr>
              <a:t>    ["Mehmet", 21, "Elektrik-Elektronik"]</a:t>
            </a:r>
          </a:p>
          <a:p>
            <a:r>
              <a:rPr lang="tr-TR" sz="2200" b="0" i="0" u="none" strike="noStrike" baseline="0" dirty="0">
                <a:latin typeface="Courier New" panose="02070309020205020404" pitchFamily="49" charset="0"/>
              </a:rPr>
              <a:t>];</a:t>
            </a:r>
          </a:p>
          <a:p>
            <a:r>
              <a:rPr lang="tr-TR" sz="2200" b="0" i="0" u="none" strike="noStrike" baseline="0" dirty="0">
                <a:latin typeface="Courier New" panose="02070309020205020404" pitchFamily="49" charset="0"/>
              </a:rPr>
              <a:t>foreach ($</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 as $</a:t>
            </a:r>
            <a:r>
              <a:rPr lang="tr-TR" sz="2200" b="0" i="0" u="none" strike="noStrike" baseline="0" dirty="0" err="1">
                <a:latin typeface="Courier New" panose="02070309020205020404" pitchFamily="49" charset="0"/>
              </a:rPr>
              <a:t>student</a:t>
            </a:r>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foreach ($</a:t>
            </a:r>
            <a:r>
              <a:rPr lang="tr-TR" sz="2200" b="0" i="0" u="none" strike="noStrike" baseline="0" dirty="0" err="1">
                <a:latin typeface="Courier New" panose="02070309020205020404" pitchFamily="49" charset="0"/>
              </a:rPr>
              <a:t>student</a:t>
            </a:r>
            <a:r>
              <a:rPr lang="tr-TR" sz="2200" b="0" i="0" u="none" strike="noStrike" baseline="0" dirty="0">
                <a:latin typeface="Courier New" panose="02070309020205020404" pitchFamily="49" charset="0"/>
              </a:rPr>
              <a:t> as $</a:t>
            </a:r>
            <a:r>
              <a:rPr lang="tr-TR" sz="2200" b="0" i="0" u="none" strike="noStrike" baseline="0" dirty="0" err="1">
                <a:latin typeface="Courier New" panose="02070309020205020404" pitchFamily="49" charset="0"/>
              </a:rPr>
              <a:t>info</a:t>
            </a:r>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info</a:t>
            </a:r>
            <a:r>
              <a:rPr lang="tr-TR" sz="2200" b="0" i="0" u="none" strike="noStrike" baseline="0" dirty="0">
                <a:latin typeface="Courier New" panose="02070309020205020404" pitchFamily="49" charset="0"/>
              </a:rPr>
              <a:t> . " ";</a:t>
            </a:r>
          </a:p>
          <a:p>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a:t>
            </a:r>
          </a:p>
          <a:p>
            <a:r>
              <a:rPr lang="tr-TR" sz="2200" b="0" i="0" u="none" strike="noStrike" baseline="0" dirty="0">
                <a:latin typeface="Courier New" panose="02070309020205020404" pitchFamily="49" charset="0"/>
              </a:rPr>
              <a:t>}</a:t>
            </a:r>
          </a:p>
          <a:p>
            <a:r>
              <a:rPr lang="tr-TR" sz="2200" b="0" i="0" u="none" strike="noStrike" baseline="0" dirty="0">
                <a:latin typeface="Courier New" panose="02070309020205020404" pitchFamily="49" charset="0"/>
              </a:rPr>
              <a:t>?&gt;</a:t>
            </a:r>
            <a:endParaRPr lang="tr-TR" sz="2200" dirty="0"/>
          </a:p>
        </p:txBody>
      </p:sp>
    </p:spTree>
    <p:extLst>
      <p:ext uri="{BB962C8B-B14F-4D97-AF65-F5344CB8AC3E}">
        <p14:creationId xmlns:p14="http://schemas.microsoft.com/office/powerpoint/2010/main" val="2315940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Yeni Eleman Ekleme</a:t>
            </a:r>
            <a:endParaRPr lang="en-US" sz="3200" dirty="0"/>
          </a:p>
        </p:txBody>
      </p:sp>
      <p:sp>
        <p:nvSpPr>
          <p:cNvPr id="154627" name="Rectangle 3"/>
          <p:cNvSpPr>
            <a:spLocks noChangeArrowheads="1"/>
          </p:cNvSpPr>
          <p:nvPr/>
        </p:nvSpPr>
        <p:spPr bwMode="auto">
          <a:xfrm>
            <a:off x="0" y="876302"/>
            <a:ext cx="9144000" cy="1128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 operatörü veya </a:t>
            </a:r>
            <a:r>
              <a:rPr lang="tr-TR" dirty="0" err="1">
                <a:solidFill>
                  <a:srgbClr val="000000"/>
                </a:solidFill>
                <a:latin typeface="Arial" pitchFamily="34" charset="0"/>
              </a:rPr>
              <a:t>array_push</a:t>
            </a:r>
            <a:r>
              <a:rPr lang="tr-TR" dirty="0">
                <a:solidFill>
                  <a:srgbClr val="000000"/>
                </a:solidFill>
                <a:latin typeface="Arial" pitchFamily="34" charset="0"/>
              </a:rPr>
              <a:t>() fonksiyonu ile diziye yeni bir öğrenci ekleyelim.</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335559" y="2241482"/>
            <a:ext cx="8305101" cy="3477875"/>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&lt;?</a:t>
            </a:r>
            <a:r>
              <a:rPr lang="tr-TR" sz="2200" b="0" i="0" u="none" strike="noStrike" baseline="0" dirty="0" err="1">
                <a:latin typeface="Courier New" panose="02070309020205020404" pitchFamily="49" charset="0"/>
              </a:rPr>
              <a:t>php</a:t>
            </a:r>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 = ["Ayşe", 23, "İnşaat Mühendisliği"];</a:t>
            </a:r>
          </a:p>
          <a:p>
            <a:r>
              <a:rPr lang="tr-TR" sz="2200" b="0" i="0" u="none" strike="noStrike" baseline="0" dirty="0" err="1">
                <a:latin typeface="Courier New" panose="02070309020205020404" pitchFamily="49" charset="0"/>
              </a:rPr>
              <a:t>print_r</a:t>
            </a:r>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a:t>
            </a:r>
          </a:p>
          <a:p>
            <a:endParaRPr lang="tr-TR" sz="2200" dirty="0">
              <a:latin typeface="Courier New" panose="02070309020205020404" pitchFamily="49" charset="0"/>
            </a:endParaRPr>
          </a:p>
          <a:p>
            <a:r>
              <a:rPr lang="tr-TR" sz="2200" dirty="0" err="1">
                <a:latin typeface="Courier New" panose="02070309020205020404" pitchFamily="49" charset="0"/>
              </a:rPr>
              <a:t>array_push</a:t>
            </a:r>
            <a:r>
              <a:rPr lang="tr-TR" sz="2200" dirty="0">
                <a:latin typeface="Courier New" panose="02070309020205020404" pitchFamily="49" charset="0"/>
              </a:rPr>
              <a:t>($</a:t>
            </a:r>
            <a:r>
              <a:rPr lang="tr-TR" sz="2200" dirty="0" err="1">
                <a:latin typeface="Courier New" panose="02070309020205020404" pitchFamily="49" charset="0"/>
              </a:rPr>
              <a:t>students</a:t>
            </a:r>
            <a:r>
              <a:rPr lang="tr-TR" sz="2200" dirty="0">
                <a:latin typeface="Courier New" panose="02070309020205020404" pitchFamily="49" charset="0"/>
              </a:rPr>
              <a:t>,</a:t>
            </a:r>
            <a:r>
              <a:rPr lang="tr-TR" sz="2200" b="0" i="0" u="none" strike="noStrike" baseline="0" dirty="0">
                <a:latin typeface="Courier New" panose="02070309020205020404" pitchFamily="49" charset="0"/>
              </a:rPr>
              <a:t> ["Ayşe", 23, "İnşaat </a:t>
            </a:r>
            <a:r>
              <a:rPr lang="tr-TR" sz="2200" b="0" i="0" u="none" strike="noStrike" baseline="0">
                <a:latin typeface="Courier New" panose="02070309020205020404" pitchFamily="49" charset="0"/>
              </a:rPr>
              <a:t>Mühendisliği"]</a:t>
            </a:r>
            <a:r>
              <a:rPr lang="tr-TR" sz="2200">
                <a:latin typeface="Courier New" panose="02070309020205020404" pitchFamily="49" charset="0"/>
              </a:rPr>
              <a:t>);</a:t>
            </a:r>
            <a:endParaRPr lang="tr-TR" sz="2200" dirty="0">
              <a:latin typeface="Courier New" panose="02070309020205020404" pitchFamily="49" charset="0"/>
            </a:endParaRPr>
          </a:p>
          <a:p>
            <a:r>
              <a:rPr lang="tr-TR" sz="2200" b="0" i="0" u="none" strike="noStrike" baseline="0" dirty="0" err="1">
                <a:latin typeface="Courier New" panose="02070309020205020404" pitchFamily="49" charset="0"/>
              </a:rPr>
              <a:t>print_r</a:t>
            </a:r>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students</a:t>
            </a:r>
            <a:r>
              <a:rPr lang="tr-TR" sz="2200" b="0" i="0" u="none" strike="noStrike" baseline="0" dirty="0">
                <a:latin typeface="Courier New" panose="02070309020205020404" pitchFamily="49" charset="0"/>
              </a:rPr>
              <a:t>);</a:t>
            </a:r>
          </a:p>
          <a:p>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?&gt;</a:t>
            </a:r>
            <a:endParaRPr lang="tr-TR" sz="2200" dirty="0"/>
          </a:p>
        </p:txBody>
      </p:sp>
    </p:spTree>
    <p:extLst>
      <p:ext uri="{BB962C8B-B14F-4D97-AF65-F5344CB8AC3E}">
        <p14:creationId xmlns:p14="http://schemas.microsoft.com/office/powerpoint/2010/main" val="3943397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154627" name="Rectangle 3"/>
          <p:cNvSpPr>
            <a:spLocks noChangeArrowheads="1"/>
          </p:cNvSpPr>
          <p:nvPr/>
        </p:nvSpPr>
        <p:spPr bwMode="auto">
          <a:xfrm>
            <a:off x="0" y="876302"/>
            <a:ext cx="9144000" cy="1128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Bu örnekte, bir alışveriş listesi uygulaması oluşturacağız. Kullanıcı alışveriş listesine ürünler ekleyecek ve ardından bu listeyi yazdıracak.</a:t>
            </a:r>
          </a:p>
        </p:txBody>
      </p:sp>
      <p:sp>
        <p:nvSpPr>
          <p:cNvPr id="5" name="Metin kutusu 4">
            <a:extLst>
              <a:ext uri="{FF2B5EF4-FFF2-40B4-BE49-F238E27FC236}">
                <a16:creationId xmlns:a16="http://schemas.microsoft.com/office/drawing/2014/main" id="{61A36915-24AD-4497-93A4-F4A46E72FC02}"/>
              </a:ext>
            </a:extLst>
          </p:cNvPr>
          <p:cNvSpPr txBox="1"/>
          <p:nvPr/>
        </p:nvSpPr>
        <p:spPr>
          <a:xfrm>
            <a:off x="335559" y="2241482"/>
            <a:ext cx="8305101" cy="3816429"/>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&lt;?</a:t>
            </a:r>
            <a:r>
              <a:rPr lang="tr-TR" sz="2200" b="0" i="0" u="none" strike="noStrike" baseline="0" dirty="0" err="1">
                <a:latin typeface="Courier New" panose="02070309020205020404" pitchFamily="49" charset="0"/>
              </a:rPr>
              <a:t>php</a:t>
            </a:r>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 Alışveriş listesi dizisi</a:t>
            </a:r>
          </a:p>
          <a:p>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 = </a:t>
            </a:r>
            <a:r>
              <a:rPr lang="tr-TR" sz="2200" b="0" i="0" u="none" strike="noStrike" baseline="0" dirty="0" err="1">
                <a:latin typeface="Courier New" panose="02070309020205020404" pitchFamily="49" charset="0"/>
              </a:rPr>
              <a:t>array</a:t>
            </a:r>
            <a:r>
              <a:rPr lang="tr-TR" sz="2200" b="0" i="0" u="none" strike="noStrike" baseline="0" dirty="0">
                <a:latin typeface="Courier New" panose="02070309020205020404" pitchFamily="49" charset="0"/>
              </a:rPr>
              <a:t>();</a:t>
            </a:r>
          </a:p>
          <a:p>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 Kullanıcının alışveriş listesine ürün ekleme fonksiyonu</a:t>
            </a:r>
          </a:p>
          <a:p>
            <a:r>
              <a:rPr lang="tr-TR" sz="2200" b="0" i="0" u="none" strike="noStrike" baseline="0" dirty="0" err="1">
                <a:latin typeface="Courier New" panose="02070309020205020404" pitchFamily="49" charset="0"/>
              </a:rPr>
              <a:t>function</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item</a:t>
            </a:r>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global $</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  // Global diziye erişim sağlıyoruz</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array_push</a:t>
            </a:r>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item</a:t>
            </a:r>
            <a:r>
              <a:rPr lang="tr-TR" sz="2200" b="0" i="0" u="none" strike="noStrike" baseline="0" dirty="0">
                <a:latin typeface="Courier New" panose="02070309020205020404" pitchFamily="49" charset="0"/>
              </a:rPr>
              <a:t>);</a:t>
            </a:r>
          </a:p>
          <a:p>
            <a:r>
              <a:rPr lang="tr-TR" sz="2200" b="0" i="0" u="none" strike="noStrike" baseline="0" dirty="0">
                <a:latin typeface="Courier New" panose="02070309020205020404" pitchFamily="49" charset="0"/>
              </a:rPr>
              <a:t>}</a:t>
            </a:r>
          </a:p>
        </p:txBody>
      </p:sp>
    </p:spTree>
    <p:extLst>
      <p:ext uri="{BB962C8B-B14F-4D97-AF65-F5344CB8AC3E}">
        <p14:creationId xmlns:p14="http://schemas.microsoft.com/office/powerpoint/2010/main" val="1631482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5" name="Metin kutusu 4">
            <a:extLst>
              <a:ext uri="{FF2B5EF4-FFF2-40B4-BE49-F238E27FC236}">
                <a16:creationId xmlns:a16="http://schemas.microsoft.com/office/drawing/2014/main" id="{61A36915-24AD-4497-93A4-F4A46E72FC02}"/>
              </a:ext>
            </a:extLst>
          </p:cNvPr>
          <p:cNvSpPr txBox="1"/>
          <p:nvPr/>
        </p:nvSpPr>
        <p:spPr>
          <a:xfrm>
            <a:off x="343948" y="1419360"/>
            <a:ext cx="8305101" cy="4493538"/>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 Kullanıcının alışveriş listesinde tüm ürünleri görüntüleme fonksiyonu</a:t>
            </a:r>
          </a:p>
          <a:p>
            <a:r>
              <a:rPr lang="tr-TR" sz="2200" b="0" i="0" u="none" strike="noStrike" baseline="0" dirty="0" err="1">
                <a:latin typeface="Courier New" panose="02070309020205020404" pitchFamily="49" charset="0"/>
              </a:rPr>
              <a:t>function</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displayShoppingList</a:t>
            </a:r>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global $</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if</a:t>
            </a:r>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count</a:t>
            </a:r>
            <a:r>
              <a:rPr lang="tr-TR" sz="2200" b="0" i="0" u="none" strike="noStrike" baseline="0" dirty="0">
                <a:latin typeface="Courier New" panose="02070309020205020404" pitchFamily="49" charset="0"/>
              </a:rPr>
              <a:t>($</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 &gt; 0) {</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"Alışveriş Listesi: &lt;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a:t>
            </a:r>
          </a:p>
          <a:p>
            <a:r>
              <a:rPr lang="tr-TR" sz="2200" b="0" i="0" u="none" strike="noStrike" baseline="0" dirty="0">
                <a:latin typeface="Courier New" panose="02070309020205020404" pitchFamily="49" charset="0"/>
              </a:rPr>
              <a:t>        foreach ($</a:t>
            </a:r>
            <a:r>
              <a:rPr lang="tr-TR" sz="2200" b="0" i="0" u="none" strike="noStrike" baseline="0" dirty="0" err="1">
                <a:latin typeface="Courier New" panose="02070309020205020404" pitchFamily="49" charset="0"/>
              </a:rPr>
              <a:t>shoppingList</a:t>
            </a:r>
            <a:r>
              <a:rPr lang="tr-TR" sz="2200" b="0" i="0" u="none" strike="noStrike" baseline="0" dirty="0">
                <a:latin typeface="Courier New" panose="02070309020205020404" pitchFamily="49" charset="0"/>
              </a:rPr>
              <a:t> as $</a:t>
            </a:r>
            <a:r>
              <a:rPr lang="tr-TR" sz="2200" b="0" i="0" u="none" strike="noStrike" baseline="0" dirty="0" err="1">
                <a:latin typeface="Courier New" panose="02070309020205020404" pitchFamily="49" charset="0"/>
              </a:rPr>
              <a:t>item</a:t>
            </a:r>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 " . $</a:t>
            </a:r>
            <a:r>
              <a:rPr lang="tr-TR" sz="2200" b="0" i="0" u="none" strike="noStrike" baseline="0" dirty="0" err="1">
                <a:latin typeface="Courier New" panose="02070309020205020404" pitchFamily="49" charset="0"/>
              </a:rPr>
              <a:t>item</a:t>
            </a:r>
            <a:r>
              <a:rPr lang="tr-TR" sz="2200" b="0" i="0" u="none" strike="noStrike" baseline="0" dirty="0">
                <a:latin typeface="Courier New" panose="02070309020205020404" pitchFamily="49" charset="0"/>
              </a:rPr>
              <a:t> . "&lt;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a:t>
            </a:r>
          </a:p>
          <a:p>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    } else {</a:t>
            </a:r>
          </a:p>
          <a:p>
            <a:r>
              <a:rPr lang="tr-TR" sz="2200" b="0" i="0" u="none" strike="noStrike" baseline="0" dirty="0">
                <a:latin typeface="Courier New" panose="02070309020205020404" pitchFamily="49" charset="0"/>
              </a:rPr>
              <a:t>        </a:t>
            </a:r>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"Alışveriş listeniz boş!&lt;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a:t>
            </a:r>
          </a:p>
          <a:p>
            <a:r>
              <a:rPr lang="tr-TR" sz="2200" b="0" i="0" u="none" strike="noStrike" baseline="0" dirty="0">
                <a:latin typeface="Courier New" panose="02070309020205020404" pitchFamily="49" charset="0"/>
              </a:rPr>
              <a:t>    }</a:t>
            </a:r>
          </a:p>
          <a:p>
            <a:r>
              <a:rPr lang="tr-TR" sz="2200" b="0" i="0" u="none" strike="noStrike" baseline="0" dirty="0">
                <a:latin typeface="Courier New" panose="02070309020205020404" pitchFamily="49" charset="0"/>
              </a:rPr>
              <a:t>}</a:t>
            </a:r>
          </a:p>
        </p:txBody>
      </p:sp>
    </p:spTree>
    <p:extLst>
      <p:ext uri="{BB962C8B-B14F-4D97-AF65-F5344CB8AC3E}">
        <p14:creationId xmlns:p14="http://schemas.microsoft.com/office/powerpoint/2010/main" val="2916803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5" name="Metin kutusu 4">
            <a:extLst>
              <a:ext uri="{FF2B5EF4-FFF2-40B4-BE49-F238E27FC236}">
                <a16:creationId xmlns:a16="http://schemas.microsoft.com/office/drawing/2014/main" id="{61A36915-24AD-4497-93A4-F4A46E72FC02}"/>
              </a:ext>
            </a:extLst>
          </p:cNvPr>
          <p:cNvSpPr txBox="1"/>
          <p:nvPr/>
        </p:nvSpPr>
        <p:spPr>
          <a:xfrm>
            <a:off x="419449" y="1075412"/>
            <a:ext cx="8305101" cy="5509200"/>
          </a:xfrm>
          <a:prstGeom prst="rect">
            <a:avLst/>
          </a:prstGeom>
          <a:solidFill>
            <a:schemeClr val="accent1"/>
          </a:solidFill>
        </p:spPr>
        <p:txBody>
          <a:bodyPr wrap="square" rtlCol="0">
            <a:spAutoFit/>
          </a:bodyPr>
          <a:lstStyle/>
          <a:p>
            <a:r>
              <a:rPr lang="tr-TR" sz="2200" b="0" i="0" u="none" strike="noStrike" baseline="0" dirty="0">
                <a:latin typeface="Courier New" panose="02070309020205020404" pitchFamily="49" charset="0"/>
              </a:rPr>
              <a:t>// Kullanıcı ürün ekliyor</a:t>
            </a:r>
          </a:p>
          <a:p>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("Süt");</a:t>
            </a:r>
          </a:p>
          <a:p>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("Ekmek");</a:t>
            </a:r>
          </a:p>
          <a:p>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("Yumurta");</a:t>
            </a:r>
          </a:p>
          <a:p>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("Peynir");</a:t>
            </a:r>
          </a:p>
          <a:p>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 Alışveriş listesinde tüm ürünleri yazdırıyoruz</a:t>
            </a:r>
          </a:p>
          <a:p>
            <a:r>
              <a:rPr lang="tr-TR" sz="2200" b="0" i="0" u="none" strike="noStrike" baseline="0" dirty="0" err="1">
                <a:latin typeface="Courier New" panose="02070309020205020404" pitchFamily="49" charset="0"/>
              </a:rPr>
              <a:t>displayShoppingList</a:t>
            </a:r>
            <a:r>
              <a:rPr lang="tr-TR" sz="2200" b="0" i="0" u="none" strike="noStrike" baseline="0" dirty="0">
                <a:latin typeface="Courier New" panose="02070309020205020404" pitchFamily="49" charset="0"/>
              </a:rPr>
              <a:t>();</a:t>
            </a:r>
          </a:p>
          <a:p>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 Kullanıcı yeni bir ürün ekliyor</a:t>
            </a:r>
          </a:p>
          <a:p>
            <a:r>
              <a:rPr lang="tr-TR" sz="2200" b="0" i="0" u="none" strike="noStrike" baseline="0" dirty="0" err="1">
                <a:latin typeface="Courier New" panose="02070309020205020404" pitchFamily="49" charset="0"/>
              </a:rPr>
              <a:t>addItem</a:t>
            </a:r>
            <a:r>
              <a:rPr lang="tr-TR" sz="2200" b="0" i="0" u="none" strike="noStrike" baseline="0" dirty="0">
                <a:latin typeface="Courier New" panose="02070309020205020404" pitchFamily="49" charset="0"/>
              </a:rPr>
              <a:t>("Zeytin");</a:t>
            </a:r>
          </a:p>
          <a:p>
            <a:endParaRPr lang="tr-TR" sz="2200" b="0" i="0" u="none" strike="noStrike" baseline="0" dirty="0">
              <a:latin typeface="Courier New" panose="02070309020205020404" pitchFamily="49" charset="0"/>
            </a:endParaRPr>
          </a:p>
          <a:p>
            <a:r>
              <a:rPr lang="tr-TR" sz="2200" b="0" i="0" u="none" strike="noStrike" baseline="0" dirty="0">
                <a:latin typeface="Courier New" panose="02070309020205020404" pitchFamily="49" charset="0"/>
              </a:rPr>
              <a:t>// Güncellenmiş alışveriş listesini yazdırıyoruz</a:t>
            </a:r>
          </a:p>
          <a:p>
            <a:r>
              <a:rPr lang="tr-TR" sz="2200" b="0" i="0" u="none" strike="noStrike" baseline="0" dirty="0" err="1">
                <a:latin typeface="Courier New" panose="02070309020205020404" pitchFamily="49" charset="0"/>
              </a:rPr>
              <a:t>echo</a:t>
            </a:r>
            <a:r>
              <a:rPr lang="tr-TR" sz="2200" b="0" i="0" u="none" strike="noStrike" baseline="0" dirty="0">
                <a:latin typeface="Courier New" panose="02070309020205020404" pitchFamily="49" charset="0"/>
              </a:rPr>
              <a:t> "&lt;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&gt;Güncellenmiş Alışveriş Listesi: &lt;</a:t>
            </a:r>
            <a:r>
              <a:rPr lang="tr-TR" sz="2200" b="0" i="0" u="none" strike="noStrike" baseline="0" dirty="0" err="1">
                <a:latin typeface="Courier New" panose="02070309020205020404" pitchFamily="49" charset="0"/>
              </a:rPr>
              <a:t>br</a:t>
            </a:r>
            <a:r>
              <a:rPr lang="tr-TR" sz="2200" b="0" i="0" u="none" strike="noStrike" baseline="0" dirty="0">
                <a:latin typeface="Courier New" panose="02070309020205020404" pitchFamily="49" charset="0"/>
              </a:rPr>
              <a:t>&gt;";</a:t>
            </a:r>
          </a:p>
          <a:p>
            <a:r>
              <a:rPr lang="tr-TR" sz="2200" b="0" i="0" u="none" strike="noStrike" baseline="0" dirty="0" err="1">
                <a:latin typeface="Courier New" panose="02070309020205020404" pitchFamily="49" charset="0"/>
              </a:rPr>
              <a:t>displayShoppingList</a:t>
            </a:r>
            <a:r>
              <a:rPr lang="tr-TR" sz="2200" b="0" i="0" u="none" strike="noStrike" baseline="0" dirty="0">
                <a:latin typeface="Courier New" panose="02070309020205020404" pitchFamily="49" charset="0"/>
              </a:rPr>
              <a:t>();</a:t>
            </a:r>
          </a:p>
        </p:txBody>
      </p:sp>
    </p:spTree>
    <p:extLst>
      <p:ext uri="{BB962C8B-B14F-4D97-AF65-F5344CB8AC3E}">
        <p14:creationId xmlns:p14="http://schemas.microsoft.com/office/powerpoint/2010/main" val="4013033007"/>
      </p:ext>
    </p:extLst>
  </p:cSld>
  <p:clrMapOvr>
    <a:masterClrMapping/>
  </p:clrMapOvr>
</p:sld>
</file>

<file path=ppt/theme/theme1.xml><?xml version="1.0" encoding="utf-8"?>
<a:theme xmlns:a="http://schemas.openxmlformats.org/drawingml/2006/main" name="1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312886</TotalTime>
  <Words>1792</Words>
  <Application>Microsoft Office PowerPoint</Application>
  <PresentationFormat>Ekran Gösterisi (4:3)</PresentationFormat>
  <Paragraphs>268</Paragraphs>
  <Slides>27</Slides>
  <Notes>0</Notes>
  <HiddenSlides>0</HiddenSlides>
  <MMClips>0</MMClips>
  <ScaleCrop>false</ScaleCrop>
  <HeadingPairs>
    <vt:vector size="6" baseType="variant">
      <vt:variant>
        <vt:lpstr>Kullanılan Yazı Tipleri</vt:lpstr>
      </vt:variant>
      <vt:variant>
        <vt:i4>4</vt:i4>
      </vt:variant>
      <vt:variant>
        <vt:lpstr>Tema</vt:lpstr>
      </vt:variant>
      <vt:variant>
        <vt:i4>6</vt:i4>
      </vt:variant>
      <vt:variant>
        <vt:lpstr>Slayt Başlıkları</vt:lpstr>
      </vt:variant>
      <vt:variant>
        <vt:i4>27</vt:i4>
      </vt:variant>
    </vt:vector>
  </HeadingPairs>
  <TitlesOfParts>
    <vt:vector size="37" baseType="lpstr">
      <vt:lpstr>Arial</vt:lpstr>
      <vt:lpstr>Courier New</vt:lpstr>
      <vt:lpstr>Times New Roman</vt:lpstr>
      <vt:lpstr>Wingdings</vt:lpstr>
      <vt:lpstr>1_UMd_Draft4-8Oct</vt:lpstr>
      <vt:lpstr>2_UMd_Draft4-8Oct</vt:lpstr>
      <vt:lpstr>3_UMd_Draft4-8Oct</vt:lpstr>
      <vt:lpstr>4_UMd_Draft4-8Oct</vt:lpstr>
      <vt:lpstr>5_UMd_Draft4-8Oct</vt:lpstr>
      <vt:lpstr>15_UMd_Draft4-8Oct</vt:lpstr>
      <vt:lpstr>PowerPoint Sunusu</vt:lpstr>
      <vt:lpstr>Diziler</vt:lpstr>
      <vt:lpstr>Diziler</vt:lpstr>
      <vt:lpstr>Dizi Oluşturmak</vt:lpstr>
      <vt:lpstr>Indeksli Diziler</vt:lpstr>
      <vt:lpstr>Indeksli Diziler</vt:lpstr>
      <vt:lpstr>Dizinin Uzunluğunu Almak</vt:lpstr>
      <vt:lpstr>İndeksli Dizilerde Döngü</vt:lpstr>
      <vt:lpstr>Çağrışımsal Diziler – (Associative Arrays)</vt:lpstr>
      <vt:lpstr>Çağrışımsal Dizilerde Döngü</vt:lpstr>
      <vt:lpstr>Dizilerde Sıralama</vt:lpstr>
      <vt:lpstr>Dizilerde Artan Sıralama – sort()</vt:lpstr>
      <vt:lpstr>Dizilerde Artan Sıralama – sort()</vt:lpstr>
      <vt:lpstr>Dizilerde Azalan Sıralama – rsort()</vt:lpstr>
      <vt:lpstr>Dizilerde Azalan Sıralama – rsort()</vt:lpstr>
      <vt:lpstr>Çağrışımsal Dizilerin Değere Göre Artan Sıralaması</vt:lpstr>
      <vt:lpstr>Çağrışımsal Dizilerin Anahtara Göre Artan Sıralaması</vt:lpstr>
      <vt:lpstr>Çağrışımsal Dizilerin Değere Göre Azalan Sıralaması</vt:lpstr>
      <vt:lpstr>Çağrışımsal Dizilerin Anahtara Göre Azalan Sıralaması</vt:lpstr>
      <vt:lpstr>İki Boyutlu diziler</vt:lpstr>
      <vt:lpstr>Temel İki Boyutlu Dizi Kullanımı</vt:lpstr>
      <vt:lpstr>Anahtarlarla İki Boyutlu Dizi Kullanımı</vt:lpstr>
      <vt:lpstr>İç İçe foreach Döngüsü ile Yazdırma</vt:lpstr>
      <vt:lpstr>Yeni Eleman Ekleme</vt:lpstr>
      <vt:lpstr>Örnek</vt:lpstr>
      <vt:lpstr>Örnek</vt:lpstr>
      <vt:lpstr>Örnek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JK/KR, modified by C.Xu/E.Attalla</dc:creator>
  <cp:lastModifiedBy>Zihni KAYA</cp:lastModifiedBy>
  <cp:revision>1746</cp:revision>
  <cp:lastPrinted>2013-04-21T19:31:14Z</cp:lastPrinted>
  <dcterms:created xsi:type="dcterms:W3CDTF">1999-10-08T19:08:27Z</dcterms:created>
  <dcterms:modified xsi:type="dcterms:W3CDTF">2026-04-08T07:57:26Z</dcterms:modified>
</cp:coreProperties>
</file>