
<file path=[Content_Types].xml><?xml version="1.0" encoding="utf-8"?>
<Types xmlns="http://schemas.openxmlformats.org/package/2006/content-types">
  <Default Extension="emf" ContentType="image/x-emf"/>
  <Default Extension="jp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5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"/>
    <p:sldMasterId id="2147483664" r:id="rId2"/>
    <p:sldMasterId id="2147483787" r:id="rId3"/>
    <p:sldMasterId id="2147483800" r:id="rId4"/>
    <p:sldMasterId id="2147483813" r:id="rId5"/>
    <p:sldMasterId id="2147483826" r:id="rId6"/>
  </p:sldMasterIdLst>
  <p:notesMasterIdLst>
    <p:notesMasterId r:id="rId54"/>
  </p:notesMasterIdLst>
  <p:handoutMasterIdLst>
    <p:handoutMasterId r:id="rId55"/>
  </p:handoutMasterIdLst>
  <p:sldIdLst>
    <p:sldId id="770" r:id="rId7"/>
    <p:sldId id="757" r:id="rId8"/>
    <p:sldId id="771" r:id="rId9"/>
    <p:sldId id="772" r:id="rId10"/>
    <p:sldId id="773" r:id="rId11"/>
    <p:sldId id="774" r:id="rId12"/>
    <p:sldId id="775" r:id="rId13"/>
    <p:sldId id="776" r:id="rId14"/>
    <p:sldId id="777" r:id="rId15"/>
    <p:sldId id="779" r:id="rId16"/>
    <p:sldId id="780" r:id="rId17"/>
    <p:sldId id="778" r:id="rId18"/>
    <p:sldId id="781" r:id="rId19"/>
    <p:sldId id="782" r:id="rId20"/>
    <p:sldId id="783" r:id="rId21"/>
    <p:sldId id="784" r:id="rId22"/>
    <p:sldId id="785" r:id="rId23"/>
    <p:sldId id="786" r:id="rId24"/>
    <p:sldId id="787" r:id="rId25"/>
    <p:sldId id="788" r:id="rId26"/>
    <p:sldId id="789" r:id="rId27"/>
    <p:sldId id="790" r:id="rId28"/>
    <p:sldId id="791" r:id="rId29"/>
    <p:sldId id="792" r:id="rId30"/>
    <p:sldId id="793" r:id="rId31"/>
    <p:sldId id="794" r:id="rId32"/>
    <p:sldId id="795" r:id="rId33"/>
    <p:sldId id="796" r:id="rId34"/>
    <p:sldId id="797" r:id="rId35"/>
    <p:sldId id="798" r:id="rId36"/>
    <p:sldId id="799" r:id="rId37"/>
    <p:sldId id="800" r:id="rId38"/>
    <p:sldId id="801" r:id="rId39"/>
    <p:sldId id="802" r:id="rId40"/>
    <p:sldId id="803" r:id="rId41"/>
    <p:sldId id="804" r:id="rId42"/>
    <p:sldId id="805" r:id="rId43"/>
    <p:sldId id="806" r:id="rId44"/>
    <p:sldId id="807" r:id="rId45"/>
    <p:sldId id="808" r:id="rId46"/>
    <p:sldId id="809" r:id="rId47"/>
    <p:sldId id="810" r:id="rId48"/>
    <p:sldId id="811" r:id="rId49"/>
    <p:sldId id="812" r:id="rId50"/>
    <p:sldId id="813" r:id="rId51"/>
    <p:sldId id="814" r:id="rId52"/>
    <p:sldId id="815" r:id="rId53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kaya" initials="z" lastIdx="4" clrIdx="0">
    <p:extLst>
      <p:ext uri="{19B8F6BF-5375-455C-9EA6-DF929625EA0E}">
        <p15:presenceInfo xmlns:p15="http://schemas.microsoft.com/office/powerpoint/2012/main" userId="zkay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33CCCC"/>
    <a:srgbClr val="CCFFCC"/>
    <a:srgbClr val="FFFFCC"/>
    <a:srgbClr val="CCFFFF"/>
    <a:srgbClr val="FFFF00"/>
    <a:srgbClr val="DDDDDD"/>
    <a:srgbClr val="FFCCFF"/>
    <a:srgbClr val="FF99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Açık Stil 2 - Vurgu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1786" autoAdjust="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4008" y="12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commentAuthors" Target="commentAuthor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presProps" Target="presProp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E00D6C2-52E2-460C-9B58-3CD61A24B0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6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629" y="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tr-TR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5957" y="4861781"/>
            <a:ext cx="5207386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56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629" y="972356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94F9E22C-A560-44E3-9891-E6761E7FE4D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214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53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8BCA47C0-B7EB-403B-A39B-0D22BA9C77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8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54BBEDAF-4CAD-4687-AECE-1E45E0407E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1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0F005141-3E15-4B0D-989A-F17E2C0B290D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2255F62-7E68-45B6-B8BB-EE0FA6E0AE2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400" dirty="0">
              <a:solidFill>
                <a:srgbClr val="33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26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787566AF-3F22-4EEC-ADED-0001FD731C9E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06148"/>
            <a:ext cx="7772400" cy="40075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414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3" y="1524003"/>
            <a:ext cx="3624263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3"/>
            <a:ext cx="3624262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ECD2814-999E-4032-906C-2175D48D707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319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240"/>
            <a:ext cx="4040188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343240"/>
            <a:ext cx="4041775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F53B03B3-6070-425A-B684-6AF20A3CD5E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3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9C0316F6-F3E1-4B87-BA86-E40838D53467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376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CB335D22-03A4-4154-A105-3651724AD01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19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B0EDAF9-0480-4BA6-8E13-B61891626FB5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778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7DD5AB4A-A33A-4525-8D78-3D63E3001279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276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D1CE32CB-7F51-480E-A104-8947DCC1C2AC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074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18AB817D-8C5B-4BCE-B44B-882C88C9BF9B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54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52D630E-1F6A-4FB2-A386-9A349C5B3F66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9842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073B400-6E83-48BF-87B6-725E47C03D8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400" dirty="0">
                <a:solidFill>
                  <a:srgbClr val="336699"/>
                </a:solidFill>
              </a:rPr>
              <a:t>ue.aydin.edu.tr</a:t>
            </a:r>
          </a:p>
        </p:txBody>
      </p:sp>
    </p:spTree>
    <p:extLst>
      <p:ext uri="{BB962C8B-B14F-4D97-AF65-F5344CB8AC3E}">
        <p14:creationId xmlns:p14="http://schemas.microsoft.com/office/powerpoint/2010/main" val="651165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41026968-BEFE-44F1-97B6-7E577FCA360F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742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07D3A64E-D33D-44D4-B6C2-F6248345F7F2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348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42913ACF-11A0-4838-B2F0-D74E91052A9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997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-101927" y="1524000"/>
            <a:ext cx="8372805" cy="19827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124045F6-0237-4FB2-9E43-F13F9F29C4D7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61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31275" y="-38100"/>
            <a:ext cx="252505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2DEE1EEE-97C2-4C42-B32D-7B7D93AEEBD3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06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15C9AE7-7D7A-439A-A584-208B138EA1A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2325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21475"/>
            <a:ext cx="1905000" cy="1365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 b="1"/>
            </a:lvl1pPr>
          </a:lstStyle>
          <a:p>
            <a:pPr>
              <a:defRPr/>
            </a:pPr>
            <a:fld id="{74034AEE-21EC-4108-831A-6EA98F8DFE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08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defRPr/>
            </a:pPr>
            <a:fld id="{66D4143D-D413-4B65-BE5B-68ED75509604}" type="slidenum">
              <a:rPr lang="en-US" altLang="tr-TR" sz="1400" smtClean="0">
                <a:solidFill>
                  <a:srgbClr val="000000"/>
                </a:solidFill>
                <a:latin typeface="Arial" panose="020B0604020202020204" pitchFamily="34" charset="0"/>
                <a:ea typeface="ヒラギノ明朝 ProN W3"/>
                <a:cs typeface="ヒラギノ明朝 ProN W3"/>
                <a:sym typeface="Times" panose="02020603050405020304" pitchFamily="18" charset="0"/>
              </a:rPr>
              <a:pPr algn="r">
                <a:defRPr/>
              </a:pPr>
              <a:t>‹#›</a:t>
            </a:fld>
            <a:endParaRPr lang="en-US" altLang="tr-TR" sz="1400" dirty="0">
              <a:solidFill>
                <a:srgbClr val="000000"/>
              </a:solidFill>
              <a:latin typeface="Arial" panose="020B0604020202020204" pitchFamily="34" charset="0"/>
              <a:ea typeface="ヒラギノ明朝 ProN W3"/>
              <a:cs typeface="ヒラギノ明朝 ProN W3"/>
              <a:sym typeface="Times" panose="02020603050405020304" pitchFamily="18" charset="0"/>
            </a:endParaRP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0F5F935-ABB1-4E93-AEFD-0D4486CAD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 smtClean="0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4218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0516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0" y="1524000"/>
            <a:ext cx="3624263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0"/>
            <a:ext cx="3624262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29580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85941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09989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3506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2075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93420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26923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5125" y="-38100"/>
            <a:ext cx="579120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1481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49963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61167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68748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3284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29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38100"/>
            <a:ext cx="9144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207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205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EABF3948-6436-4873-87BF-0CE3FE2D4B8E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07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 sz="2000"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 sz="2000"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Line 5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077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1DA75B1C-1FC8-4677-A6B8-31AFE1B3CD3C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 dirty="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82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84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9" r:id="rId10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26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</a:defRPr>
            </a:lvl1pPr>
          </a:lstStyle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  <p:sp>
        <p:nvSpPr>
          <p:cNvPr id="9221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tr-TR" sz="2200" b="1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8E6CDD4-4A55-4656-9F51-403AD196A1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197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21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32" r:id="rId2"/>
    <p:sldLayoutId id="2147483835" r:id="rId3"/>
    <p:sldLayoutId id="2147483838" r:id="rId4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anose="05000000000000000000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anose="05000000000000000000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anose="05000000000000000000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0" y="698500"/>
            <a:ext cx="9144000" cy="240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tr-TR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Sitesi Tasarım ve Yaratma-I</a:t>
            </a:r>
            <a:endParaRPr lang="tr-TR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altLang="tr-TR" sz="3200" b="1" dirty="0">
                <a:solidFill>
                  <a:srgbClr val="0070C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Tablo </a:t>
            </a:r>
            <a:r>
              <a:rPr lang="tr-TR" altLang="tr-TR" sz="3200" b="1">
                <a:solidFill>
                  <a:srgbClr val="0070C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Yapılarının </a:t>
            </a:r>
            <a:r>
              <a:rPr lang="tr-TR" altLang="tr-TR" sz="3200" b="1" dirty="0">
                <a:solidFill>
                  <a:srgbClr val="0070C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O</a:t>
            </a:r>
            <a:r>
              <a:rPr lang="tr-TR" altLang="tr-TR" sz="3200" b="1">
                <a:solidFill>
                  <a:srgbClr val="0070C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luşturulması</a:t>
            </a:r>
            <a:endParaRPr kumimoji="0" lang="en-US" altLang="tr-TR" sz="2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066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Giriş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Tablolar genellikle anlaşılırlığı desteklemek için verilerin satır ve sütün şeklinde gruplandırılarak sunulmasını sağlayan iki boyutlu yapılardır.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Html’de tablo oluşturmak için belli başlı komutlar bulunmaktadır.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bölümde çeşitli örnekler üzerinden tablo yapılarını, tablolarda kullanılan etiketleri kavramaya çalışacağız ve tablo etiketlerini ve CSS dosyalarını kullanarak etkili ve kullanışlı tablo oluşturma üzerinde duracağız.</a:t>
            </a:r>
          </a:p>
          <a:p>
            <a:pPr marL="742950" lvl="2" indent="-171450">
              <a:spcBef>
                <a:spcPct val="20000"/>
              </a:spcBef>
              <a:buClr>
                <a:srgbClr val="339933"/>
              </a:buClr>
              <a:buSzPct val="75000"/>
              <a:buFontTx/>
              <a:buChar char="•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812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Giriş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1086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Ancak bundan önce temel tablo yapısının hangi bileşenlerden oluştuğunu anlamak için Şekil 4.1’i inceleyelim.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AD582342-B4EF-42E8-BCF3-D87910E97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554" y="2443025"/>
            <a:ext cx="5182323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98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Giriş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4.1’de görüldüğü üzere her tabloda dört </a:t>
            </a:r>
            <a:r>
              <a:rPr lang="tr-TR">
                <a:solidFill>
                  <a:srgbClr val="000000"/>
                </a:solidFill>
                <a:latin typeface="Arial" pitchFamily="34" charset="0"/>
              </a:rPr>
              <a:t>temel bileşen bulunmaktadır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Bunlar: Satır, sütun, hücre ve veridir.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Satır (İng.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row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tabloda soldan sağa yan yana geldiğinde bir birey, grup, nesne,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lokasyon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şirket vb. anlamlı bir bütüne ait verileri içerir ve çeşitli özellikleri ile bu anlamlı bütünü (İng.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entity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tanımlar.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Örneğin Şekil 4.1’de adının Mikail soyadının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Ceksin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olduğunu bildiğimiz kişinin vize puanının 82 olduğu bilgisini okuyabiliyoruz.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Sütun (İng.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Column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ise bir satırdan diğer satıra değişebilecek tek bir özelliğe ilişkin verileri içerir. Örneğin yukarıda Mikail, Adem şeklinde değişen ve bireylerin adlarına ilişkin verileri içeren bir sütundur. </a:t>
            </a:r>
          </a:p>
        </p:txBody>
      </p:sp>
    </p:spTree>
    <p:extLst>
      <p:ext uri="{BB962C8B-B14F-4D97-AF65-F5344CB8AC3E}">
        <p14:creationId xmlns:p14="http://schemas.microsoft.com/office/powerpoint/2010/main" val="2891344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Giriş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Yukarıdaki tablodaki her bir dikdörtgen kutucuk bir tablo hücresidir (İng.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cell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Her hücrede ise veriler (İng. Data) bulunur. Örneğin ortadaki sütunun üçüncü satırındaki veri “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Sendeler”dir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6141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Tabloların Tanımlanması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1338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bölümde öncelikle temel tablo komutları kullanarak tablonun nasıl tanımlandığı ve verilerin hücrelere nasıl girildiği üzerinde durulacaktır.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EDC03018-9C1B-43C3-8AD2-B7D76853F0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125" y="2214694"/>
            <a:ext cx="6639852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199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Tabloların Tanımlanması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&lt;table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style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=”width:100%”&gt; // 12. Satırda, web sayfasını enine (solda-sağa) tamamını kaplayacak (yüzde yüzünü) şekilde bir tablo oluşturuluyor. Burada “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width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:” işlevi ile genişlik bilgisi 100% olarak gönderiliyor.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&lt;tr&gt; …&lt;/tr&gt; // 13. satırda açılıp 17. satırda kapanan bu etiket table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rows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ifadesinin kısaltmasıdır ve tabloda bir satır oluşturur. 13. Satırda kullanılan &lt;tr&gt; etiketi ile tablonun ilk satırı açılıyor.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&gt;Adı&lt;/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// table data 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etiketi daha önce &lt;tr&gt; ile açılan satırda bir hücre oluştur ve 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ile &lt;/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arasındaki veriyi ilgili hücreye yazar.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Burada 14. Satırdaki 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&gt;Adı&lt;/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ifadesi birinci satırın ilk hücresine “Adı” verisini yazıyor.  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&gt;Soyadı&lt;/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ilk satırdaki ikinci hücreyi oluşturuyor ve içine “Soyadı” verisini yazıyor, 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&gt;Vize Notu&lt;/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ilk satırdaki üçüncü hücreyi oluşturarak içine “Vize Notu” verisini yazıyor.</a:t>
            </a:r>
          </a:p>
        </p:txBody>
      </p:sp>
    </p:spTree>
    <p:extLst>
      <p:ext uri="{BB962C8B-B14F-4D97-AF65-F5344CB8AC3E}">
        <p14:creationId xmlns:p14="http://schemas.microsoft.com/office/powerpoint/2010/main" val="2444067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Tabloların Tanımlanması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&lt;/tr&gt; // 17. satırdaki etiket ile tablonun ilk satırı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&lt;tr&gt; // 18. satırdaki etiket ile tablonun ikinci satırı oluşturuluyor.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&gt;Mikail&lt;/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//19. satırdaki ifade ile ikinci satırın birinci hücresine “Mikail” verisi yazılıyor.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Ceksin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// 20. satırdaki ifade ile ikinci satırın ikinci hücresine “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Ceksin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” verisi yazılıyor.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&gt;82&lt;/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// 21. satırdaki ifade ile ikinci satırın ikinci hücresine “82” verisi yazılıyor.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&lt;/tr&gt; // 22. satırdaki etiket ile ikinci satır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&lt;/table&gt; // 23. satırdaki ifade ile tablo kapatılıyor.</a:t>
            </a:r>
          </a:p>
        </p:txBody>
      </p:sp>
    </p:spTree>
    <p:extLst>
      <p:ext uri="{BB962C8B-B14F-4D97-AF65-F5344CB8AC3E}">
        <p14:creationId xmlns:p14="http://schemas.microsoft.com/office/powerpoint/2010/main" val="1879817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Tabloların Tanımlanması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Tablolarda genellikle tablonun ilk satırı tablo başlığı olarak adlandırılır ve ilgili sütundaki verinin türü ve içeriği hakkında bilgi verir.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Örneğin, “Vize Notu” ilk satırın son hücresinde yer almaktadır ve o sütunda sunulacak olan verinin her bir öğrenci için vize puanı olacağını belirtmektedir.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anlamda ilk satırdaki veri ilgili sütun için “sütun etiketi“ olarak nitelendirilebilir.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İlgili sütundaki veriyi betimleme özelliği olduğundan dolayı tabloların ilk satırları diğer satırlarına göre farklı yazılırlar.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durumu ifade etmek için html’de table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headings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&lt;th&gt; &lt;/th&gt; etiketi kullanılmaktadır.</a:t>
            </a:r>
          </a:p>
        </p:txBody>
      </p:sp>
    </p:spTree>
    <p:extLst>
      <p:ext uri="{BB962C8B-B14F-4D97-AF65-F5344CB8AC3E}">
        <p14:creationId xmlns:p14="http://schemas.microsoft.com/office/powerpoint/2010/main" val="3827317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Tabloların Tanımlanması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1598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4.2’deki örnekte tanımlanan tablonun ilk satırını tablo başlığı hâline getirmek için Şekil 4.4’teki değişiklikleri gerçekleştirelim. Kodlama çalıştırıldığında Şekil 4.5’teki ekran görüntüsü elde edilmektedir.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A708A0FD-BC1D-4990-90E7-D4ABE9D51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573" y="2341310"/>
            <a:ext cx="5192799" cy="451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693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Tabloların Tanımlanması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&lt;th&gt;Adı&lt;/th&gt; // 16. satırdaki ifade tablonun ilk satırının ilk hücresinin tablo başlığı olduğunu belirterek koyu ve hücrenin ortasında yazılmasını sağlıyor.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&lt;th&gt;Soyadı&lt;/th&gt; // 17. satırdaki ifade tablonun ilk satırının ikinci hücresinin tablo başlığı olduğunu belirterek koyu ve hücrenin ortasında yazılmasını sağlıyor.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&lt;th&gt;Vize Notu&lt;/th&gt; // 18. satırdaki tablonun ilk satırının üçüncü hücresinin tablo başlığı olduğunu belirterek koyu ve hücrenin ortasında yazılmasını sağlıyor.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30131493-D2E8-46AC-92A1-7152629F2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431" y="4532165"/>
            <a:ext cx="5315692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42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Tabloların Stil Kullanılarak Biçimlendirilmesi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4.5’teki ekran çıktısından görüldüğü üzere tabloya başlık eklediğimizde otomatik olarak bir biçimlendirme ile başlığı ortalı ve koyu yapmaktadır.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Bunun yanı sıra diğer hücrelerdeki veriler ise sola hizalanmıştır.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Tablolarda daha önce öğrendiğiniz metin biçimlendirme etiketleriyle bu ve benzeri değişikleri yapabilirsiniz.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Ancak tablo metinlerinin hizalamasının yapılmasının yanı sıra tabloların kendilerine özgü özellikleri olan tablo kenarlıkları ve kalınlığı, rengi, hücre yüksekliği gibi özelliklerin ayarlanması gerekir.</a:t>
            </a:r>
          </a:p>
        </p:txBody>
      </p:sp>
    </p:spTree>
    <p:extLst>
      <p:ext uri="{BB962C8B-B14F-4D97-AF65-F5344CB8AC3E}">
        <p14:creationId xmlns:p14="http://schemas.microsoft.com/office/powerpoint/2010/main" val="3529791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Tabloların Stil Kullanılarak Biçimlendirilmesi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Takdir edersiniz ki web sayfalarında çoğunlukla birden çok tablo kullanılmaktadır.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nedenle bir web sayfasındaki tabloların standart bir biçimlendirmeye sahip olmasını gerekli kılan birkaç temel nedenden bahsedilebilir.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Bunlar: Sayfanın yorumlanmasını tarayıcının inisiyatifine bırakmamak, kolay yönetilebilirlik ve algılamada kolaylık olarak bilinen tasarım ilkesi olarak sıralanabilir.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Bildiğiniz üzere eğer aksi belirtilmezse tarayıcılar kendi ayarlanmış değerlerine göre web sayfalarının biçimlerini yorumlarlar/gösterirler.</a:t>
            </a:r>
          </a:p>
        </p:txBody>
      </p:sp>
    </p:spTree>
    <p:extLst>
      <p:ext uri="{BB962C8B-B14F-4D97-AF65-F5344CB8AC3E}">
        <p14:creationId xmlns:p14="http://schemas.microsoft.com/office/powerpoint/2010/main" val="2412185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Tabloların Stil Kullanılarak Biçimlendirilmesi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Web sayfasında bizim biçimlendirme kullandığımız yerler ile kullanmadığımız veya göz ardı ettiğimiz bölümler farklı biçimlerde görüntülenecektir.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Oysa bütüncül algılama eğiliminde olan insan zihni için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Schunk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2011) bu olumsuz bir durumdur ve bu durum zihnin algılamak için ekstra çaba harcanmasına neden olacaktır ve zihinde karmaşa hissi uyandıracaktır.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Benzer şekilde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Gestalt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kuramının benzerlik ilkesine göre insan benzer görüntüleri aynı algılar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Schunk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, 2011) bu nedenle daha az bir çaba ile algılama-anlama süreci tamamlanır.</a:t>
            </a:r>
          </a:p>
        </p:txBody>
      </p:sp>
    </p:spTree>
    <p:extLst>
      <p:ext uri="{BB962C8B-B14F-4D97-AF65-F5344CB8AC3E}">
        <p14:creationId xmlns:p14="http://schemas.microsoft.com/office/powerpoint/2010/main" val="3244692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Tabloların Stil Kullanılarak Biçimlendirilmesi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Her tabloda farklı biçimlendirme seçenekleri kullanıldığında bu ilke ihlal edilmiş olacaktır, birey ilgili görüntünün tablo olduğunu algılamak için ekstra zihinsel çaba göstermek durumunda kalacaktır.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Bunun yanı sıra bir tabloda biçimsel bir değişiklik yaptığınızda örneğin tablo kenarlık kalınlığını değiştirdiğinizde, ilgili satırlara giderek tek tek değişiklik yaparak bütün tablolara değişikliğin yansımasını sağlayabileceksiniz.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Bütün bu olumsuzlukları ortadan kaldırmak için önceki bölümlerden de hatırlayacağınız stil tanımlamalarını kullanarak bir tablo biçimlendirmesi elde ettiğinizde, bu ve benzeri olumsuzlukları ortadan kaldırmış olacaksınız.</a:t>
            </a:r>
          </a:p>
        </p:txBody>
      </p:sp>
    </p:spTree>
    <p:extLst>
      <p:ext uri="{BB962C8B-B14F-4D97-AF65-F5344CB8AC3E}">
        <p14:creationId xmlns:p14="http://schemas.microsoft.com/office/powerpoint/2010/main" val="724892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Kenarlıklarının Oluşturulması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4.7’de verilen örnek kodlamada 7. satırda başlayan 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style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etiketi ile açılan ve 11. satırda &lt;/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style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etiketi ile kapanan bölümde bundan sonra oluşturacağımız tabloların stillerin nasıl olacağını tanımlıyoruz.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8. satırda başlayan ve 10. satırda } işareti ile biten tanımlama ile tablonun (table), tablo başlığının (th), ve hücrelerin etrafına kenarlık çizilmesi talimatı veriliyor.</a:t>
            </a:r>
          </a:p>
        </p:txBody>
      </p:sp>
    </p:spTree>
    <p:extLst>
      <p:ext uri="{BB962C8B-B14F-4D97-AF65-F5344CB8AC3E}">
        <p14:creationId xmlns:p14="http://schemas.microsoft.com/office/powerpoint/2010/main" val="1058117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Kenarlıklarının Oluşturulması</a:t>
            </a:r>
            <a:endParaRPr lang="en-US" sz="3200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31698360-E7E6-49FB-A93B-2B8712AA0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867" y="886121"/>
            <a:ext cx="5278265" cy="577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17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Kenarlıklarının Oluşturulması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4.7’de verilen kod çalıştırıldığında Şekil 4.8’deki gibi bir ekran görüntüsü elde edilir.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4.8’de görüldüğü üzere tablo kenarlıklarının yanı sıra hücre kenarlıklarının tanımlanması ile çift kenarlık görüntüsü oluşmuştur.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437D5543-9243-4B71-BB28-737E6E68F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225" y="3311554"/>
            <a:ext cx="6952562" cy="214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92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Kenarlıklarının Oluşturulması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4152550" cy="442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4.8’de verilen ekran görüntüsünde okunurluğu artırmak için birkaç küçük değişiklik yapılabilir.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amaçla Şekil 4.9’da verilen örnek kodlamayı inceleyelim.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7C84C703-F5A4-479B-B3DD-6E3743FAC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119" y="1012168"/>
            <a:ext cx="4330881" cy="547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870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Kenarlıklarının Oluşturulması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171450" lvl="1">
              <a:spcBef>
                <a:spcPct val="20000"/>
              </a:spcBef>
              <a:buClr>
                <a:srgbClr val="0066CC"/>
              </a:buClr>
              <a:buSzPct val="75000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4.9’daki stil tanımlamalarına ilişkin açıklamalar aşağıdaki gibi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maddelenebilir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&lt;Style&gt; // 7. satırda stil tanımlama başlatılıyor.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table { // 8. satırda tabloya ilişkin bir stil tanımlaması açılıyor.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border-collapse:collapse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//9. satırda kenarlığın kaldırılması sağlanıyor.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:100%; // 10. satırda tablo genişliğinin tarayıcı sayfasının %100’ünü kaplaması sağlanıyor.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}// 11. satırda tablo stil tanımlaması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th,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{ // 12. satırda tablo başlığı ve hücrelere ilişkin bir stil tanımlaması açılıyor.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border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1px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solid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black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// 13. satırda hücre kenarlıklarının 1 piksel kalınlığında sürekli çizgi olarak tanımlanması sağlanıyor.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}// 14. satırda tablo başlığı ve hücrelere ilişkin tanımlama kapatılıyor.</a:t>
            </a:r>
          </a:p>
        </p:txBody>
      </p:sp>
    </p:spTree>
    <p:extLst>
      <p:ext uri="{BB962C8B-B14F-4D97-AF65-F5344CB8AC3E}">
        <p14:creationId xmlns:p14="http://schemas.microsoft.com/office/powerpoint/2010/main" val="1807038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Kenarlıklarının Oluşturulması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}// 14. satırda tablo başlığı ve hücrelere ilişkin tanımlama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th { height:50px; // 15. satırda tablo başlığına ilişkin bir tanımlama satırı açılıyor ve tablo başlıklarının yükseklikleri 50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pixel’e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ayarlanıyor.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}// 16. satırda tablo başlığına ilişkin açılan tanımlama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{ height:30px; // 17. Satırda hücrelere ilişkin bir tanımlama satırı açılıyor ve hücre yükseklikleri 30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pixel’e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ayarlanıyor.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}//. 18. satırda hücrelere ilişkin olarak açılan tanımlama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&lt;/Style&gt; // 19. satırda stil tanımlama kapatılıyor.</a:t>
            </a:r>
          </a:p>
        </p:txBody>
      </p:sp>
    </p:spTree>
    <p:extLst>
      <p:ext uri="{BB962C8B-B14F-4D97-AF65-F5344CB8AC3E}">
        <p14:creationId xmlns:p14="http://schemas.microsoft.com/office/powerpoint/2010/main" val="3527578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Kenarlıklarının Oluşturulması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112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4.9’da verilen örnek kodlama çalıştırıldığında Şekil 4.10’daki ekran görüntüsü elde edilir.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CF8CFC95-010D-4747-B72D-130363935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236" y="2408808"/>
            <a:ext cx="7258985" cy="210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70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Tablolarda Veri Yerleşimi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Tablolarda verilerin hücrelerin içine nasıl yerleşeceği ile ilgili üç temel özellikten bahsedebiliriz bunlardan birincisi hücre kenarlığı çizgileri arasındaki boşluk “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border-spacing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” ile, ikincisi hücre kenarlığı ile veri arasında bırakılacak olan boşluk (örneğin Şekil 4.10’daki çıktıyı incelerseniz “Adem” veya “75” gibi hücre içerisindeki verilerin hücre kenarlığına bitişik olarak göründüğünü fark edebilirsiniz) “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padding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” ile, üçüncüsü verinin hizalanması (sola, sağa, ortalı) “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text-align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” ile belirtilir. </a:t>
            </a:r>
          </a:p>
        </p:txBody>
      </p:sp>
    </p:spTree>
    <p:extLst>
      <p:ext uri="{BB962C8B-B14F-4D97-AF65-F5344CB8AC3E}">
        <p14:creationId xmlns:p14="http://schemas.microsoft.com/office/powerpoint/2010/main" val="4215660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Tablolarda Veri Yerleşimi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893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üç işlevi daha iyi anlamak için Şekil 4.11’de verilen örnek kodlamayı inceleyelim.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37A3EE49-2CD8-4447-AF0C-C3DAE3CE9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881" y="1788068"/>
            <a:ext cx="6038429" cy="476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22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Tablolarda Veri Yerleşimi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table { // 8. satırda tablo için tanımlama açılıyor.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border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1px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solid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black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// tabloya 1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pixel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kalınlığında siyah sürekli çizgiden oluşan bir kenarlık tanımlanıyor.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border-spacing:10px; // tablo kenarlığı ile hücre arasındaki boşluk 10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pixel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olarak tanımlanıyor.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width:100%; // tablo genişliği web sayfasının enine tamamını kaplayacak şekilde ayarlanıyor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 // tablo için tanımlama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th,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{ // tablo başlığı ve hücreler için tanımlama satırı açılıyor.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border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2.5px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dashed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red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// tablo başlığı ve hücrelere 2.5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pixel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kalınlığında kırmızı kesik çizgili kenarlık tanımlanıyor.</a:t>
            </a:r>
          </a:p>
        </p:txBody>
      </p:sp>
    </p:spTree>
    <p:extLst>
      <p:ext uri="{BB962C8B-B14F-4D97-AF65-F5344CB8AC3E}">
        <p14:creationId xmlns:p14="http://schemas.microsoft.com/office/powerpoint/2010/main" val="770104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Tablolarda Veri Yerleşimi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padding-left:5px; // tablonun ilk satırı ve diğer hücrelere yazılacak verilerin sol kenarlık 5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pixel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boşluk bırakılarak yazılması sağlanıyor.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}tablo başlığı ve hücreler için tanımlama satırı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th { height:50px; // tablo başlığı için tanımlama satırı açılıyor.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text-align:left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// tablo başlığı içindeki verinin sola hizalanması sağlanıyor.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 // tablo başlığı için tanımlama satırı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{ height:30px; // hücreler için tanımla satırı açılıyor ve hücre yüksekliği 30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pixel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olarak ayarlanıyor.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 // hücreler için tanımla satırı kapatılıyor.</a:t>
            </a:r>
          </a:p>
        </p:txBody>
      </p:sp>
    </p:spTree>
    <p:extLst>
      <p:ext uri="{BB962C8B-B14F-4D97-AF65-F5344CB8AC3E}">
        <p14:creationId xmlns:p14="http://schemas.microsoft.com/office/powerpoint/2010/main" val="65549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Tablolarda Veri Yerleşimi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1531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4.11’de Tablolarda veri yerleşimi ile ilgili olarak verilen örnek kodlamayı çalıştırdığınızda Şekil 4.12’de verilen ekran görüntüsünü elde edeceksiniz.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A06964E8-C434-4FCE-B27B-34DC40872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65" y="2551919"/>
            <a:ext cx="6982660" cy="239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133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Formatlarının Düzenlenmesi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Tablolar için stil tanımlaması yapılmasının temel nedeni tüm web sayfası boyunca aynı formatta tablo kullanarak bütünlüğü sağlamaktır.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Ancak bazı durumlarda iki veya daha farklı formatta tablo kullanılması gerekebilir.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tür durumlar için “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attribute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” özelliği sayesinde tablolara kimlik numarası verilerek istenilen tablolara farklı özelliklerin eklenmesi sağlanır.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Normalde bir tablo için stil tanımlaması satırı açmak için “table {“ şeklinde başlayıp tanımlamalar gerçekleştiriliyordu, istediğimiz zaman çağırarak kullanabileceğimiz bir tablo özelliği eklemek istediğimizde “table” belirtiminden sonra “#” işareti ve bir etiket, örneğin “t01” belirtmemiz gerekmektedir.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4.13’te verilen örnekte iki farklı formatta tanımlanan tablo kodlarının ne ifade ettiğini inceleyelim.</a:t>
            </a:r>
          </a:p>
        </p:txBody>
      </p:sp>
    </p:spTree>
    <p:extLst>
      <p:ext uri="{BB962C8B-B14F-4D97-AF65-F5344CB8AC3E}">
        <p14:creationId xmlns:p14="http://schemas.microsoft.com/office/powerpoint/2010/main" val="1019186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Formatlarının Düzenlenmesi</a:t>
            </a:r>
            <a:endParaRPr lang="en-US" sz="3200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F1C245AF-92A6-41D8-B08C-D0A66BA75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965" y="914400"/>
            <a:ext cx="4378271" cy="583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954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Formatlarının Düzenlenmesi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table, th,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{ // 8. satırda tablo, tablo başlığı ve hücreler için tanımlama satırı açılıyor.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border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1px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solid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black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// 9. satırda tablo, tablo başlığı, ve hücre kenarlıkları 1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pixel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sürekli-düz siyah çizgi olarak tanımlanıyor.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border-collapse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collapse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// 10. satırda kenarlıklardan biri çıkartılarak tablo tek kenarlığa düşürülüyor.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 // 11. satırda tablo, tablo başlığı ve hücrelere ilişkin tanımlama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th,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{ // 12. satırda tablo başlığı ve hücrelere ilişkin tanımlama açılıyor.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padding-left:5px; // 13. satırda hücre başlığı ve hücre içindeki verilerin soldan 5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pixel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boşluk kalacak şekilde yerleşimi sağlanıyor.</a:t>
            </a:r>
          </a:p>
        </p:txBody>
      </p:sp>
    </p:spTree>
    <p:extLst>
      <p:ext uri="{BB962C8B-B14F-4D97-AF65-F5344CB8AC3E}">
        <p14:creationId xmlns:p14="http://schemas.microsoft.com/office/powerpoint/2010/main" val="4833074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Formatlarının Düzenlenmesi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text-align:left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// 14. satırda tablo başlığı ve hücreler içindeki verilerin sola hizalanması sağlanıyor.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 // 15. satırda tablo başlığı ve hücrelere ilişkin tanımlama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table#t01 { // 16. satırda tabloya istenildiğinde kullanılmak üzere t01 özelliği tanımlanıyor.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width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100%; // 17. satırda tablo genişliği web sayasının tamamını kaplayacak şekilde ayarlanıyor.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background-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color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yellow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// 18. satırda tablonun arka plan rengi sarı olarak ayarlanıyor.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}// 19. satırda tanımlama kapatılıyor.</a:t>
            </a:r>
          </a:p>
        </p:txBody>
      </p:sp>
    </p:spTree>
    <p:extLst>
      <p:ext uri="{BB962C8B-B14F-4D97-AF65-F5344CB8AC3E}">
        <p14:creationId xmlns:p14="http://schemas.microsoft.com/office/powerpoint/2010/main" val="2121266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Formatlarının Düzenlenmesi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Stil bölümündeki tanımlamalardan sonra body içinde ilgili tablo özelliğinin nasıl çağırıldığına bakacak olursak, kodlamamızda iki tablo bulunduğu görülecektir.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25. Satırda &lt;table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id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=“t01”&gt; // ifadesi ile aşağıda oluşturulacak tabloyu stil bölümünde tanımlanan tablo, tablo başlığı ve hücre özelliklerine ek olarak “t01” özelliği ile kullanmak istediğimizi belirtiyoruz.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İkinci tablomuz ise daha önce gördüğümüz şekilde sadece table, th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ile ilgili olarak stil bölümünde yapılan tanımlamaları kullanmaktadır.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Ancak birinci tablo table, th,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ile ilgili olarak yapılan tanımlamalara ek olarak t01 özelliğini de kullanmaktadır. </a:t>
            </a:r>
          </a:p>
        </p:txBody>
      </p:sp>
    </p:spTree>
    <p:extLst>
      <p:ext uri="{BB962C8B-B14F-4D97-AF65-F5344CB8AC3E}">
        <p14:creationId xmlns:p14="http://schemas.microsoft.com/office/powerpoint/2010/main" val="4135681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Formatlarının Düzenlenmesi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4.14’te verilen ekran görüntüsü farklı tablolara farklı özelliklerin nasıl eklendiğine ilişkin olarak Şekil 4.13’te verilen örnek kodlamanın ekran çıktısını yansıtmaktadır.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79763771-888B-453F-8068-E00B1D096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249" y="2464994"/>
            <a:ext cx="5706271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586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Formatlarının Düzenlenmesi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4572000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Tabloları birbirinden farklı şekilde biçimlendirirken çoğu zaman tablonun arka plan rengini değiştirmekten daha fazlasını yapmak isteriz.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Örneğin, tablo başlıklarının vurgulamasının farklı olması ya da tablodaki tek veya çift numaralı satır renklerinin farklı olması bunlar arasında düşünülebilir.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amaçla hazırlanan Şekil 4.15’teki örnek kodlamayı inceleyelim.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49B15AC2-DFE8-40B9-BF26-18A4CBD13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266" y="989746"/>
            <a:ext cx="4232140" cy="572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3671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Formatlarının Düzenlenmesi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-1" y="876300"/>
            <a:ext cx="9143999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table, th,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{ // 8. satırda tablo, tablo başlığı ve hücreler için tanımlama açılıyor.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border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1px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solid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black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// 9. satırda kenarlık tanımlanıyor.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border-collapse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collapse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;// t10. satırda tablo tek kenarlığa düşürülüyor.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}// 11. satırda tanımlama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th,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{ // 12. satırda tablo başlığı ve hücreler için tanımlama açılıyor.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padding-left:5px; // 13. satırda verilerin soldan 5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pixel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boşluk bırakılarak yazılması sağlanıyor.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text-align:left; // 14. satırda verilerin sola hizalanmış olarak yazılması sağlanıyor.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 // 15. Satırda tanımlama kapatılıyor.</a:t>
            </a:r>
          </a:p>
          <a:p>
            <a:pPr marL="171450" lvl="1">
              <a:spcBef>
                <a:spcPct val="20000"/>
              </a:spcBef>
              <a:buClr>
                <a:srgbClr val="0066CC"/>
              </a:buClr>
              <a:buSzPct val="75000"/>
            </a:pPr>
            <a:endParaRPr lang="tr-TR" dirty="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987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Formatlarının Düzenlenmesi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-1" y="876300"/>
            <a:ext cx="9143999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th { height:50px; // 16. satırda tablo başlığı için tanılama açılıyor ve tablo başlığı satırının yüksekliği 50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pixel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olarak ayarlanıyor.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 // 17. satırda tanımlama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table#t01 { // 18. satırda “t01” ek özelliği için tanımla açılıyor.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width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100%; // 19. satırda tablo genişliğinin web sayfasının tamamını kaplaması sağlanıyor.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}// 20. satırda tanımlama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table#t01 th { // 21. satırda tablo başlığı için “t01” ek özelliği açılıyor.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background-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color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black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// 22. satırda tablo başlığının arka plan rengi siyah olarak ayarlanıyor.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color:white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; // 23. satırda yazı rengi beyaz olarak ayarlanıyor.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 // 24. satırda tanımlama kapatılıyor.</a:t>
            </a:r>
          </a:p>
        </p:txBody>
      </p:sp>
    </p:spTree>
    <p:extLst>
      <p:ext uri="{BB962C8B-B14F-4D97-AF65-F5344CB8AC3E}">
        <p14:creationId xmlns:p14="http://schemas.microsoft.com/office/powerpoint/2010/main" val="10923838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Formatlarının Düzenlenmesi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-1" y="876300"/>
            <a:ext cx="9143999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table#t01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tr:nth-child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odd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{ // 25. satırda tablo satırı için “t01” ek özelliği açılıyor ve “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odd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” ifadesi ile tablonun tek numaralı (1. Satır, 3. Satır, 5. Satır, vb.) satırları için ek özellik tanımlanacağı belirtiliyor.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background-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color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#9ACD32; // 26. satırda kodu verilen (sarı-yeşil) renk tek numaralı satırlar için arka plan rengi olarak ayarlanıyor.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 // 27. satırda tanımlama kapatılıyor.</a:t>
            </a:r>
          </a:p>
        </p:txBody>
      </p:sp>
    </p:spTree>
    <p:extLst>
      <p:ext uri="{BB962C8B-B14F-4D97-AF65-F5344CB8AC3E}">
        <p14:creationId xmlns:p14="http://schemas.microsoft.com/office/powerpoint/2010/main" val="39803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Formatlarının Düzenlenmesi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-1" y="876300"/>
            <a:ext cx="9143999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table#t01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tr:nth-child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even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{ // 28. satırda çift </a:t>
            </a:r>
            <a:r>
              <a:rPr lang="tr-TR">
                <a:solidFill>
                  <a:srgbClr val="000000"/>
                </a:solidFill>
                <a:latin typeface="Arial" pitchFamily="34" charset="0"/>
              </a:rPr>
              <a:t>numaralı satırlar 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için “t01” ek özelliği tanımlanıyor.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background-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color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: #F5DEB3; // 29. satırda çift numaralı satırlar için arka plan rengi buğday rengi (İng.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Wheat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olarak ayarlanıyor.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} // 30. satırda tanımlama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&lt;body&gt; bölümündeki her iki tabloya da ikişer</a:t>
            </a:r>
          </a:p>
        </p:txBody>
      </p:sp>
    </p:spTree>
    <p:extLst>
      <p:ext uri="{BB962C8B-B14F-4D97-AF65-F5344CB8AC3E}">
        <p14:creationId xmlns:p14="http://schemas.microsoft.com/office/powerpoint/2010/main" val="2615044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 Formatlarının Düzenlenmesi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-1" y="876300"/>
            <a:ext cx="9143999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&lt;body&gt; bölümündeki her iki tabloya da ikişer satır daha eklenerek çalıştırıldığında Şekil 4.16’daki ekran görüntüsü elde edilir.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9722C824-372D-421D-AA72-C8AEC4552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340" y="2806531"/>
            <a:ext cx="4715533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361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Tabloların Bölünmesi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-1" y="876300"/>
            <a:ext cx="9143999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Tabloları biçimlendirirken gereksinim duyulan başlıca konulardan birisi de tablo satır ve sütunlarının bölünmesidir.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amaçla iki önemli özellik kullanılmaktadır bunlar: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colspan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rowspan’dir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. “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colspan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” sütunların bölünmesi için kullanılırken “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rowspan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” satırların bölünmesi için kullanılmaktadır.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Öncelikle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colspan’ın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işlevini kavramak için Şekil 4.18’de verilen örnek kodlamayı inceleyelim.</a:t>
            </a:r>
          </a:p>
        </p:txBody>
      </p:sp>
    </p:spTree>
    <p:extLst>
      <p:ext uri="{BB962C8B-B14F-4D97-AF65-F5344CB8AC3E}">
        <p14:creationId xmlns:p14="http://schemas.microsoft.com/office/powerpoint/2010/main" val="38845502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Tabloların Bölünmesi</a:t>
            </a:r>
            <a:endParaRPr lang="en-US" sz="3200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2449044F-8D05-4181-8667-0E203E1DA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154" y="1168241"/>
            <a:ext cx="5315692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127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Tabloların Bölünmesi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-1" y="876300"/>
            <a:ext cx="9143999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4.18’de &lt;body&gt; …&lt;/body&gt; bölümünde tablo yapısı oluşturulurken bir sütunun ikiye bölünmesi işlemi gerçekleştirilmiştir. İlgili bölüm aşağıda açıklanmıştır.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&lt;table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style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=”width:100%”&gt; // 18. satırda web sayfasının tamamını enine kaplayacak tablo tanımlanıyor.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caption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&gt;Tablo 1. Kişisel Bilgiler&lt;/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caption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// 19. satırda tablo başlığı tanımlanıyor.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&lt;tr&gt; // 20. satırda tabloya satır ekleniyor.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&lt;th&gt;Adı Soyadı&lt;/th&gt; // 21. satırda tablonun birinci satırı tablo başlığı olarak tanımlanıyor ve ilk hücreye “Adı Soyadı” verisi giriliyor.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• &lt;th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colspan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=”2”&gt;Telefon Numarası&lt;/th&gt; // 22. satırda ilk satır ikinci hücreye “Telefon Numarası verisi giriliyor ve Telefon numarası ile başlayan sütun iki sütuna bölünüyor.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• &lt;/tr&gt; // 23. satırda tablonun ilk satırı kapatılıyor.</a:t>
            </a:r>
          </a:p>
        </p:txBody>
      </p:sp>
    </p:spTree>
    <p:extLst>
      <p:ext uri="{BB962C8B-B14F-4D97-AF65-F5344CB8AC3E}">
        <p14:creationId xmlns:p14="http://schemas.microsoft.com/office/powerpoint/2010/main" val="31378556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Tabloların Bölünmesi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-1" y="876300"/>
            <a:ext cx="9143999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&lt;/tr&gt; // 23. satırda tablonun ilk satırı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&lt;tr&gt; // 24. satırda tablonun ikinci satırı açılıyor.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Danyal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Kırek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25. satırda tablonun ikinci satır ilk hücresine “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Danyal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Kırek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” verisi giriliyor.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&gt;888 00 001&lt;/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// 26. satırda tablonun ikinci satır ikinci hücresine “888 00 001” verisi giriliyor.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&gt;777 00 002&lt;/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// 27. satırda tablonun ikinci satır üçüncü hücresine “777 00 002” verisi giriliyor.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&lt;/tr&gt; // 28. satırda tablonun ikinci satırı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&lt;/table&gt; // 29. satırda tablo kapatılıyor.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2B1DC21D-31FF-4D69-AE7B-DB878CFFB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751" y="5199086"/>
            <a:ext cx="5382376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328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Tabloların Bölünmesi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-1" y="876300"/>
            <a:ext cx="3624045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Tablolarda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rowspan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işlevini kullanarak satırların nasıl bölündüğünü kavramak için Şekil 4.20’de verilen örnek kodlamayı inceleyelim.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C396E17D-6203-409B-AA1F-5932BE29F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5466" y="802640"/>
            <a:ext cx="5258534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2397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Tabloların Bölünmesi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-1" y="876300"/>
            <a:ext cx="9143999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&lt;table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style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=”width:100%”&gt; // 19. satırda web sayfasının tamamını enine kaplayacak tablo tanımlanıyor.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caption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&gt;Tablo 1. Kişisel Bilgiler&lt;/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caption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// 20. satırda tablo başlığı tanımlanıyor.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&lt;tr&gt; // 21. satırda tabloya satır ekleniyor.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&lt;th&gt;Adı Soyadı&lt;/th&gt; // 22. satırda tablonun ilk satır ilk hücresi tablo başlığı olarak tanımlanıyor ve içine “Adı Soyadı” verisi giriliyor.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Danyal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Kırek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// 23. satırda tablonun ilk satırı ikinci hücresine “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Danyal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Kırek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” verisi giriliyor.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&lt;/tr&gt; // 24. satırda tablonun ilk satırı kapatılıyor.</a:t>
            </a:r>
          </a:p>
        </p:txBody>
      </p:sp>
    </p:spTree>
    <p:extLst>
      <p:ext uri="{BB962C8B-B14F-4D97-AF65-F5344CB8AC3E}">
        <p14:creationId xmlns:p14="http://schemas.microsoft.com/office/powerpoint/2010/main" val="17171170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Tabloların Bölünmesi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-1" y="876300"/>
            <a:ext cx="9143999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&lt;tr&gt; // 25. satırda tablonun ikinci satırı açılıyor.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&lt;th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rowspan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=”2”&gt;Telefon Numarası&lt;/th&gt; // 26. satırda tablonun ikinci satırı ilk hücresi tablo başlığı olarak tanımlanıyor ve bir sonraki hücrenin iki satıra bölünmesini sağlıyor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&gt;888 00 001&lt;/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// 27. satırda ikinci satır ikinci hücrede bölünen ilk hücre “888 00 001” verisi giriliyor.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&lt;/tr&gt; // 28. satırda tablo satırı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&lt;tr&gt; // 29. satırda tablo satırı açılıyor.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&gt;777 00 002&lt;/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td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&gt; // 30. satırda tablonun 3. satırının ilk hücresi olan daha önceden bölünen ikinci hücreye “777 00 002” verisi giriliyor.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&lt;/tr&gt; // 31. satırda tablo satırı kapatılıyor.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&lt;/table&gt; // 32. satırda tablo kapatılıyor.</a:t>
            </a:r>
          </a:p>
        </p:txBody>
      </p:sp>
    </p:spTree>
    <p:extLst>
      <p:ext uri="{BB962C8B-B14F-4D97-AF65-F5344CB8AC3E}">
        <p14:creationId xmlns:p14="http://schemas.microsoft.com/office/powerpoint/2010/main" val="1706073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Tabloların Bölünmesi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-1" y="876300"/>
            <a:ext cx="9143999" cy="572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Şekil 4.20’deki örnek kodlama çalıştırıldığında Şekil 4.21’deki ekran görüntüsü elde edilmektedir.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85A9CD7A-B771-4531-BCD1-91B60F0C7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30" y="2547737"/>
            <a:ext cx="8685936" cy="156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24643"/>
      </p:ext>
    </p:extLst>
  </p:cSld>
  <p:clrMapOvr>
    <a:masterClrMapping/>
  </p:clrMapOvr>
</p:sld>
</file>

<file path=ppt/theme/theme1.xml><?xml version="1.0" encoding="utf-8"?>
<a:theme xmlns:a="http://schemas.openxmlformats.org/drawingml/2006/main" name="1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169318</TotalTime>
  <Words>3346</Words>
  <Application>Microsoft Office PowerPoint</Application>
  <PresentationFormat>Ekran Gösterisi (4:3)</PresentationFormat>
  <Paragraphs>218</Paragraphs>
  <Slides>47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6</vt:i4>
      </vt:variant>
      <vt:variant>
        <vt:lpstr>Slayt Başlıkları</vt:lpstr>
      </vt:variant>
      <vt:variant>
        <vt:i4>47</vt:i4>
      </vt:variant>
    </vt:vector>
  </HeadingPairs>
  <TitlesOfParts>
    <vt:vector size="56" baseType="lpstr">
      <vt:lpstr>Arial</vt:lpstr>
      <vt:lpstr>Times New Roman</vt:lpstr>
      <vt:lpstr>Wingdings</vt:lpstr>
      <vt:lpstr>1_UMd_Draft4-8Oct</vt:lpstr>
      <vt:lpstr>2_UMd_Draft4-8Oct</vt:lpstr>
      <vt:lpstr>3_UMd_Draft4-8Oct</vt:lpstr>
      <vt:lpstr>4_UMd_Draft4-8Oct</vt:lpstr>
      <vt:lpstr>5_UMd_Draft4-8Oct</vt:lpstr>
      <vt:lpstr>15_UMd_Draft4-8Oct</vt:lpstr>
      <vt:lpstr>PowerPoint Sunusu</vt:lpstr>
      <vt:lpstr>Giriş</vt:lpstr>
      <vt:lpstr>Giriş</vt:lpstr>
      <vt:lpstr>Giriş</vt:lpstr>
      <vt:lpstr>Giriş</vt:lpstr>
      <vt:lpstr>Tabloların Tanımlanması</vt:lpstr>
      <vt:lpstr>Tabloların Tanımlanması</vt:lpstr>
      <vt:lpstr>Tabloların Tanımlanması</vt:lpstr>
      <vt:lpstr>Tabloların Tanımlanması</vt:lpstr>
      <vt:lpstr>Tabloların Tanımlanması</vt:lpstr>
      <vt:lpstr>Tabloların Tanımlanması</vt:lpstr>
      <vt:lpstr>Tabloların Stil Kullanılarak Biçimlendirilmesi</vt:lpstr>
      <vt:lpstr>Tabloların Stil Kullanılarak Biçimlendirilmesi</vt:lpstr>
      <vt:lpstr>Tabloların Stil Kullanılarak Biçimlendirilmesi</vt:lpstr>
      <vt:lpstr>Tabloların Stil Kullanılarak Biçimlendirilmesi</vt:lpstr>
      <vt:lpstr>Tablo Kenarlıklarının Oluşturulması</vt:lpstr>
      <vt:lpstr>Tablo Kenarlıklarının Oluşturulması</vt:lpstr>
      <vt:lpstr>Tablo Kenarlıklarının Oluşturulması</vt:lpstr>
      <vt:lpstr>Tablo Kenarlıklarının Oluşturulması</vt:lpstr>
      <vt:lpstr>Tablo Kenarlıklarının Oluşturulması</vt:lpstr>
      <vt:lpstr>Tablo Kenarlıklarının Oluşturulması</vt:lpstr>
      <vt:lpstr>Tablo Kenarlıklarının Oluşturulması</vt:lpstr>
      <vt:lpstr>Tablolarda Veri Yerleşimi</vt:lpstr>
      <vt:lpstr>Tablolarda Veri Yerleşimi</vt:lpstr>
      <vt:lpstr>Tablolarda Veri Yerleşimi</vt:lpstr>
      <vt:lpstr>Tablolarda Veri Yerleşimi</vt:lpstr>
      <vt:lpstr>Tablolarda Veri Yerleşimi</vt:lpstr>
      <vt:lpstr>Tablo Formatlarının Düzenlenmesi</vt:lpstr>
      <vt:lpstr>Tablo Formatlarının Düzenlenmesi</vt:lpstr>
      <vt:lpstr>Tablo Formatlarının Düzenlenmesi</vt:lpstr>
      <vt:lpstr>Tablo Formatlarının Düzenlenmesi</vt:lpstr>
      <vt:lpstr>Tablo Formatlarının Düzenlenmesi</vt:lpstr>
      <vt:lpstr>Tablo Formatlarının Düzenlenmesi</vt:lpstr>
      <vt:lpstr>Tablo Formatlarının Düzenlenmesi</vt:lpstr>
      <vt:lpstr>Tablo Formatlarının Düzenlenmesi</vt:lpstr>
      <vt:lpstr>Tablo Formatlarının Düzenlenmesi</vt:lpstr>
      <vt:lpstr>Tablo Formatlarının Düzenlenmesi</vt:lpstr>
      <vt:lpstr>Tablo Formatlarının Düzenlenmesi</vt:lpstr>
      <vt:lpstr>Tablo Formatlarının Düzenlenmesi</vt:lpstr>
      <vt:lpstr>Tabloların Bölünmesi</vt:lpstr>
      <vt:lpstr>Tabloların Bölünmesi</vt:lpstr>
      <vt:lpstr>Tabloların Bölünmesi</vt:lpstr>
      <vt:lpstr>Tabloların Bölünmesi</vt:lpstr>
      <vt:lpstr>Tabloların Bölünmesi</vt:lpstr>
      <vt:lpstr>Tabloların Bölünmesi</vt:lpstr>
      <vt:lpstr>Tabloların Bölünmesi</vt:lpstr>
      <vt:lpstr>Tabloların Bölünmesi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#1</dc:title>
  <dc:creator>JK/KR, modified by C.Xu/E.Attalla</dc:creator>
  <cp:lastModifiedBy>Zihni KAYA</cp:lastModifiedBy>
  <cp:revision>1266</cp:revision>
  <cp:lastPrinted>2013-04-21T19:31:14Z</cp:lastPrinted>
  <dcterms:created xsi:type="dcterms:W3CDTF">1999-10-08T19:08:27Z</dcterms:created>
  <dcterms:modified xsi:type="dcterms:W3CDTF">2025-10-13T09:20:07Z</dcterms:modified>
</cp:coreProperties>
</file>