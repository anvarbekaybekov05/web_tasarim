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5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1"/>
    <p:sldMasterId id="2147483664" r:id="rId2"/>
    <p:sldMasterId id="2147483787" r:id="rId3"/>
    <p:sldMasterId id="2147483800" r:id="rId4"/>
    <p:sldMasterId id="2147483813" r:id="rId5"/>
    <p:sldMasterId id="2147483826" r:id="rId6"/>
  </p:sldMasterIdLst>
  <p:notesMasterIdLst>
    <p:notesMasterId r:id="rId39"/>
  </p:notesMasterIdLst>
  <p:handoutMasterIdLst>
    <p:handoutMasterId r:id="rId40"/>
  </p:handoutMasterIdLst>
  <p:sldIdLst>
    <p:sldId id="828" r:id="rId7"/>
    <p:sldId id="783" r:id="rId8"/>
    <p:sldId id="785" r:id="rId9"/>
    <p:sldId id="786" r:id="rId10"/>
    <p:sldId id="787" r:id="rId11"/>
    <p:sldId id="788" r:id="rId12"/>
    <p:sldId id="789" r:id="rId13"/>
    <p:sldId id="790" r:id="rId14"/>
    <p:sldId id="791" r:id="rId15"/>
    <p:sldId id="792" r:id="rId16"/>
    <p:sldId id="793" r:id="rId17"/>
    <p:sldId id="794" r:id="rId18"/>
    <p:sldId id="795" r:id="rId19"/>
    <p:sldId id="796" r:id="rId20"/>
    <p:sldId id="797" r:id="rId21"/>
    <p:sldId id="798" r:id="rId22"/>
    <p:sldId id="799" r:id="rId23"/>
    <p:sldId id="800" r:id="rId24"/>
    <p:sldId id="801" r:id="rId25"/>
    <p:sldId id="802" r:id="rId26"/>
    <p:sldId id="803" r:id="rId27"/>
    <p:sldId id="804" r:id="rId28"/>
    <p:sldId id="805" r:id="rId29"/>
    <p:sldId id="806" r:id="rId30"/>
    <p:sldId id="807" r:id="rId31"/>
    <p:sldId id="808" r:id="rId32"/>
    <p:sldId id="809" r:id="rId33"/>
    <p:sldId id="810" r:id="rId34"/>
    <p:sldId id="811" r:id="rId35"/>
    <p:sldId id="812" r:id="rId36"/>
    <p:sldId id="813" r:id="rId37"/>
    <p:sldId id="814" r:id="rId38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kaya" initials="z" lastIdx="4" clrIdx="0">
    <p:extLst>
      <p:ext uri="{19B8F6BF-5375-455C-9EA6-DF929625EA0E}">
        <p15:presenceInfo xmlns:p15="http://schemas.microsoft.com/office/powerpoint/2012/main" userId="zkay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33CCCC"/>
    <a:srgbClr val="CCFFCC"/>
    <a:srgbClr val="FFFFCC"/>
    <a:srgbClr val="CCFFFF"/>
    <a:srgbClr val="FFFF00"/>
    <a:srgbClr val="DDDDDD"/>
    <a:srgbClr val="FFCCFF"/>
    <a:srgbClr val="FF99CC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Açık Stil 2 - Vurgu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012ECD-51FC-41F1-AA8D-1B2483CD663E}" styleName="Açık Stil 2 - Vurgu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1786" autoAdjust="0"/>
  </p:normalViewPr>
  <p:slideViewPr>
    <p:cSldViewPr snapToGrid="0">
      <p:cViewPr varScale="1">
        <p:scale>
          <a:sx n="114" d="100"/>
          <a:sy n="114" d="100"/>
        </p:scale>
        <p:origin x="150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4008" y="120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presProps" Target="presProp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41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088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tr-TR"/>
          </a:p>
        </p:txBody>
      </p:sp>
      <p:sp>
        <p:nvSpPr>
          <p:cNvPr id="131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31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088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E00D6C2-52E2-460C-9B58-3CD61A24B0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66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tr-T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629" y="0"/>
            <a:ext cx="3076671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endParaRPr lang="tr-TR"/>
          </a:p>
        </p:txBody>
      </p:sp>
      <p:sp>
        <p:nvSpPr>
          <p:cNvPr id="890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5957" y="4861781"/>
            <a:ext cx="5207386" cy="4604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56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tr-T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629" y="9723560"/>
            <a:ext cx="3076671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94F9E22C-A560-44E3-9891-E6761E7FE4D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4214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6534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2237"/>
          </a:xfrm>
          <a:prstGeom prst="rect">
            <a:avLst/>
          </a:prstGeom>
        </p:spPr>
        <p:txBody>
          <a:bodyPr/>
          <a:lstStyle>
            <a:lvl1pPr eaLnBrk="0" hangingPunct="0">
              <a:lnSpc>
                <a:spcPct val="100000"/>
              </a:lnSpc>
              <a:spcAft>
                <a:spcPct val="0"/>
              </a:spcAft>
              <a:buFontTx/>
              <a:buNone/>
              <a:defRPr sz="2400">
                <a:solidFill>
                  <a:srgbClr val="000000"/>
                </a:solidFill>
                <a:latin typeface="Times New Roman" pitchFamily="18" charset="0"/>
                <a:ea typeface="+mn-ea"/>
                <a:sym typeface="Times" pitchFamily="60" charset="0"/>
              </a:defRPr>
            </a:lvl1pPr>
          </a:lstStyle>
          <a:p>
            <a:pPr>
              <a:defRPr/>
            </a:pPr>
            <a:fld id="{8BCA47C0-B7EB-403B-A39B-0D22BA9C77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86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2237"/>
          </a:xfrm>
          <a:prstGeom prst="rect">
            <a:avLst/>
          </a:prstGeom>
        </p:spPr>
        <p:txBody>
          <a:bodyPr/>
          <a:lstStyle>
            <a:lvl1pPr eaLnBrk="0" hangingPunct="0">
              <a:lnSpc>
                <a:spcPct val="100000"/>
              </a:lnSpc>
              <a:spcAft>
                <a:spcPct val="0"/>
              </a:spcAft>
              <a:buFontTx/>
              <a:buNone/>
              <a:defRPr sz="2400">
                <a:solidFill>
                  <a:srgbClr val="000000"/>
                </a:solidFill>
                <a:latin typeface="Times New Roman" pitchFamily="18" charset="0"/>
                <a:ea typeface="+mn-ea"/>
                <a:sym typeface="Times" pitchFamily="60" charset="0"/>
              </a:defRPr>
            </a:lvl1pPr>
          </a:lstStyle>
          <a:p>
            <a:pPr>
              <a:defRPr/>
            </a:pPr>
            <a:fld id="{54BBEDAF-4CAD-4687-AECE-1E45E0407E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10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51911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719888"/>
            <a:ext cx="1905000" cy="139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00000"/>
              </a:lnSpc>
              <a:spcBef>
                <a:spcPct val="0"/>
              </a:spcBef>
              <a:defRPr/>
            </a:lvl1pPr>
          </a:lstStyle>
          <a:p>
            <a:pPr>
              <a:spcAft>
                <a:spcPct val="50000"/>
              </a:spcAft>
              <a:buFontTx/>
              <a:buChar char="•"/>
              <a:defRPr/>
            </a:pPr>
            <a:fld id="{0F005141-3E15-4B0D-989A-F17E2C0B290D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 dirty="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62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52255F62-7E68-45B6-B8BB-EE0FA6E0AE28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99"/>
          <p:cNvSpPr txBox="1">
            <a:spLocks noChangeArrowheads="1"/>
          </p:cNvSpPr>
          <p:nvPr userDrawn="1"/>
        </p:nvSpPr>
        <p:spPr>
          <a:xfrm>
            <a:off x="0" y="6604000"/>
            <a:ext cx="9144000" cy="254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None/>
              <a:defRPr sz="1200" b="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1400" dirty="0">
              <a:solidFill>
                <a:srgbClr val="33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8260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787566AF-3F22-4EEC-ADED-0001FD731C9E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06148"/>
            <a:ext cx="7772400" cy="400752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5414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9953" y="1524003"/>
            <a:ext cx="3624263" cy="28629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524003"/>
            <a:ext cx="3624262" cy="28629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AECD2814-999E-4032-906C-2175D48D7071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319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43240"/>
            <a:ext cx="4040188" cy="8316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21243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343240"/>
            <a:ext cx="4041775" cy="8316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21243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F53B03B3-6070-425A-B684-6AF20A3CD5E1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8" name="Rectangle 19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136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9C0316F6-F3E1-4B87-BA86-E40838D53467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13760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CB335D22-03A4-4154-A105-3651724AD019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190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6"/>
            <a:ext cx="5111750" cy="27767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6"/>
            <a:ext cx="3008313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AB0EDAF9-0480-4BA6-8E13-B61891626FB5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" name="Rectangle 19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7783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58541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3"/>
            <a:ext cx="5486400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7DD5AB4A-A33A-4525-8D78-3D63E3001279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" name="Rectangle 19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2768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D1CE32CB-7F51-480E-A104-8947DCC1C2AC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2001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074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51911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719888"/>
            <a:ext cx="1905000" cy="139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00000"/>
              </a:lnSpc>
              <a:spcBef>
                <a:spcPct val="0"/>
              </a:spcBef>
              <a:defRPr/>
            </a:lvl1pPr>
          </a:lstStyle>
          <a:p>
            <a:pPr>
              <a:spcAft>
                <a:spcPct val="50000"/>
              </a:spcAft>
              <a:buFontTx/>
              <a:buChar char="•"/>
              <a:defRPr/>
            </a:pPr>
            <a:fld id="{18AB817D-8C5B-4BCE-B44B-882C88C9BF9B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546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852D630E-1F6A-4FB2-A386-9A349C5B3F66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98423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5073B400-6E83-48BF-87B6-725E47C03D88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199"/>
          <p:cNvSpPr txBox="1">
            <a:spLocks noChangeArrowheads="1"/>
          </p:cNvSpPr>
          <p:nvPr userDrawn="1"/>
        </p:nvSpPr>
        <p:spPr>
          <a:xfrm>
            <a:off x="0" y="6604000"/>
            <a:ext cx="9144000" cy="254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None/>
              <a:defRPr sz="1200" b="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400" dirty="0">
                <a:solidFill>
                  <a:srgbClr val="336699"/>
                </a:solidFill>
              </a:rPr>
              <a:t>ue.aydin.edu.tr</a:t>
            </a:r>
          </a:p>
        </p:txBody>
      </p:sp>
    </p:spTree>
    <p:extLst>
      <p:ext uri="{BB962C8B-B14F-4D97-AF65-F5344CB8AC3E}">
        <p14:creationId xmlns:p14="http://schemas.microsoft.com/office/powerpoint/2010/main" val="6511659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41026968-BEFE-44F1-97B6-7E577FCA360F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7427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6"/>
            <a:ext cx="5111750" cy="27767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6"/>
            <a:ext cx="3008313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07D3A64E-D33D-44D4-B6C2-F6248345F7F2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3483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58541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3"/>
            <a:ext cx="5486400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42913ACF-11A0-4838-B2F0-D74E91052A91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9978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-101927" y="1524000"/>
            <a:ext cx="8372805" cy="19827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124045F6-0237-4FB2-9E43-F13F9F29C4D7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3619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08725" y="-38100"/>
            <a:ext cx="1981200" cy="3544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31275" y="-38100"/>
            <a:ext cx="2525050" cy="3544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2DEE1EEE-97C2-4C42-B32D-7B7D93AEEBD3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064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815C9AE7-7D7A-439A-A584-208B138EA1A9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2001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23253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51911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721475"/>
            <a:ext cx="1905000" cy="136525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00000"/>
              </a:lnSpc>
              <a:spcBef>
                <a:spcPct val="0"/>
              </a:spcBef>
              <a:defRPr b="1"/>
            </a:lvl1pPr>
          </a:lstStyle>
          <a:p>
            <a:pPr>
              <a:defRPr/>
            </a:pPr>
            <a:fld id="{74034AEE-21EC-4108-831A-6EA98F8DFE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7086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defRPr/>
            </a:pPr>
            <a:fld id="{66D4143D-D413-4B65-BE5B-68ED75509604}" type="slidenum">
              <a:rPr lang="en-US" altLang="tr-TR" sz="1400" smtClean="0">
                <a:solidFill>
                  <a:srgbClr val="000000"/>
                </a:solidFill>
                <a:latin typeface="Arial" panose="020B0604020202020204" pitchFamily="34" charset="0"/>
                <a:ea typeface="ヒラギノ明朝 ProN W3"/>
                <a:cs typeface="ヒラギノ明朝 ProN W3"/>
                <a:sym typeface="Times" panose="02020603050405020304" pitchFamily="18" charset="0"/>
              </a:rPr>
              <a:pPr algn="r">
                <a:defRPr/>
              </a:pPr>
              <a:t>‹#›</a:t>
            </a:fld>
            <a:endParaRPr lang="en-US" altLang="tr-TR" sz="1400" dirty="0">
              <a:solidFill>
                <a:srgbClr val="000000"/>
              </a:solidFill>
              <a:latin typeface="Arial" panose="020B0604020202020204" pitchFamily="34" charset="0"/>
              <a:ea typeface="ヒラギノ明朝 ProN W3"/>
              <a:cs typeface="ヒラギノ明朝 ProN W3"/>
              <a:sym typeface="Times" panose="02020603050405020304" pitchFamily="18" charset="0"/>
            </a:endParaRP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00F5F935-ABB1-4E93-AEFD-0D4486CAD2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fld id="{8BDC377B-EC9C-4253-A88C-5B0E49C4E108}" type="slidenum">
              <a:rPr lang="en-US" smtClean="0">
                <a:latin typeface="Arial" pitchFamily="34" charset="0"/>
              </a:rPr>
              <a:pPr>
                <a:lnSpc>
                  <a:spcPct val="90000"/>
                </a:lnSpc>
                <a:defRPr/>
              </a:pPr>
              <a:t>‹#›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4218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30516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9950" y="1524000"/>
            <a:ext cx="3624263" cy="19827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524000"/>
            <a:ext cx="3624262" cy="19827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329580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185941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09989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3506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2075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93420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26923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08725" y="-38100"/>
            <a:ext cx="1981200" cy="3544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5125" y="-38100"/>
            <a:ext cx="5791200" cy="3544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314811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3544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049963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9611675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68748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32842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3544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292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38100"/>
            <a:ext cx="91440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207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205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EABF3948-6436-4873-87BF-0CE3FE2D4B8E}" type="slidenum">
              <a:rPr lang="en-US" sz="1400" smtClean="0">
                <a:solidFill>
                  <a:srgbClr val="000000"/>
                </a:solidFill>
                <a:latin typeface="Arial" pitchFamily="34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pitchFamily="34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079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 sz="2000"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 sz="2000"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3076" name="Line 5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en-US" sz="22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3077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1DA75B1C-1FC8-4677-A6B8-31AFE1B3CD3C}" type="slidenum">
              <a:rPr lang="en-US" sz="1400" smtClean="0">
                <a:solidFill>
                  <a:srgbClr val="000000"/>
                </a:solidFill>
                <a:latin typeface="Arial" pitchFamily="34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 dirty="0">
              <a:solidFill>
                <a:srgbClr val="000000"/>
              </a:solidFill>
              <a:latin typeface="Arial" pitchFamily="34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82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1028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846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9" r:id="rId10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1028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262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694488"/>
            <a:ext cx="260350" cy="12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spcBef>
                <a:spcPct val="30000"/>
              </a:spcBef>
              <a:spcAft>
                <a:spcPct val="0"/>
              </a:spcAft>
              <a:buFontTx/>
              <a:buNone/>
              <a:defRPr sz="900" b="0">
                <a:solidFill>
                  <a:srgbClr val="000000"/>
                </a:solidFill>
              </a:defRPr>
            </a:lvl1pPr>
          </a:lstStyle>
          <a:p>
            <a:pPr>
              <a:lnSpc>
                <a:spcPct val="90000"/>
              </a:lnSpc>
              <a:defRPr/>
            </a:pPr>
            <a:fld id="{8BDC377B-EC9C-4253-A88C-5B0E49C4E108}" type="slidenum">
              <a:rPr lang="en-US">
                <a:latin typeface="Arial" pitchFamily="34" charset="0"/>
              </a:rPr>
              <a:pPr>
                <a:lnSpc>
                  <a:spcPct val="90000"/>
                </a:lnSpc>
                <a:defRPr/>
              </a:pPr>
              <a:t>‹#›</a:t>
            </a:fld>
            <a:endParaRPr lang="en-US">
              <a:latin typeface="Arial" pitchFamily="34" charset="0"/>
            </a:endParaRPr>
          </a:p>
        </p:txBody>
      </p:sp>
      <p:sp>
        <p:nvSpPr>
          <p:cNvPr id="9221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tr-TR" sz="2200" b="1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4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 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694488"/>
            <a:ext cx="260350" cy="12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Tx/>
              <a:buNone/>
              <a:defRPr sz="900" b="0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08E6CDD4-4A55-4656-9F51-403AD196A1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197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sz="1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217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32" r:id="rId2"/>
    <p:sldLayoutId id="2147483835" r:id="rId3"/>
    <p:sldLayoutId id="2147483838" r:id="rId4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anose="05000000000000000000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anose="05000000000000000000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anose="05000000000000000000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3" name="Rectangle 3"/>
          <p:cNvSpPr>
            <a:spLocks noChangeArrowheads="1"/>
          </p:cNvSpPr>
          <p:nvPr/>
        </p:nvSpPr>
        <p:spPr bwMode="auto">
          <a:xfrm>
            <a:off x="0" y="698500"/>
            <a:ext cx="9144000" cy="240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endParaRPr lang="tr-TR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tr-TR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Tasarım ve Programlama</a:t>
            </a:r>
          </a:p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sz="2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tr-TR" altLang="tr-TR" sz="3200" b="1" dirty="0" err="1">
                <a:solidFill>
                  <a:srgbClr val="0070C0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PHP’ye</a:t>
            </a:r>
            <a:r>
              <a:rPr lang="tr-TR" altLang="tr-TR" sz="3200" b="1" dirty="0">
                <a:solidFill>
                  <a:srgbClr val="0070C0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 Giriş</a:t>
            </a:r>
            <a:endParaRPr kumimoji="0" lang="en-US" altLang="tr-TR" sz="2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79C63A1D-0907-4A02-A70F-DA401177A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227725"/>
            <a:ext cx="9144000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tr-TR" altLang="tr-TR" b="1" dirty="0">
                <a:solidFill>
                  <a:srgbClr val="336699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Dr. </a:t>
            </a:r>
            <a:r>
              <a:rPr lang="tr-TR" altLang="tr-TR" b="1" dirty="0" err="1">
                <a:solidFill>
                  <a:srgbClr val="336699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Öğr</a:t>
            </a:r>
            <a:r>
              <a:rPr lang="tr-TR" altLang="tr-TR" b="1" dirty="0">
                <a:solidFill>
                  <a:srgbClr val="336699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. Üyesi</a:t>
            </a:r>
            <a:r>
              <a:rPr kumimoji="0" lang="tr-TR" altLang="tr-TR" b="1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. Zihni KAYA</a:t>
            </a:r>
            <a:endParaRPr kumimoji="0" lang="en-US" altLang="tr-TR" b="1" i="0" u="none" strike="noStrike" kern="1200" cap="none" spc="0" normalizeH="0" baseline="0" noProof="0" dirty="0">
              <a:ln>
                <a:noFill/>
              </a:ln>
              <a:solidFill>
                <a:srgbClr val="336699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tr-TR" sz="2000" b="1" dirty="0">
              <a:solidFill>
                <a:srgbClr val="336699"/>
              </a:solidFill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tr-TR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Uygulamal</a:t>
            </a:r>
            <a:r>
              <a:rPr kumimoji="0" lang="tr-TR" altLang="tr-TR" sz="2000" b="1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ı</a:t>
            </a:r>
            <a:r>
              <a:rPr kumimoji="0" lang="en-US" altLang="tr-TR" sz="2000" b="1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 </a:t>
            </a:r>
            <a:r>
              <a:rPr kumimoji="0" lang="en-US" altLang="tr-TR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Bilimler</a:t>
            </a:r>
            <a:r>
              <a:rPr kumimoji="0" lang="en-US" altLang="tr-TR" sz="2000" b="1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 </a:t>
            </a:r>
            <a:r>
              <a:rPr kumimoji="0" lang="en-US" altLang="tr-TR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Fakültesi</a:t>
            </a:r>
            <a:r>
              <a:rPr kumimoji="0" lang="tr-TR" altLang="tr-TR" sz="2000" b="1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, Yönetim Bilişim </a:t>
            </a:r>
            <a:r>
              <a:rPr lang="tr-TR" altLang="tr-TR" sz="2000" b="1" dirty="0">
                <a:solidFill>
                  <a:srgbClr val="336699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S</a:t>
            </a:r>
            <a:r>
              <a:rPr kumimoji="0" lang="tr-TR" altLang="tr-TR" sz="2000" b="1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istemleri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altLang="tr-TR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zihnikaya</a:t>
            </a:r>
            <a:r>
              <a:rPr kumimoji="0" lang="tr-TR" altLang="tr-TR" sz="2000" b="1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@</a:t>
            </a:r>
            <a:r>
              <a:rPr kumimoji="0" lang="en-US" altLang="tr-TR" sz="2000" b="1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aydin.edu.tr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tr-TR" sz="2000" b="1" i="0" u="none" strike="noStrike" kern="1200" cap="none" spc="0" normalizeH="0" baseline="0" noProof="0" dirty="0">
              <a:ln>
                <a:noFill/>
              </a:ln>
              <a:solidFill>
                <a:srgbClr val="336699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tr-TR" sz="2000" b="1" i="0" u="none" strike="noStrike" kern="1200" cap="none" spc="0" normalizeH="0" baseline="0" noProof="0" dirty="0">
              <a:ln>
                <a:noFill/>
              </a:ln>
              <a:solidFill>
                <a:srgbClr val="336699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A95D6CDF-BED1-4B82-A5D5-5C5AD07AAF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60" y="5399328"/>
            <a:ext cx="3520063" cy="113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15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Giriş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Web sayfaları dinamik ve statik olmak üzere ikiye ayrılır. Statik sayfalar oluşturulurken doğrudan html yapısı kullanılır.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sayfaların değiştirilmesi için mutlaka web sitesini tasarlayan kişi ya da kişilerin doğrudan bir editör yazılımı ile müdahalesi şarttır.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Dinamik sayfalar sunucu (server) ismi verilen yazılım ve donanım tarafından, web sitesi kullanıcısının istekleri doğrultusunda html kodları üretebilen yapılardır.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PHP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Hypertext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Preprocessor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), bu şekilde sayfalar oluşturmaya olanak tanıyan, dünyada yaygın olarak kullanılan, sunucu üzerinde çalışan ücretsiz bir betik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script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 dilidir. Temeli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Perl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adı verilen bir programlama diline dayanır.</a:t>
            </a:r>
          </a:p>
        </p:txBody>
      </p:sp>
    </p:spTree>
    <p:extLst>
      <p:ext uri="{BB962C8B-B14F-4D97-AF65-F5344CB8AC3E}">
        <p14:creationId xmlns:p14="http://schemas.microsoft.com/office/powerpoint/2010/main" val="842892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Giriş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PHP dosyaları; metin, HTML, CSS,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JavaScript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ve PHP kodları içerebilir.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PHP kodları sunucu üzerinde çalışır.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Sonuçlar sıradan bir browser tarafından görüntülenebilen HTML kodları şeklinde döndürülür.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PHP dosyalarının uzantısı mutlaka “.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php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” olmalıdır.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PHP dinamik sayfa içeriği üretebilir. Sunucu üzerinde dosya oluşturabilir, açabilir, okuyabilir, yazabilir, silebilir ve kapatabilir. Form verilerini toplayabilir.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Çerez gönderebilir ve alabilir.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Veritabanına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veri ekleyebilir, silebilir ya da düzenleyebilir.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Kullanıcı erişimli kontroller ve şifrelenmiş veri yapısını kullanabilir.</a:t>
            </a:r>
          </a:p>
        </p:txBody>
      </p:sp>
    </p:spTree>
    <p:extLst>
      <p:ext uri="{BB962C8B-B14F-4D97-AF65-F5344CB8AC3E}">
        <p14:creationId xmlns:p14="http://schemas.microsoft.com/office/powerpoint/2010/main" val="3367343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Giriş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PHP çok farklı platformlarda çalışır. (Windows, Linux, Unix, Mac OS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vs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…)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Birçok web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sunucusula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uyumludur.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Apache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, IIS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vs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…) Neredeyse tüm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veritabanlarını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destekler.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PHP ücretsizdir. Resmi PHP sitesinden rahatlıkla indirilebilir (www.php.net) Öğrenmesi ve sunucu taraflı çalıştırılması oldukça kolaydır.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PHP çalışmanız için ya PHP ve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MySQL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desteği olan bir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hosting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hizmeti almalısınız, ya da kendi bilgisayarınıza PHP ve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MySQL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desteği olan bir web sunucu kurmalısınız.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Çalışmalarınızda rahat etmek için kendi bilgisayarınıza kurmanız daha verimli olacaktır.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PHP betiği sunucu üzerinde çalıştırılır. Sunucu çalıştırdığı kodlara ilişkin sonuçları HTML olarak tarayıcıya gönderir</a:t>
            </a:r>
          </a:p>
        </p:txBody>
      </p:sp>
    </p:spTree>
    <p:extLst>
      <p:ext uri="{BB962C8B-B14F-4D97-AF65-F5344CB8AC3E}">
        <p14:creationId xmlns:p14="http://schemas.microsoft.com/office/powerpoint/2010/main" val="4024785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PHP Kodlama Kuralları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53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PHP betiği belgenin herhangi bir yerine yazılabilir. Mutlaka “&lt;?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php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” ile başlamalı ve “?&gt;” ile bitmelidir.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182467"/>
            <a:ext cx="8305101" cy="120032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// PHP Kodları buraya yazılır</a:t>
            </a: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4000" dirty="0"/>
          </a:p>
        </p:txBody>
      </p:sp>
    </p:spTree>
    <p:extLst>
      <p:ext uri="{BB962C8B-B14F-4D97-AF65-F5344CB8AC3E}">
        <p14:creationId xmlns:p14="http://schemas.microsoft.com/office/powerpoint/2010/main" val="1278896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PHP Kodlama Kuralları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335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Varsayılan dosya uzantısı “.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php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”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dir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Sıradan bir PHP dosyası HTML etiketleri ve PHP betik kodları içerir.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Aşağıda sıradan bir PHP dosyası görmektesiniz. “echo” komutu “Merhaba Dünya” yazısının ekrana yazılmasını sağlayan PHP komutudur.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PHP komutlarının en sonunda noktalı virgül “;” olmak zorundadır.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4144161"/>
            <a:ext cx="8305101" cy="255454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&lt;html&gt;</a:t>
            </a:r>
          </a:p>
          <a:p>
            <a:r>
              <a:rPr lang="tr-TR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&lt;body&gt;</a:t>
            </a:r>
          </a:p>
          <a:p>
            <a:r>
              <a:rPr lang="pt-BR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&lt;h1&gt;</a:t>
            </a:r>
            <a:r>
              <a:rPr lang="pt-BR" sz="2000" b="1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Bu benim ilk php kodum</a:t>
            </a:r>
            <a:r>
              <a:rPr lang="pt-BR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&lt;/h1&gt;</a:t>
            </a:r>
          </a:p>
          <a:p>
            <a:r>
              <a:rPr lang="tr-TR" sz="2000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sz="2000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sz="2000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sz="2000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sz="2000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"Merhaba</a:t>
            </a:r>
            <a:r>
              <a:rPr lang="tr-TR" sz="20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 Dünya!"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sz="2000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</a:p>
          <a:p>
            <a:r>
              <a:rPr lang="tr-TR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&lt;/body&gt;</a:t>
            </a:r>
          </a:p>
          <a:p>
            <a:r>
              <a:rPr lang="tr-TR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&lt;/html&gt;</a:t>
            </a:r>
            <a:endParaRPr lang="tr-TR" sz="4400" dirty="0"/>
          </a:p>
        </p:txBody>
      </p:sp>
    </p:spTree>
    <p:extLst>
      <p:ext uri="{BB962C8B-B14F-4D97-AF65-F5344CB8AC3E}">
        <p14:creationId xmlns:p14="http://schemas.microsoft.com/office/powerpoint/2010/main" val="2321722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PHP içindeki Yorum Satırları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22276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Programlama yapılırken yorum satırları kullanmak programlamanın anlaşılması ve hatırlanması için önemlidir.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Yorum satırları sunucu tarafından görmezden gelinen satırlardır. PHP’de farklı yöntemlerle yorum satırı oluşturulabilir.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528506" y="2764572"/>
            <a:ext cx="8305101" cy="409342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sz="2000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sz="2000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sz="2000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sz="2000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// Tek satırdan oluşan yorum satırı</a:t>
            </a:r>
          </a:p>
          <a:p>
            <a:r>
              <a:rPr lang="tr-TR" sz="2000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# Diyez işareti de tek satırdan oluşan yorum satırı için kullanılabilir.</a:t>
            </a:r>
          </a:p>
          <a:p>
            <a:r>
              <a:rPr lang="tr-TR" sz="2000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/*</a:t>
            </a:r>
          </a:p>
          <a:p>
            <a:r>
              <a:rPr lang="tr-TR" sz="2000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Burada birden fazla</a:t>
            </a:r>
          </a:p>
          <a:p>
            <a:r>
              <a:rPr lang="tr-TR" sz="2000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yorum satırı yazmak için</a:t>
            </a:r>
          </a:p>
          <a:p>
            <a:r>
              <a:rPr lang="tr-TR" sz="2000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bir yöntem görüyorsunuz.</a:t>
            </a:r>
          </a:p>
          <a:p>
            <a:r>
              <a:rPr lang="tr-TR" sz="2000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*/</a:t>
            </a:r>
          </a:p>
          <a:p>
            <a:r>
              <a:rPr lang="tr-TR" sz="2000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// Yorumunuzu doğrudan kodun içine de gömebilirsiniz.</a:t>
            </a:r>
          </a:p>
          <a:p>
            <a:r>
              <a:rPr lang="tr-TR" sz="2000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$x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sz="2000" b="0" i="0" u="none" strike="noStrike" baseline="0" dirty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tr-TR" sz="2000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/* + 15 */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+</a:t>
            </a:r>
            <a:r>
              <a:rPr lang="tr-TR" sz="2000" b="0" i="0" u="none" strike="noStrike" baseline="0" dirty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e</a:t>
            </a:r>
            <a:r>
              <a:rPr lang="tr-TR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cho </a:t>
            </a:r>
            <a:r>
              <a:rPr lang="tr-TR" sz="2000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$x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sz="2000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642603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PHP’nin Büyük/Küçük Harf Duyarlılığı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37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PHP’nin komutları, sınıfları, fonksiyonları ya da kullanıcı tanımlı fonksiyonları büyük/küçük harf duyarlı değildir.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Yani ister büyük harf ya da küçük harfle yazabilirsiniz.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78172" y="2428361"/>
            <a:ext cx="8305101" cy="34163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&lt;html&gt;</a:t>
            </a:r>
          </a:p>
          <a:p>
            <a:r>
              <a:rPr lang="tr-TR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&lt;body&gt;</a:t>
            </a: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"Merhaba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 Dünya!&lt;</a:t>
            </a:r>
            <a:r>
              <a:rPr lang="tr-TR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br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&gt;"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"Merhaba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 Dünya!&lt;</a:t>
            </a:r>
            <a:r>
              <a:rPr lang="tr-TR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br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&gt;"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"Merhaba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 Dünya!&lt;</a:t>
            </a:r>
            <a:r>
              <a:rPr lang="tr-TR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br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&gt;"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</a:p>
          <a:p>
            <a:r>
              <a:rPr lang="tr-TR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&lt;/body&gt;</a:t>
            </a:r>
          </a:p>
          <a:p>
            <a:r>
              <a:rPr lang="tr-TR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&lt;/html&gt;</a:t>
            </a:r>
            <a:endParaRPr lang="tr-TR" sz="2800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6373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PHP’nin Büyük/Küçük Harf Duyarlılığı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2739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Buna karşın değişken isimleri büyük/küçük harf duyarlıdır. Yani değişkeni ne şekilde tanımlamışsanız o şekilde çağırmalısınız.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Dikkat ederseniz değişken çağrılırken $renk, $RENK, $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reNK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kullanılmıştır. Sadece ilk satırdaki renk yazdırılmıştır. Çünkü bilgisayar tarafından $renk, $RENK, $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reNK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üç farklı değişken olarak değerlendirilmiştir.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3615655"/>
            <a:ext cx="8305101" cy="317009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&lt;html&gt;</a:t>
            </a:r>
          </a:p>
          <a:p>
            <a:r>
              <a:rPr lang="tr-TR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&lt;body&gt;</a:t>
            </a:r>
          </a:p>
          <a:p>
            <a:r>
              <a:rPr lang="tr-TR" sz="2000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sz="2000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sz="2000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sz="2000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$renk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sz="20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"siyah"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sz="2000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sz="2000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"Arabam</a:t>
            </a:r>
            <a:r>
              <a:rPr lang="tr-TR" sz="20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 "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.</a:t>
            </a:r>
            <a:r>
              <a:rPr lang="tr-TR" sz="2000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$renk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.</a:t>
            </a:r>
            <a:r>
              <a:rPr lang="tr-TR" sz="20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"&lt;</a:t>
            </a:r>
            <a:r>
              <a:rPr lang="tr-TR" sz="2000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br</a:t>
            </a:r>
            <a:r>
              <a:rPr lang="tr-TR" sz="20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&gt;"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sz="2000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sz="2000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"Arabam</a:t>
            </a:r>
            <a:r>
              <a:rPr lang="tr-TR" sz="20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 "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.</a:t>
            </a:r>
            <a:r>
              <a:rPr lang="tr-TR" sz="2000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$RENK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.</a:t>
            </a:r>
            <a:r>
              <a:rPr lang="tr-TR" sz="20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"&lt;</a:t>
            </a:r>
            <a:r>
              <a:rPr lang="tr-TR" sz="2000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br</a:t>
            </a:r>
            <a:r>
              <a:rPr lang="tr-TR" sz="20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&gt;"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sz="2000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sz="2000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"Tarzım</a:t>
            </a:r>
            <a:r>
              <a:rPr lang="tr-TR" sz="20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 "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.</a:t>
            </a:r>
            <a:r>
              <a:rPr lang="tr-TR" sz="2000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</a:t>
            </a:r>
            <a:r>
              <a:rPr lang="tr-TR" sz="2000" b="0" i="0" u="none" strike="noStrike" baseline="0" dirty="0" err="1">
                <a:solidFill>
                  <a:srgbClr val="000080"/>
                </a:solidFill>
                <a:latin typeface="Courier New" panose="02070309020205020404" pitchFamily="49" charset="0"/>
              </a:rPr>
              <a:t>reNK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.</a:t>
            </a:r>
            <a:r>
              <a:rPr lang="tr-TR" sz="20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"&lt;</a:t>
            </a:r>
            <a:r>
              <a:rPr lang="tr-TR" sz="2000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br</a:t>
            </a:r>
            <a:r>
              <a:rPr lang="tr-TR" sz="20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&gt;"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sz="2000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</a:p>
          <a:p>
            <a:r>
              <a:rPr lang="tr-TR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&lt;/body&gt;</a:t>
            </a:r>
          </a:p>
          <a:p>
            <a:r>
              <a:rPr lang="tr-TR" sz="20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&lt;/html&gt;</a:t>
            </a:r>
            <a:endParaRPr lang="tr-TR" sz="3200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773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Değişken Tanımlama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2739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PHP’de değişkenler mutlaka $ (dolar) işaretiyle başlar.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1887523"/>
            <a:ext cx="8305101" cy="193899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$metin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"Merhaba dünya!"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$x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0" i="0" u="none" strike="noStrike" baseline="0" dirty="0">
                <a:solidFill>
                  <a:srgbClr val="FF8000"/>
                </a:solidFill>
                <a:latin typeface="Courier New" panose="02070309020205020404" pitchFamily="49" charset="0"/>
              </a:rPr>
              <a:t>7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$y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0" i="0" u="none" strike="noStrike" baseline="0" dirty="0">
                <a:solidFill>
                  <a:srgbClr val="FF8000"/>
                </a:solidFill>
                <a:latin typeface="Courier New" panose="02070309020205020404" pitchFamily="49" charset="0"/>
              </a:rPr>
              <a:t>9.33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4000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F7A1325A-CFFD-4014-88E9-0EF4624998F8}"/>
              </a:ext>
            </a:extLst>
          </p:cNvPr>
          <p:cNvSpPr txBox="1"/>
          <p:nvPr/>
        </p:nvSpPr>
        <p:spPr>
          <a:xfrm>
            <a:off x="329268" y="4042707"/>
            <a:ext cx="83952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Yukarıdaki örnek kodlarda $metin değişkeninin değeri “Merhaba dünya!”, $x değişkeninin değeri “7 sayısı”, $y değişkeninin değeri “9,33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sayısı”dır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1538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Değişken Tanımlama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Diğer programlama dillerinin aksine, PHP’de program içinde kullanılacak değişkenler önceden bildirilmez. Değişkene değer atandığı anda değişken oluşturulmuş olur.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değişkene metin değeri atarken mutlaka atanan metnin tırnak içinde yazılması gerekir.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Değişken tanımlama kurallarını kısaca toparlayacak olursak;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sz="2300" dirty="0">
                <a:solidFill>
                  <a:srgbClr val="000000"/>
                </a:solidFill>
                <a:latin typeface="Arial" pitchFamily="34" charset="0"/>
              </a:rPr>
              <a:t>Değişken $(dolar) işaretiyle başlamalıdır.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sz="2300" dirty="0">
                <a:solidFill>
                  <a:srgbClr val="000000"/>
                </a:solidFill>
                <a:latin typeface="Arial" pitchFamily="34" charset="0"/>
              </a:rPr>
              <a:t>Değişken ismi mutlaka bir harf ya da alt çizgi (_) ile başlamalıdır.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sz="2300" dirty="0">
                <a:solidFill>
                  <a:srgbClr val="000000"/>
                </a:solidFill>
                <a:latin typeface="Arial" pitchFamily="34" charset="0"/>
              </a:rPr>
              <a:t>Değişken isminde sayılar geçebilir, ancak sayıyla başlayamaz.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sz="2300" dirty="0">
                <a:solidFill>
                  <a:srgbClr val="000000"/>
                </a:solidFill>
                <a:latin typeface="Arial" pitchFamily="34" charset="0"/>
              </a:rPr>
              <a:t>Türkçe ve özel karakterler içeremez. (Ç, ç, İ, Ö, ö, Ü, ü, Ğ, ğ, Ş, ş, !, +, - </a:t>
            </a:r>
            <a:r>
              <a:rPr lang="tr-TR" sz="2300" dirty="0" err="1">
                <a:solidFill>
                  <a:srgbClr val="000000"/>
                </a:solidFill>
                <a:latin typeface="Arial" pitchFamily="34" charset="0"/>
              </a:rPr>
              <a:t>vs</a:t>
            </a:r>
            <a:r>
              <a:rPr lang="tr-TR" sz="2300" dirty="0">
                <a:solidFill>
                  <a:srgbClr val="000000"/>
                </a:solidFill>
                <a:latin typeface="Arial" pitchFamily="34" charset="0"/>
              </a:rPr>
              <a:t>…)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sz="2300" dirty="0">
                <a:solidFill>
                  <a:srgbClr val="000000"/>
                </a:solidFill>
                <a:latin typeface="Arial" pitchFamily="34" charset="0"/>
              </a:rPr>
              <a:t>Büyük/küçük harf duyarlıdır. ($hesap ve $HESAP farklı değişkenlerdir.)</a:t>
            </a:r>
          </a:p>
        </p:txBody>
      </p:sp>
    </p:spTree>
    <p:extLst>
      <p:ext uri="{BB962C8B-B14F-4D97-AF65-F5344CB8AC3E}">
        <p14:creationId xmlns:p14="http://schemas.microsoft.com/office/powerpoint/2010/main" val="3622319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Değişken Çıktıları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1841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PHP’de echo ifadesi ekranda çıktı görmek için en fazla kullanılan ifadedir.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Aşağıda bir değişkenin değerinin metin içinde nasıl gösterileceğini görüyorsunuz.</a:t>
            </a:r>
            <a:endParaRPr lang="tr-TR" sz="2300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F3FE4AC8-4A37-4BE5-A36A-5B279E525A84}"/>
              </a:ext>
            </a:extLst>
          </p:cNvPr>
          <p:cNvSpPr txBox="1"/>
          <p:nvPr/>
        </p:nvSpPr>
        <p:spPr>
          <a:xfrm>
            <a:off x="352337" y="2791693"/>
            <a:ext cx="8305101" cy="156966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$metin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"İİBF"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"Benim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 fakültem </a:t>
            </a:r>
            <a:r>
              <a:rPr lang="tr-TR" b="1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$metin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!"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4800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8913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Değişken Çıktıları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1841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İki değişkenin toplam değerini aşağıdaki kodları yazarak ekranda gösterebiliriz.</a:t>
            </a:r>
            <a:endParaRPr lang="tr-TR" sz="2300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F3FE4AC8-4A37-4BE5-A36A-5B279E525A84}"/>
              </a:ext>
            </a:extLst>
          </p:cNvPr>
          <p:cNvSpPr txBox="1"/>
          <p:nvPr/>
        </p:nvSpPr>
        <p:spPr>
          <a:xfrm>
            <a:off x="352337" y="2791693"/>
            <a:ext cx="8305101" cy="193899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$x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0" i="0" u="none" strike="noStrike" baseline="0" dirty="0">
                <a:solidFill>
                  <a:srgbClr val="FF8000"/>
                </a:solidFill>
                <a:latin typeface="Courier New" panose="02070309020205020404" pitchFamily="49" charset="0"/>
              </a:rPr>
              <a:t>3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$y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0" i="0" u="none" strike="noStrike" baseline="0" dirty="0">
                <a:solidFill>
                  <a:srgbClr val="FF8000"/>
                </a:solidFill>
                <a:latin typeface="Courier New" panose="02070309020205020404" pitchFamily="49" charset="0"/>
              </a:rPr>
              <a:t>12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b="0" i="0" u="none" strike="noStrike" baseline="0" dirty="0" err="1">
                <a:solidFill>
                  <a:srgbClr val="000080"/>
                </a:solidFill>
                <a:latin typeface="Courier New" panose="02070309020205020404" pitchFamily="49" charset="0"/>
              </a:rPr>
              <a:t>$x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+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$y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6000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421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Değişken Çıktıları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187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PHP esnek bir dildir. Değişken türleri atama işlemi esnasında otomatik olarak belirlenir. C, C++ ve Java gibi diğer programlama dillerinde değişkenin türü ve ismi, değişken kullanılmadan önce mutlaka bildirilir.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PHP değişkenler kodlar içinde herhangi bir yerde tanımlanabilir.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değişkenin kapsamı betik içinde nasıl kullanılacağıyla ilgilidir ve üç türü vardır.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Yerel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local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Küresel (global)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Statik (statik)</a:t>
            </a:r>
            <a:endParaRPr lang="tr-TR" sz="2300" dirty="0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9052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Küresel ve Yerel Kapsam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1841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Global (Küresel) değişken bir fonksiyon dışında tanımlanmışsa sadece fonksiyon dışında erişilebilir haldedir.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Yani yalnızca fonksiyonun dışında kullanılır.</a:t>
            </a:r>
            <a:endParaRPr lang="tr-TR" sz="2300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F3FE4AC8-4A37-4BE5-A36A-5B279E525A84}"/>
              </a:ext>
            </a:extLst>
          </p:cNvPr>
          <p:cNvSpPr txBox="1"/>
          <p:nvPr/>
        </p:nvSpPr>
        <p:spPr>
          <a:xfrm>
            <a:off x="419449" y="2212853"/>
            <a:ext cx="8305101" cy="452431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$x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0" i="0" u="none" strike="noStrike" baseline="0" dirty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  <a:r>
              <a:rPr lang="tr-TR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// küresel kapsam</a:t>
            </a:r>
          </a:p>
          <a:p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function</a:t>
            </a:r>
            <a:r>
              <a:rPr lang="tr-TR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deneme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(){</a:t>
            </a:r>
          </a:p>
          <a:p>
            <a:r>
              <a:rPr lang="tr-TR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// fonksiyon içinde kullanılan $x değişkeni hata döndürecek</a:t>
            </a:r>
          </a:p>
          <a:p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"&lt;p&gt;x değişkeni fonksiyon içinde: </a:t>
            </a:r>
            <a:r>
              <a:rPr lang="tr-TR" b="1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$x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&lt;/p&gt;"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tr-TR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deneme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();</a:t>
            </a:r>
          </a:p>
          <a:p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"&lt;p&gt;x değişkeni fonksiyon dışında: </a:t>
            </a:r>
            <a:r>
              <a:rPr lang="tr-TR" b="1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$x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&lt;/p&gt;"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7200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945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Küresel ve Yerel Kapsam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19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değişken bir fonksiyon içinde tanımlanmışsa yerel kapsamlıdır. Yani yalnızca fonksiyon içinde kullanılabilir.</a:t>
            </a:r>
            <a:endParaRPr lang="tr-TR" sz="2300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F3FE4AC8-4A37-4BE5-A36A-5B279E525A84}"/>
              </a:ext>
            </a:extLst>
          </p:cNvPr>
          <p:cNvSpPr txBox="1"/>
          <p:nvPr/>
        </p:nvSpPr>
        <p:spPr>
          <a:xfrm>
            <a:off x="419449" y="2212853"/>
            <a:ext cx="8305101" cy="452431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function</a:t>
            </a:r>
            <a:r>
              <a:rPr lang="tr-TR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deneme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(){</a:t>
            </a: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	$x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0" i="0" u="none" strike="noStrike" baseline="0" dirty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  <a:r>
              <a:rPr lang="tr-TR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// yerel kapsam</a:t>
            </a:r>
          </a:p>
          <a:p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	echo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"&lt;p&gt;x değişkeni fonksiyon içinde: </a:t>
            </a:r>
            <a:r>
              <a:rPr lang="tr-TR" b="1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$x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&lt;/p&gt;"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tr-TR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deneme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();</a:t>
            </a:r>
          </a:p>
          <a:p>
            <a:r>
              <a:rPr lang="tr-TR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// x değişkeninin fonksiyon dışında kullanılması hata döndürecektir</a:t>
            </a:r>
          </a:p>
          <a:p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"&lt;p&gt;x değişkeni fonksiyon dışında : </a:t>
            </a:r>
            <a:r>
              <a:rPr lang="tr-TR" b="1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$x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&lt;/p&gt;"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8800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181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Global Anahtar Kelimesi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19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global değişkeni fonksiyon içinde çağırmak için “global” anahtar kelimesi kullanılır.</a:t>
            </a:r>
            <a:endParaRPr lang="tr-TR" sz="2300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F3FE4AC8-4A37-4BE5-A36A-5B279E525A84}"/>
              </a:ext>
            </a:extLst>
          </p:cNvPr>
          <p:cNvSpPr txBox="1"/>
          <p:nvPr/>
        </p:nvSpPr>
        <p:spPr>
          <a:xfrm>
            <a:off x="419449" y="2212853"/>
            <a:ext cx="8305101" cy="378565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$x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0" i="0" u="none" strike="noStrike" baseline="0" dirty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$y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0" i="0" u="none" strike="noStrike" baseline="0" dirty="0">
                <a:solidFill>
                  <a:srgbClr val="FF8000"/>
                </a:solidFill>
                <a:latin typeface="Courier New" panose="02070309020205020404" pitchFamily="49" charset="0"/>
              </a:rPr>
              <a:t>10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function</a:t>
            </a:r>
            <a:r>
              <a:rPr lang="tr-TR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deneme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(){</a:t>
            </a:r>
          </a:p>
          <a:p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	</a:t>
            </a:r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global</a:t>
            </a:r>
            <a:r>
              <a:rPr lang="tr-TR" b="0" i="0" u="none" strike="noStrike" baseline="0" dirty="0" err="1">
                <a:solidFill>
                  <a:srgbClr val="000080"/>
                </a:solidFill>
                <a:latin typeface="Courier New" panose="02070309020205020404" pitchFamily="49" charset="0"/>
              </a:rPr>
              <a:t>$x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,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$y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	$y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$x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+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$y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tr-TR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deneme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();</a:t>
            </a:r>
          </a:p>
          <a:p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b="0" i="0" u="none" strike="noStrike" baseline="0" dirty="0" err="1">
                <a:solidFill>
                  <a:srgbClr val="000080"/>
                </a:solidFill>
                <a:latin typeface="Courier New" panose="02070309020205020404" pitchFamily="49" charset="0"/>
              </a:rPr>
              <a:t>$y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  <a:r>
              <a:rPr lang="tr-TR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// çıktı 15</a:t>
            </a: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11500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7002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Global Anahtar Kelimesi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791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Global değişkenler $GLOBALS[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index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] dizisinde saklanır. “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index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” ifadesi değişkenin ismidir.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diziye fonksiyon içinden erişilebilir ya da global değişkenin doğrudan düzenlenmesi için kullanılabilir.</a:t>
            </a:r>
            <a:endParaRPr lang="tr-TR" sz="2300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F3FE4AC8-4A37-4BE5-A36A-5B279E525A84}"/>
              </a:ext>
            </a:extLst>
          </p:cNvPr>
          <p:cNvSpPr txBox="1"/>
          <p:nvPr/>
        </p:nvSpPr>
        <p:spPr>
          <a:xfrm>
            <a:off x="318781" y="2959473"/>
            <a:ext cx="8305101" cy="378565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$x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0" i="0" u="none" strike="noStrike" baseline="0" dirty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$y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0" i="0" u="none" strike="noStrike" baseline="0" dirty="0">
                <a:solidFill>
                  <a:srgbClr val="FF8000"/>
                </a:solidFill>
                <a:latin typeface="Courier New" panose="02070309020205020404" pitchFamily="49" charset="0"/>
              </a:rPr>
              <a:t>10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function</a:t>
            </a:r>
            <a:r>
              <a:rPr lang="tr-TR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deneme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(){</a:t>
            </a: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	$GLOBALS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[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'y'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]=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$GLOBALS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[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'x'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]+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$GLOBALS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[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'y'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];</a:t>
            </a:r>
          </a:p>
          <a:p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tr-TR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deneme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();</a:t>
            </a:r>
          </a:p>
          <a:p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b="0" i="0" u="none" strike="noStrike" baseline="0" dirty="0" err="1">
                <a:solidFill>
                  <a:srgbClr val="000080"/>
                </a:solidFill>
                <a:latin typeface="Courier New" panose="02070309020205020404" pitchFamily="49" charset="0"/>
              </a:rPr>
              <a:t>$y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  <a:r>
              <a:rPr lang="tr-TR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// çıktı 15</a:t>
            </a: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16600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2820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Static Anahtar Kelimesi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791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fonksiyon çalıştırıldığında ve sonuçlandığında, fonksiyon içindeki değişkenlerin tamamı silinir.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Ancak bazen yerel değişkenin değerinin silinmesini istemeyiz. Bu durumda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static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anahtar kelimesini kullanırız.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sz="2300" dirty="0">
                <a:solidFill>
                  <a:srgbClr val="000000"/>
                </a:solidFill>
                <a:latin typeface="Arial" pitchFamily="34" charset="0"/>
              </a:rPr>
              <a:t>Yukarıdaki örnekte fonksiyon her çağırdığımızda kullanılan yerel değişkenin değerinin saklandığına dikkat edin.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F3FE4AC8-4A37-4BE5-A36A-5B279E525A84}"/>
              </a:ext>
            </a:extLst>
          </p:cNvPr>
          <p:cNvSpPr txBox="1"/>
          <p:nvPr/>
        </p:nvSpPr>
        <p:spPr>
          <a:xfrm>
            <a:off x="419449" y="3294776"/>
            <a:ext cx="8305101" cy="34778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sz="2000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sz="2000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sz="2000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sz="20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f</a:t>
            </a:r>
            <a:r>
              <a:rPr lang="tr-TR" sz="2000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unction</a:t>
            </a:r>
            <a:r>
              <a:rPr lang="tr-TR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deneme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(){</a:t>
            </a:r>
          </a:p>
          <a:p>
            <a:r>
              <a:rPr lang="tr-TR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	</a:t>
            </a:r>
            <a:r>
              <a:rPr lang="tr-TR" sz="2000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static</a:t>
            </a:r>
            <a:r>
              <a:rPr lang="tr-TR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sz="2000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$x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sz="2000" b="0" i="0" u="none" strike="noStrike" baseline="0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	echo </a:t>
            </a:r>
            <a:r>
              <a:rPr lang="tr-TR" sz="2000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$x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sz="2000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	$x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++;</a:t>
            </a:r>
            <a:r>
              <a:rPr lang="tr-TR" sz="2000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//değişkenin değerini 1 artırmak anlamına gelir.</a:t>
            </a:r>
          </a:p>
          <a:p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tr-TR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deneme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();</a:t>
            </a:r>
          </a:p>
          <a:p>
            <a:r>
              <a:rPr lang="tr-TR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deneme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();</a:t>
            </a:r>
          </a:p>
          <a:p>
            <a:r>
              <a:rPr lang="tr-TR" sz="20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deneme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();</a:t>
            </a:r>
          </a:p>
          <a:p>
            <a:r>
              <a:rPr lang="tr-TR" sz="2000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19900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99961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echo ve </a:t>
            </a:r>
            <a:r>
              <a:rPr lang="tr-TR" sz="3200" dirty="0" err="1"/>
              <a:t>print</a:t>
            </a:r>
            <a:r>
              <a:rPr lang="tr-TR" sz="3200" dirty="0"/>
              <a:t> İfadeleri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791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PHP’de çıktı almak iki temel yolu echo ve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print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ifadelerini kullanmaktır. echo ifadesi en yaygın kullanılandır. Çünkü çok fazla ve farklı parametreyle kullanımı söz konusudur. Aynı zamanda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print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ifadesine göre oldukça hızlıdır.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echo parantezle ya da parantez olmadan kullanılabilir. Yani echo ve echo() aynı sonucu verir.</a:t>
            </a:r>
            <a:endParaRPr lang="tr-TR" sz="2300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F3FE4AC8-4A37-4BE5-A36A-5B279E525A84}"/>
              </a:ext>
            </a:extLst>
          </p:cNvPr>
          <p:cNvSpPr txBox="1"/>
          <p:nvPr/>
        </p:nvSpPr>
        <p:spPr>
          <a:xfrm>
            <a:off x="419449" y="3294776"/>
            <a:ext cx="8305101" cy="267765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"&lt;h2&gt;Selam!&lt;/h2&gt;"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"Merhaba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 Dünya!&lt;</a:t>
            </a:r>
            <a:r>
              <a:rPr lang="tr-TR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br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&gt;"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"Bu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 benim ilk PHP kodum!&lt;</a:t>
            </a:r>
            <a:r>
              <a:rPr lang="tr-TR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br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&gt;"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"Buradaki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 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,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"metin 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,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"birden 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,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"çok 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,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"parametreyle oluşturuldu."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28700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67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echo ve </a:t>
            </a:r>
            <a:r>
              <a:rPr lang="tr-TR" sz="3200" dirty="0" err="1"/>
              <a:t>print</a:t>
            </a:r>
            <a:r>
              <a:rPr lang="tr-TR" sz="3200" dirty="0"/>
              <a:t> İfadeleri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791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Print ifadesi parantezle veya parantez olmadan kullanılabilir. Yani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print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ve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print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() aynı şeylerdir.</a:t>
            </a:r>
            <a:endParaRPr lang="tr-TR" sz="2300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F3FE4AC8-4A37-4BE5-A36A-5B279E525A84}"/>
              </a:ext>
            </a:extLst>
          </p:cNvPr>
          <p:cNvSpPr txBox="1"/>
          <p:nvPr/>
        </p:nvSpPr>
        <p:spPr>
          <a:xfrm>
            <a:off x="335559" y="2338431"/>
            <a:ext cx="8305101" cy="34163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$metin1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"PHP öğren"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$metin2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</a:t>
            </a:r>
            <a:r>
              <a:rPr lang="tr-TR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hergün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$x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0" i="0" u="none" strike="noStrike" baseline="0" dirty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$y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0" i="0" u="none" strike="noStrike" baseline="0" dirty="0">
                <a:solidFill>
                  <a:srgbClr val="FF8000"/>
                </a:solidFill>
                <a:latin typeface="Courier New" panose="02070309020205020404" pitchFamily="49" charset="0"/>
              </a:rPr>
              <a:t>4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print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"&lt;h2&gt;"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.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$metin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.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"&lt;/h2&gt;"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print</a:t>
            </a:r>
            <a:r>
              <a:rPr lang="tr-TR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"PHP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 çalış 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.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$metin2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.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"&lt;</a:t>
            </a:r>
            <a:r>
              <a:rPr lang="tr-TR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br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&gt;"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print</a:t>
            </a:r>
            <a:r>
              <a:rPr lang="tr-TR" b="0" i="0" u="none" strike="noStrike" baseline="0" dirty="0" err="1">
                <a:solidFill>
                  <a:srgbClr val="000080"/>
                </a:solidFill>
                <a:latin typeface="Courier New" panose="02070309020205020404" pitchFamily="49" charset="0"/>
              </a:rPr>
              <a:t>$x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+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$y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41300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2347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Veri Türleri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5918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Değişkenler farklı türde veriler saklayabilir. PHP’nin desteklediği veri tipleri şunlardır;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sz="2300" dirty="0">
                <a:solidFill>
                  <a:srgbClr val="000000"/>
                </a:solidFill>
                <a:latin typeface="Arial" pitchFamily="34" charset="0"/>
              </a:rPr>
              <a:t>Metin (</a:t>
            </a:r>
            <a:r>
              <a:rPr lang="tr-TR" sz="2300" dirty="0" err="1">
                <a:solidFill>
                  <a:srgbClr val="000000"/>
                </a:solidFill>
                <a:latin typeface="Arial" pitchFamily="34" charset="0"/>
              </a:rPr>
              <a:t>String</a:t>
            </a:r>
            <a:r>
              <a:rPr lang="tr-TR" sz="2300" dirty="0">
                <a:solidFill>
                  <a:srgbClr val="000000"/>
                </a:solidFill>
                <a:latin typeface="Arial" pitchFamily="34" charset="0"/>
              </a:rPr>
              <a:t>)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sz="2300" dirty="0">
                <a:solidFill>
                  <a:srgbClr val="000000"/>
                </a:solidFill>
                <a:latin typeface="Arial" pitchFamily="34" charset="0"/>
              </a:rPr>
              <a:t>Tamsayı (</a:t>
            </a:r>
            <a:r>
              <a:rPr lang="tr-TR" sz="2300" dirty="0" err="1">
                <a:solidFill>
                  <a:srgbClr val="000000"/>
                </a:solidFill>
                <a:latin typeface="Arial" pitchFamily="34" charset="0"/>
              </a:rPr>
              <a:t>Integer</a:t>
            </a:r>
            <a:r>
              <a:rPr lang="tr-TR" sz="2300" dirty="0">
                <a:solidFill>
                  <a:srgbClr val="000000"/>
                </a:solidFill>
                <a:latin typeface="Arial" pitchFamily="34" charset="0"/>
              </a:rPr>
              <a:t>)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sz="2300" dirty="0" err="1">
                <a:solidFill>
                  <a:srgbClr val="000000"/>
                </a:solidFill>
                <a:latin typeface="Arial" pitchFamily="34" charset="0"/>
              </a:rPr>
              <a:t>Ondalıklı</a:t>
            </a:r>
            <a:r>
              <a:rPr lang="tr-TR" sz="2300" dirty="0">
                <a:solidFill>
                  <a:srgbClr val="000000"/>
                </a:solidFill>
                <a:latin typeface="Arial" pitchFamily="34" charset="0"/>
              </a:rPr>
              <a:t> Sayı (Float ya da </a:t>
            </a:r>
            <a:r>
              <a:rPr lang="tr-TR" sz="2300" dirty="0" err="1">
                <a:solidFill>
                  <a:srgbClr val="000000"/>
                </a:solidFill>
                <a:latin typeface="Arial" pitchFamily="34" charset="0"/>
              </a:rPr>
              <a:t>Double</a:t>
            </a:r>
            <a:r>
              <a:rPr lang="tr-TR" sz="2300" dirty="0">
                <a:solidFill>
                  <a:srgbClr val="000000"/>
                </a:solidFill>
                <a:latin typeface="Arial" pitchFamily="34" charset="0"/>
              </a:rPr>
              <a:t>)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sz="2300" dirty="0">
                <a:solidFill>
                  <a:srgbClr val="000000"/>
                </a:solidFill>
                <a:latin typeface="Arial" pitchFamily="34" charset="0"/>
              </a:rPr>
              <a:t>Mantıksal (Boolean)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sz="2300" dirty="0">
                <a:solidFill>
                  <a:srgbClr val="000000"/>
                </a:solidFill>
                <a:latin typeface="Arial" pitchFamily="34" charset="0"/>
              </a:rPr>
              <a:t>Dizi (</a:t>
            </a:r>
            <a:r>
              <a:rPr lang="tr-TR" sz="2300" dirty="0" err="1">
                <a:solidFill>
                  <a:srgbClr val="000000"/>
                </a:solidFill>
                <a:latin typeface="Arial" pitchFamily="34" charset="0"/>
              </a:rPr>
              <a:t>Array</a:t>
            </a:r>
            <a:r>
              <a:rPr lang="tr-TR" sz="2300" dirty="0">
                <a:solidFill>
                  <a:srgbClr val="000000"/>
                </a:solidFill>
                <a:latin typeface="Arial" pitchFamily="34" charset="0"/>
              </a:rPr>
              <a:t>)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sz="2300" dirty="0">
                <a:solidFill>
                  <a:srgbClr val="000000"/>
                </a:solidFill>
                <a:latin typeface="Arial" pitchFamily="34" charset="0"/>
              </a:rPr>
              <a:t>Nesne (Object)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sz="2300" dirty="0">
                <a:solidFill>
                  <a:srgbClr val="000000"/>
                </a:solidFill>
                <a:latin typeface="Arial" pitchFamily="34" charset="0"/>
              </a:rPr>
              <a:t>Boş (NULL)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sz="2300" dirty="0">
                <a:solidFill>
                  <a:srgbClr val="000000"/>
                </a:solidFill>
                <a:latin typeface="Arial" pitchFamily="34" charset="0"/>
              </a:rPr>
              <a:t>Kaynak (Resource)</a:t>
            </a:r>
          </a:p>
        </p:txBody>
      </p:sp>
    </p:spTree>
    <p:extLst>
      <p:ext uri="{BB962C8B-B14F-4D97-AF65-F5344CB8AC3E}">
        <p14:creationId xmlns:p14="http://schemas.microsoft.com/office/powerpoint/2010/main" val="15996307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Metin Veri Türü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462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Metin veri tipi bir karakter dizisidir. “Merhaba Dünya!” metindir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string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). Metinler mutlaka tırnaklar içine yazılır.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PHP’de kesme (‘) ya da (“) aynı görevi yerine getirir.</a:t>
            </a:r>
            <a:endParaRPr lang="tr-TR" sz="2300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F3FE4AC8-4A37-4BE5-A36A-5B279E525A84}"/>
              </a:ext>
            </a:extLst>
          </p:cNvPr>
          <p:cNvSpPr txBox="1"/>
          <p:nvPr/>
        </p:nvSpPr>
        <p:spPr>
          <a:xfrm>
            <a:off x="335559" y="2338431"/>
            <a:ext cx="8305101" cy="267765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$x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"Merhaba dünya!"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$y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'Merhaba dünya!’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1" dirty="0">
                <a:solidFill>
                  <a:srgbClr val="0000FF"/>
                </a:solidFill>
                <a:latin typeface="Courier New" panose="02070309020205020404" pitchFamily="49" charset="0"/>
              </a:rPr>
              <a:t>e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cho 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$x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1" dirty="0">
                <a:solidFill>
                  <a:srgbClr val="0000FF"/>
                </a:solidFill>
                <a:latin typeface="Courier New" panose="02070309020205020404" pitchFamily="49" charset="0"/>
              </a:rPr>
              <a:t>e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cho 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"&lt;</a:t>
            </a:r>
            <a:r>
              <a:rPr lang="tr-TR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br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&gt;"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1" dirty="0">
                <a:solidFill>
                  <a:srgbClr val="0000FF"/>
                </a:solidFill>
                <a:latin typeface="Courier New" panose="02070309020205020404" pitchFamily="49" charset="0"/>
              </a:rPr>
              <a:t>e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cho 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$y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59500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6077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Tamsayı Veri Türü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3444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Tamsayı veri türü ondalık kısım içermeyen -2,147,483,648 ve 2,147,483,647 bir sayıdır.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En az bir basamağı olmak zorundadır. Ondalık kısmı olmamalıdır. Pozitif ya da negatif bir sayı olabilir. Tam sayılar üç farklı biçimde olabilir;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sz="2300" dirty="0">
                <a:solidFill>
                  <a:srgbClr val="000000"/>
                </a:solidFill>
                <a:latin typeface="Arial" pitchFamily="34" charset="0"/>
              </a:rPr>
              <a:t>PHP’de bir değişkenin veri türünü ve değerini görmek için </a:t>
            </a:r>
            <a:r>
              <a:rPr lang="tr-TR" sz="2300" dirty="0" err="1">
                <a:solidFill>
                  <a:srgbClr val="000000"/>
                </a:solidFill>
                <a:latin typeface="Arial" pitchFamily="34" charset="0"/>
              </a:rPr>
              <a:t>var_dump</a:t>
            </a:r>
            <a:r>
              <a:rPr lang="tr-TR" sz="2300" dirty="0">
                <a:solidFill>
                  <a:srgbClr val="000000"/>
                </a:solidFill>
                <a:latin typeface="Arial" pitchFamily="34" charset="0"/>
              </a:rPr>
              <a:t>() fonksiyonu kullanılır.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sz="2300" dirty="0">
                <a:solidFill>
                  <a:srgbClr val="000000"/>
                </a:solidFill>
                <a:latin typeface="Arial" pitchFamily="34" charset="0"/>
              </a:rPr>
              <a:t>Aşağıdaki örnekte $x değişkeni bir tam sayıdır.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F3FE4AC8-4A37-4BE5-A36A-5B279E525A84}"/>
              </a:ext>
            </a:extLst>
          </p:cNvPr>
          <p:cNvSpPr txBox="1"/>
          <p:nvPr/>
        </p:nvSpPr>
        <p:spPr>
          <a:xfrm>
            <a:off x="419449" y="4611848"/>
            <a:ext cx="8305101" cy="156966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$x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0" i="0" u="none" strike="noStrike" baseline="0" dirty="0">
                <a:solidFill>
                  <a:srgbClr val="FF8000"/>
                </a:solidFill>
                <a:latin typeface="Courier New" panose="02070309020205020404" pitchFamily="49" charset="0"/>
              </a:rPr>
              <a:t>5985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var_dump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$x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85700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74152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 err="1"/>
              <a:t>Ondalıklı</a:t>
            </a:r>
            <a:r>
              <a:rPr lang="tr-TR" sz="3200" dirty="0"/>
              <a:t> Sayı Veri Türü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137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Float değişken ondalık sayı içerir.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Üstsel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biçimde olabilir. Aşağıdaki kodları çalıştırın ve döndürülen sonuca dikkat edin.</a:t>
            </a:r>
            <a:endParaRPr lang="tr-TR" sz="2300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F3FE4AC8-4A37-4BE5-A36A-5B279E525A84}"/>
              </a:ext>
            </a:extLst>
          </p:cNvPr>
          <p:cNvSpPr txBox="1"/>
          <p:nvPr/>
        </p:nvSpPr>
        <p:spPr>
          <a:xfrm>
            <a:off x="419449" y="2397154"/>
            <a:ext cx="8305101" cy="156966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$x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0" i="0" u="none" strike="noStrike" baseline="0" dirty="0">
                <a:solidFill>
                  <a:srgbClr val="FF8000"/>
                </a:solidFill>
                <a:latin typeface="Courier New" panose="02070309020205020404" pitchFamily="49" charset="0"/>
              </a:rPr>
              <a:t>10.365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var_dump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$x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123400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8324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Mantıksal Veri Türü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Boolean iki durum içerebilir; Doğru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true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 ya da Yanlış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false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Bunu 1 ya da 0 gibi de düşünebilirsiniz.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En fazla mantıksal sınamalar için kullanılırlar.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F3FE4AC8-4A37-4BE5-A36A-5B279E525A84}"/>
              </a:ext>
            </a:extLst>
          </p:cNvPr>
          <p:cNvSpPr txBox="1"/>
          <p:nvPr/>
        </p:nvSpPr>
        <p:spPr>
          <a:xfrm>
            <a:off x="419449" y="3093440"/>
            <a:ext cx="8305101" cy="156966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1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1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1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dirty="0">
                <a:solidFill>
                  <a:srgbClr val="8000FF"/>
                </a:solidFill>
                <a:latin typeface="Courier New" panose="02070309020205020404" pitchFamily="49" charset="0"/>
              </a:rPr>
              <a:t>$x = </a:t>
            </a:r>
            <a:r>
              <a:rPr lang="tr-TR" dirty="0" err="1">
                <a:solidFill>
                  <a:srgbClr val="8000FF"/>
                </a:solidFill>
                <a:latin typeface="Courier New" panose="02070309020205020404" pitchFamily="49" charset="0"/>
              </a:rPr>
              <a:t>true</a:t>
            </a:r>
            <a:r>
              <a:rPr lang="tr-TR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dirty="0">
                <a:solidFill>
                  <a:srgbClr val="8000FF"/>
                </a:solidFill>
                <a:latin typeface="Courier New" panose="02070309020205020404" pitchFamily="49" charset="0"/>
              </a:rPr>
              <a:t>$y = </a:t>
            </a:r>
            <a:r>
              <a:rPr lang="tr-TR" dirty="0" err="1">
                <a:solidFill>
                  <a:srgbClr val="8000FF"/>
                </a:solidFill>
                <a:latin typeface="Courier New" panose="02070309020205020404" pitchFamily="49" charset="0"/>
              </a:rPr>
              <a:t>false</a:t>
            </a:r>
            <a:r>
              <a:rPr lang="tr-TR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1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123400" b="0" i="1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68181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Dizi Veri Türü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Diziler çok sayıda farklı veriyi tek değişken ismiyle saklarlar.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Aşağıdaki örnekte $araba değişkeni bir dizidir.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Örnekteki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var_dump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() fonksiyonu veri türünü ve değerini döndürür.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F3FE4AC8-4A37-4BE5-A36A-5B279E525A84}"/>
              </a:ext>
            </a:extLst>
          </p:cNvPr>
          <p:cNvSpPr txBox="1"/>
          <p:nvPr/>
        </p:nvSpPr>
        <p:spPr>
          <a:xfrm>
            <a:off x="419449" y="3093440"/>
            <a:ext cx="8305101" cy="156966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$araba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array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</a:t>
            </a:r>
            <a:r>
              <a:rPr lang="tr-TR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Skoda"</a:t>
            </a:r>
            <a:r>
              <a:rPr lang="tr-TR" b="0" i="0" u="none" strike="noStrike" baseline="0" dirty="0" err="1">
                <a:solidFill>
                  <a:srgbClr val="8000FF"/>
                </a:solidFill>
                <a:latin typeface="Courier New" panose="02070309020205020404" pitchFamily="49" charset="0"/>
              </a:rPr>
              <a:t>,</a:t>
            </a:r>
            <a:r>
              <a:rPr lang="tr-TR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"Mercedes"</a:t>
            </a:r>
            <a:r>
              <a:rPr lang="tr-TR" b="0" i="0" u="none" strike="noStrike" baseline="0" dirty="0" err="1">
                <a:solidFill>
                  <a:srgbClr val="8000FF"/>
                </a:solidFill>
                <a:latin typeface="Courier New" panose="02070309020205020404" pitchFamily="49" charset="0"/>
              </a:rPr>
              <a:t>,</a:t>
            </a:r>
            <a:r>
              <a:rPr lang="tr-TR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"Fiat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var_dump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$araba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177700" b="0" i="1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67799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Nesne Veri Türü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3259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Nesne (Object) türü verinin nasıl işlendiği ile ilgili bilgiyi saklamak için kullanılır.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Eğer nesne türü kullanılacaksa mutlaka açıkça deklare edilmelidir.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Nesnenin deklare edilmesi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class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kullanılarak yapılır. Bunun için ilk olarak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class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(sınıf) anahtarını kullanırız. </a:t>
            </a:r>
          </a:p>
        </p:txBody>
      </p:sp>
    </p:spTree>
    <p:extLst>
      <p:ext uri="{BB962C8B-B14F-4D97-AF65-F5344CB8AC3E}">
        <p14:creationId xmlns:p14="http://schemas.microsoft.com/office/powerpoint/2010/main" val="21009475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Nesne Veri Türü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800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Sınıf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class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 özellikleri ve yöntemleri içeren bir yapıdır.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F3FE4AC8-4A37-4BE5-A36A-5B279E525A84}"/>
              </a:ext>
            </a:extLst>
          </p:cNvPr>
          <p:cNvSpPr txBox="1"/>
          <p:nvPr/>
        </p:nvSpPr>
        <p:spPr>
          <a:xfrm>
            <a:off x="419449" y="1826716"/>
            <a:ext cx="8305101" cy="415498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c</a:t>
            </a:r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lass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Araba 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{</a:t>
            </a:r>
          </a:p>
          <a:p>
            <a:pPr lvl="1"/>
            <a:r>
              <a:rPr lang="tr-TR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f</a:t>
            </a:r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unction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Araba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(){</a:t>
            </a:r>
          </a:p>
          <a:p>
            <a:pPr lvl="1"/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	$</a:t>
            </a:r>
            <a:r>
              <a:rPr lang="tr-TR" b="0" i="0" u="none" strike="noStrike" baseline="0" dirty="0" err="1">
                <a:solidFill>
                  <a:srgbClr val="000080"/>
                </a:solidFill>
                <a:latin typeface="Courier New" panose="02070309020205020404" pitchFamily="49" charset="0"/>
              </a:rPr>
              <a:t>this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-&gt;</a:t>
            </a:r>
            <a:r>
              <a:rPr lang="tr-TR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model 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"VW"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pPr lvl="1"/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tr-TR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// bir nesne oluşturuluyor</a:t>
            </a: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$golf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new</a:t>
            </a:r>
            <a:r>
              <a:rPr lang="tr-TR" b="1" i="0" u="none" strike="noStrike" baseline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b="0" i="0" u="none" strike="noStrike" baseline="0">
                <a:solidFill>
                  <a:srgbClr val="000000"/>
                </a:solidFill>
                <a:latin typeface="Courier New" panose="02070309020205020404" pitchFamily="49" charset="0"/>
              </a:rPr>
              <a:t>Araba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();</a:t>
            </a:r>
          </a:p>
          <a:p>
            <a:r>
              <a:rPr lang="tr-TR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// nesne özellikleri gösteriliyor</a:t>
            </a:r>
          </a:p>
          <a:p>
            <a:r>
              <a:rPr lang="tr-TR" b="1" dirty="0">
                <a:solidFill>
                  <a:srgbClr val="0000FF"/>
                </a:solidFill>
                <a:latin typeface="Courier New" panose="02070309020205020404" pitchFamily="49" charset="0"/>
              </a:rPr>
              <a:t>e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cho 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$golf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-&gt;</a:t>
            </a:r>
            <a:r>
              <a:rPr lang="tr-TR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model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255800" b="0" i="1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9339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Null Veri Türü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800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Boş (NULL) değer, özel bir veri türüdür. Bir değişkenin hiç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birşey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içermemesini sağlamak için bu veri tipi atanır.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Eğer bir değişken oluşturulurken herhangi bir değer atanmamışsa değeri “NULL” yani boştur.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Aşağıda bir değişkenin değerinin boş olmasının sağlanmasını görüyorsunuz.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Kaynak (Resource) veri tipi,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veritabanı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istekleri için kullanılır.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F3FE4AC8-4A37-4BE5-A36A-5B279E525A84}"/>
              </a:ext>
            </a:extLst>
          </p:cNvPr>
          <p:cNvSpPr txBox="1"/>
          <p:nvPr/>
        </p:nvSpPr>
        <p:spPr>
          <a:xfrm>
            <a:off x="335559" y="3747795"/>
            <a:ext cx="8305101" cy="193899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$x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"Merhaba dünya!"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$x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var_dump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$x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368400" b="0" i="1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0586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Sabitler (</a:t>
            </a:r>
            <a:r>
              <a:rPr lang="tr-TR" sz="3200" dirty="0" err="1"/>
              <a:t>Constants</a:t>
            </a:r>
            <a:r>
              <a:rPr lang="tr-TR" sz="3200" dirty="0"/>
              <a:t>)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800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Sabitler betik boyunca değiştirilmesi istenmeyen bir değerin atandığı yapılardır.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Değişken $ işaretiyle başlarken, sabit isminde bu işaret kullanılmaz.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Değişkenlerin aksine sabitler, otomatik olarak betik içinde küresel kapsamlıdır.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Sabit tanımlamak için define() fonksiyonu kullanılır.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F3FE4AC8-4A37-4BE5-A36A-5B279E525A84}"/>
              </a:ext>
            </a:extLst>
          </p:cNvPr>
          <p:cNvSpPr txBox="1"/>
          <p:nvPr/>
        </p:nvSpPr>
        <p:spPr>
          <a:xfrm>
            <a:off x="343948" y="4100132"/>
            <a:ext cx="8305101" cy="156966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define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"MERHABA"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,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</a:t>
            </a:r>
            <a:r>
              <a:rPr lang="tr-TR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İİBF’ye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 hoş geldiniz!"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tr-TR" b="1" dirty="0">
                <a:solidFill>
                  <a:srgbClr val="0000FF"/>
                </a:solidFill>
                <a:latin typeface="Courier New" panose="02070309020205020404" pitchFamily="49" charset="0"/>
              </a:rPr>
              <a:t>e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cho </a:t>
            </a:r>
            <a:r>
              <a:rPr lang="tr-TR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MERHABA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400000" b="0" i="1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9295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Sabitler (</a:t>
            </a:r>
            <a:r>
              <a:rPr lang="tr-TR" sz="3200" dirty="0" err="1"/>
              <a:t>Constants</a:t>
            </a:r>
            <a:r>
              <a:rPr lang="tr-TR" sz="3200" dirty="0"/>
              <a:t>)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2227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Sabitler kendiliğinden küreseldir. Betik boyunca istediğiniz yerde çağırabilirsiniz.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Herhangi bir fonksiyonun içinden çağırabilirsiniz.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Burada dikkat etmeniz gereken şey sabit tanımının fonksiyon dışında bir yerlerde yapılması gerektiğidir.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F3FE4AC8-4A37-4BE5-A36A-5B279E525A84}"/>
              </a:ext>
            </a:extLst>
          </p:cNvPr>
          <p:cNvSpPr txBox="1"/>
          <p:nvPr/>
        </p:nvSpPr>
        <p:spPr>
          <a:xfrm>
            <a:off x="343948" y="4100132"/>
            <a:ext cx="8305101" cy="203132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sz="1800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sz="1800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sz="1800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define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sz="18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"MERHABA"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,</a:t>
            </a:r>
            <a:r>
              <a:rPr lang="tr-TR" sz="18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</a:t>
            </a:r>
            <a:r>
              <a:rPr lang="tr-TR" sz="1800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İİBF’ye</a:t>
            </a:r>
            <a:r>
              <a:rPr lang="tr-TR" sz="18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 hoş geldiniz!"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tr-TR" sz="18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f</a:t>
            </a:r>
            <a:r>
              <a:rPr lang="tr-TR" sz="1800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unction</a:t>
            </a:r>
            <a:r>
              <a:rPr lang="tr-TR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deneme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(){</a:t>
            </a:r>
          </a:p>
          <a:p>
            <a:r>
              <a:rPr lang="tr-TR" sz="18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	echo </a:t>
            </a:r>
            <a:r>
              <a:rPr lang="tr-TR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MERHABA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tr-TR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deneme</a:t>
            </a:r>
            <a:r>
              <a:rPr lang="tr-TR" sz="18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();</a:t>
            </a:r>
          </a:p>
          <a:p>
            <a:r>
              <a:rPr lang="tr-TR" sz="1800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400000" b="0" i="1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5917129"/>
      </p:ext>
    </p:extLst>
  </p:cSld>
  <p:clrMapOvr>
    <a:masterClrMapping/>
  </p:clrMapOvr>
</p:sld>
</file>

<file path=ppt/theme/theme1.xml><?xml version="1.0" encoding="utf-8"?>
<a:theme xmlns:a="http://schemas.openxmlformats.org/drawingml/2006/main" name="1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5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279688</TotalTime>
  <Words>2175</Words>
  <Application>Microsoft Office PowerPoint</Application>
  <PresentationFormat>Ekran Gösterisi (4:3)</PresentationFormat>
  <Paragraphs>303</Paragraphs>
  <Slides>32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6</vt:i4>
      </vt:variant>
      <vt:variant>
        <vt:lpstr>Slayt Başlıkları</vt:lpstr>
      </vt:variant>
      <vt:variant>
        <vt:i4>32</vt:i4>
      </vt:variant>
    </vt:vector>
  </HeadingPairs>
  <TitlesOfParts>
    <vt:vector size="42" baseType="lpstr">
      <vt:lpstr>Arial</vt:lpstr>
      <vt:lpstr>Courier New</vt:lpstr>
      <vt:lpstr>Times New Roman</vt:lpstr>
      <vt:lpstr>Wingdings</vt:lpstr>
      <vt:lpstr>1_UMd_Draft4-8Oct</vt:lpstr>
      <vt:lpstr>2_UMd_Draft4-8Oct</vt:lpstr>
      <vt:lpstr>3_UMd_Draft4-8Oct</vt:lpstr>
      <vt:lpstr>4_UMd_Draft4-8Oct</vt:lpstr>
      <vt:lpstr>5_UMd_Draft4-8Oct</vt:lpstr>
      <vt:lpstr>15_UMd_Draft4-8Oct</vt:lpstr>
      <vt:lpstr>PowerPoint Sunusu</vt:lpstr>
      <vt:lpstr>Giriş</vt:lpstr>
      <vt:lpstr>Giriş</vt:lpstr>
      <vt:lpstr>Giriş</vt:lpstr>
      <vt:lpstr>PHP Kodlama Kuralları</vt:lpstr>
      <vt:lpstr>PHP Kodlama Kuralları</vt:lpstr>
      <vt:lpstr>PHP içindeki Yorum Satırları</vt:lpstr>
      <vt:lpstr>PHP’nin Büyük/Küçük Harf Duyarlılığı</vt:lpstr>
      <vt:lpstr>PHP’nin Büyük/Küçük Harf Duyarlılığı</vt:lpstr>
      <vt:lpstr>Değişken Tanımlama</vt:lpstr>
      <vt:lpstr>Değişken Tanımlama</vt:lpstr>
      <vt:lpstr>Değişken Çıktıları</vt:lpstr>
      <vt:lpstr>Değişken Çıktıları</vt:lpstr>
      <vt:lpstr>Değişken Çıktıları</vt:lpstr>
      <vt:lpstr>Küresel ve Yerel Kapsam</vt:lpstr>
      <vt:lpstr>Küresel ve Yerel Kapsam</vt:lpstr>
      <vt:lpstr>Global Anahtar Kelimesi</vt:lpstr>
      <vt:lpstr>Global Anahtar Kelimesi</vt:lpstr>
      <vt:lpstr>Static Anahtar Kelimesi</vt:lpstr>
      <vt:lpstr>echo ve print İfadeleri</vt:lpstr>
      <vt:lpstr>echo ve print İfadeleri</vt:lpstr>
      <vt:lpstr>Veri Türleri</vt:lpstr>
      <vt:lpstr>Metin Veri Türü</vt:lpstr>
      <vt:lpstr>Tamsayı Veri Türü</vt:lpstr>
      <vt:lpstr>Ondalıklı Sayı Veri Türü</vt:lpstr>
      <vt:lpstr>Mantıksal Veri Türü</vt:lpstr>
      <vt:lpstr>Dizi Veri Türü</vt:lpstr>
      <vt:lpstr>Nesne Veri Türü</vt:lpstr>
      <vt:lpstr>Nesne Veri Türü</vt:lpstr>
      <vt:lpstr>Null Veri Türü</vt:lpstr>
      <vt:lpstr>Sabitler (Constants)</vt:lpstr>
      <vt:lpstr>Sabitler (Constants)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#1</dc:title>
  <dc:creator>JK/KR, modified by C.Xu/E.Attalla</dc:creator>
  <cp:lastModifiedBy>Zihni KAYA</cp:lastModifiedBy>
  <cp:revision>1571</cp:revision>
  <cp:lastPrinted>2013-04-21T19:31:14Z</cp:lastPrinted>
  <dcterms:created xsi:type="dcterms:W3CDTF">1999-10-08T19:08:27Z</dcterms:created>
  <dcterms:modified xsi:type="dcterms:W3CDTF">2026-03-04T11:41:54Z</dcterms:modified>
</cp:coreProperties>
</file>