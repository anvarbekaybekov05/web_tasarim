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64" r:id="rId2"/>
    <p:sldMasterId id="2147483787" r:id="rId3"/>
    <p:sldMasterId id="2147483800" r:id="rId4"/>
    <p:sldMasterId id="2147483813" r:id="rId5"/>
    <p:sldMasterId id="2147483826" r:id="rId6"/>
  </p:sldMasterIdLst>
  <p:notesMasterIdLst>
    <p:notesMasterId r:id="rId45"/>
  </p:notesMasterIdLst>
  <p:handoutMasterIdLst>
    <p:handoutMasterId r:id="rId46"/>
  </p:handoutMasterIdLst>
  <p:sldIdLst>
    <p:sldId id="811" r:id="rId7"/>
    <p:sldId id="757" r:id="rId8"/>
    <p:sldId id="771" r:id="rId9"/>
    <p:sldId id="772" r:id="rId10"/>
    <p:sldId id="773" r:id="rId11"/>
    <p:sldId id="774" r:id="rId12"/>
    <p:sldId id="775" r:id="rId13"/>
    <p:sldId id="776" r:id="rId14"/>
    <p:sldId id="777" r:id="rId15"/>
    <p:sldId id="778" r:id="rId16"/>
    <p:sldId id="779" r:id="rId17"/>
    <p:sldId id="780" r:id="rId18"/>
    <p:sldId id="781" r:id="rId19"/>
    <p:sldId id="782" r:id="rId20"/>
    <p:sldId id="783" r:id="rId21"/>
    <p:sldId id="784" r:id="rId22"/>
    <p:sldId id="785" r:id="rId23"/>
    <p:sldId id="786" r:id="rId24"/>
    <p:sldId id="787" r:id="rId25"/>
    <p:sldId id="788" r:id="rId26"/>
    <p:sldId id="789" r:id="rId27"/>
    <p:sldId id="790" r:id="rId28"/>
    <p:sldId id="803" r:id="rId29"/>
    <p:sldId id="802" r:id="rId30"/>
    <p:sldId id="805" r:id="rId31"/>
    <p:sldId id="791" r:id="rId32"/>
    <p:sldId id="792" r:id="rId33"/>
    <p:sldId id="806" r:id="rId34"/>
    <p:sldId id="808" r:id="rId35"/>
    <p:sldId id="793" r:id="rId36"/>
    <p:sldId id="794" r:id="rId37"/>
    <p:sldId id="795" r:id="rId38"/>
    <p:sldId id="796" r:id="rId39"/>
    <p:sldId id="797" r:id="rId40"/>
    <p:sldId id="798" r:id="rId41"/>
    <p:sldId id="799" r:id="rId42"/>
    <p:sldId id="800" r:id="rId43"/>
    <p:sldId id="801" r:id="rId44"/>
  </p:sldIdLst>
  <p:sldSz cx="9144000" cy="6858000" type="screen4x3"/>
  <p:notesSz cx="7099300" cy="10234613"/>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aya" initials="z" lastIdx="4" clrIdx="0">
    <p:extLst>
      <p:ext uri="{19B8F6BF-5375-455C-9EA6-DF929625EA0E}">
        <p15:presenceInfo xmlns:p15="http://schemas.microsoft.com/office/powerpoint/2012/main" userId="zka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33CCCC"/>
    <a:srgbClr val="CCFFCC"/>
    <a:srgbClr val="FFFFCC"/>
    <a:srgbClr val="CCFFFF"/>
    <a:srgbClr val="FFFF00"/>
    <a:srgbClr val="DDDDDD"/>
    <a:srgbClr val="FFCCFF"/>
    <a:srgbClr val="FF99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Açık Stil 2 - Vurgu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1786" autoAdjust="0"/>
  </p:normalViewPr>
  <p:slideViewPr>
    <p:cSldViewPr snapToGrid="0">
      <p:cViewPr varScale="1">
        <p:scale>
          <a:sx n="114" d="100"/>
          <a:sy n="114" d="100"/>
        </p:scale>
        <p:origin x="15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77" d="100"/>
          <a:sy n="77" d="100"/>
        </p:scale>
        <p:origin x="400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31075"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31076"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31077"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E00D6C2-52E2-460C-9B58-3CD61A24B075}" type="slidenum">
              <a:rPr lang="en-US"/>
              <a:pPr/>
              <a:t>‹#›</a:t>
            </a:fld>
            <a:endParaRPr lang="en-US"/>
          </a:p>
        </p:txBody>
      </p:sp>
    </p:spTree>
    <p:extLst>
      <p:ext uri="{BB962C8B-B14F-4D97-AF65-F5344CB8AC3E}">
        <p14:creationId xmlns:p14="http://schemas.microsoft.com/office/powerpoint/2010/main" val="218466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endParaRPr lang="tr-TR"/>
          </a:p>
        </p:txBody>
      </p:sp>
      <p:sp>
        <p:nvSpPr>
          <p:cNvPr id="3075" name="Rectangle 3"/>
          <p:cNvSpPr>
            <a:spLocks noGrp="1" noChangeArrowheads="1"/>
          </p:cNvSpPr>
          <p:nvPr>
            <p:ph type="dt" idx="1"/>
          </p:nvPr>
        </p:nvSpPr>
        <p:spPr bwMode="auto">
          <a:xfrm>
            <a:off x="4022629" y="0"/>
            <a:ext cx="3076671"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endParaRPr lang="tr-TR"/>
          </a:p>
        </p:txBody>
      </p:sp>
      <p:sp>
        <p:nvSpPr>
          <p:cNvPr id="8909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45957" y="4861781"/>
            <a:ext cx="5207386"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723560"/>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endParaRPr lang="tr-TR"/>
          </a:p>
        </p:txBody>
      </p:sp>
      <p:sp>
        <p:nvSpPr>
          <p:cNvPr id="3079" name="Rectangle 7"/>
          <p:cNvSpPr>
            <a:spLocks noGrp="1" noChangeArrowheads="1"/>
          </p:cNvSpPr>
          <p:nvPr>
            <p:ph type="sldNum" sz="quarter" idx="5"/>
          </p:nvPr>
        </p:nvSpPr>
        <p:spPr bwMode="auto">
          <a:xfrm>
            <a:off x="4022629" y="9723560"/>
            <a:ext cx="3076671"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94F9E22C-A560-44E3-9891-E6761E7FE4D2}" type="slidenum">
              <a:rPr lang="en-US"/>
              <a:pPr/>
              <a:t>‹#›</a:t>
            </a:fld>
            <a:endParaRPr lang="en-US"/>
          </a:p>
        </p:txBody>
      </p:sp>
    </p:spTree>
    <p:extLst>
      <p:ext uri="{BB962C8B-B14F-4D97-AF65-F5344CB8AC3E}">
        <p14:creationId xmlns:p14="http://schemas.microsoft.com/office/powerpoint/2010/main" val="15424214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3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8BCA47C0-B7EB-403B-A39B-0D22BA9C779C}" type="slidenum">
              <a:rPr lang="en-US"/>
              <a:pPr>
                <a:defRPr/>
              </a:pPr>
              <a:t>‹#›</a:t>
            </a:fld>
            <a:endParaRPr lang="en-US"/>
          </a:p>
        </p:txBody>
      </p:sp>
    </p:spTree>
    <p:extLst>
      <p:ext uri="{BB962C8B-B14F-4D97-AF65-F5344CB8AC3E}">
        <p14:creationId xmlns:p14="http://schemas.microsoft.com/office/powerpoint/2010/main" val="1689086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54BBEDAF-4CAD-4687-AECE-1E45E0407EEE}" type="slidenum">
              <a:rPr lang="en-US"/>
              <a:pPr>
                <a:defRPr/>
              </a:pPr>
              <a:t>‹#›</a:t>
            </a:fld>
            <a:endParaRPr lang="en-US"/>
          </a:p>
        </p:txBody>
      </p:sp>
    </p:spTree>
    <p:extLst>
      <p:ext uri="{BB962C8B-B14F-4D97-AF65-F5344CB8AC3E}">
        <p14:creationId xmlns:p14="http://schemas.microsoft.com/office/powerpoint/2010/main" val="245271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0F005141-3E15-4B0D-989A-F17E2C0B290D}"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
        <p:nvSpPr>
          <p:cNvPr id="5" name="Footer Placeholder 4"/>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dirty="0">
              <a:solidFill>
                <a:srgbClr val="000000"/>
              </a:solidFill>
              <a:latin typeface="Arial" charset="0"/>
            </a:endParaRPr>
          </a:p>
        </p:txBody>
      </p:sp>
    </p:spTree>
    <p:extLst>
      <p:ext uri="{BB962C8B-B14F-4D97-AF65-F5344CB8AC3E}">
        <p14:creationId xmlns:p14="http://schemas.microsoft.com/office/powerpoint/2010/main" val="25056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2255F62-7E68-45B6-B8BB-EE0FA6E0AE2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endParaRPr lang="en-US" sz="1400" dirty="0">
              <a:solidFill>
                <a:srgbClr val="336699"/>
              </a:solidFill>
            </a:endParaRPr>
          </a:p>
        </p:txBody>
      </p:sp>
    </p:spTree>
    <p:extLst>
      <p:ext uri="{BB962C8B-B14F-4D97-AF65-F5344CB8AC3E}">
        <p14:creationId xmlns:p14="http://schemas.microsoft.com/office/powerpoint/2010/main" val="3368260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787566AF-3F22-4EEC-ADED-0001FD731C9E}"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4006148"/>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4541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9953" y="1524003"/>
            <a:ext cx="3624263"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524003"/>
            <a:ext cx="3624262"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ECD2814-999E-4032-906C-2175D48D707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3231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43240"/>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343240"/>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F53B03B3-6070-425A-B684-6AF20A3CD5E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8"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189713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9C0316F6-F3E1-4B87-BA86-E40838D53467}"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3760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CB335D22-03A4-4154-A105-3651724AD01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313819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B0EDAF9-0480-4BA6-8E13-B61891626FB5}"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2434778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7DD5AB4A-A33A-4525-8D78-3D63E3001279}"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3158276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D1CE32CB-7F51-480E-A104-8947DCC1C2AC}"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074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18AB817D-8C5B-4BCE-B44B-882C88C9BF9B}"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166554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52D630E-1F6A-4FB2-A386-9A349C5B3F66}"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842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073B400-6E83-48BF-87B6-725E47C03D8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4"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r>
              <a:rPr lang="en-US" sz="1400" dirty="0">
                <a:solidFill>
                  <a:srgbClr val="336699"/>
                </a:solidFill>
              </a:rPr>
              <a:t>ue.aydin.edu.tr</a:t>
            </a:r>
          </a:p>
        </p:txBody>
      </p:sp>
    </p:spTree>
    <p:extLst>
      <p:ext uri="{BB962C8B-B14F-4D97-AF65-F5344CB8AC3E}">
        <p14:creationId xmlns:p14="http://schemas.microsoft.com/office/powerpoint/2010/main" val="651165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41026968-BEFE-44F1-97B6-7E577FCA360F}"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58574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07D3A64E-D33D-44D4-B6C2-F6248345F7F2}"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3613348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42913ACF-11A0-4838-B2F0-D74E91052A9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727997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01927" y="1524000"/>
            <a:ext cx="8372805" cy="1982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124045F6-0237-4FB2-9E43-F13F9F29C4D7}"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97361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31275" y="-38100"/>
            <a:ext cx="252505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2DEE1EEE-97C2-4C42-B32D-7B7D93AEEBD3}"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42530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15C9AE7-7D7A-439A-A584-208B138EA1A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2325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21475"/>
            <a:ext cx="1905000" cy="136525"/>
          </a:xfr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b="1"/>
            </a:lvl1pPr>
          </a:lstStyle>
          <a:p>
            <a:pPr>
              <a:defRPr/>
            </a:pPr>
            <a:fld id="{74034AEE-21EC-4108-831A-6EA98F8DFE1D}" type="slidenum">
              <a:rPr lang="en-US"/>
              <a:pPr>
                <a:defRPr/>
              </a:pPr>
              <a:t>‹#›</a:t>
            </a:fld>
            <a:endParaRPr lang="en-US"/>
          </a:p>
        </p:txBody>
      </p:sp>
    </p:spTree>
    <p:extLst>
      <p:ext uri="{BB962C8B-B14F-4D97-AF65-F5344CB8AC3E}">
        <p14:creationId xmlns:p14="http://schemas.microsoft.com/office/powerpoint/2010/main" val="1639708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lgn="r">
              <a:defRPr/>
            </a:pPr>
            <a:fld id="{66D4143D-D413-4B65-BE5B-68ED75509604}" type="slidenum">
              <a:rPr lang="en-US" altLang="tr-TR" sz="1400" smtClean="0">
                <a:solidFill>
                  <a:srgbClr val="000000"/>
                </a:solidFill>
                <a:latin typeface="Arial" panose="020B0604020202020204" pitchFamily="34" charset="0"/>
                <a:ea typeface="ヒラギノ明朝 ProN W3"/>
                <a:cs typeface="ヒラギノ明朝 ProN W3"/>
                <a:sym typeface="Times" panose="02020603050405020304" pitchFamily="18" charset="0"/>
              </a:rPr>
              <a:pPr algn="r">
                <a:defRPr/>
              </a:pPr>
              <a:t>‹#›</a:t>
            </a:fld>
            <a:endParaRPr lang="en-US" altLang="tr-TR" sz="1400" dirty="0">
              <a:solidFill>
                <a:srgbClr val="000000"/>
              </a:solidFill>
              <a:latin typeface="Arial" panose="020B0604020202020204" pitchFamily="34" charset="0"/>
              <a:ea typeface="ヒラギノ明朝 ProN W3"/>
              <a:cs typeface="ヒラギノ明朝 ProN W3"/>
              <a:sym typeface="Times" panose="02020603050405020304" pitchFamily="18" charset="0"/>
            </a:endParaRPr>
          </a:p>
        </p:txBody>
      </p:sp>
      <p:sp>
        <p:nvSpPr>
          <p:cNvPr id="4" name="Slayt Numarası Yer Tutucusu 3">
            <a:extLst>
              <a:ext uri="{FF2B5EF4-FFF2-40B4-BE49-F238E27FC236}">
                <a16:creationId xmlns:a16="http://schemas.microsoft.com/office/drawing/2014/main" id="{00F5F935-ABB1-4E93-AEFD-0D4486CAD23A}"/>
              </a:ext>
            </a:extLst>
          </p:cNvPr>
          <p:cNvSpPr>
            <a:spLocks noGrp="1"/>
          </p:cNvSpPr>
          <p:nvPr>
            <p:ph type="sldNum" sz="quarter" idx="10"/>
          </p:nvPr>
        </p:nvSpPr>
        <p:spPr/>
        <p:txBody>
          <a:bodyPr/>
          <a:lstStyle/>
          <a:p>
            <a:pPr>
              <a:lnSpc>
                <a:spcPct val="90000"/>
              </a:lnSpc>
              <a:defRPr/>
            </a:pPr>
            <a:fld id="{8BDC377B-EC9C-4253-A88C-5B0E49C4E108}" type="slidenum">
              <a:rPr lang="en-US" smtClean="0">
                <a:latin typeface="Arial" pitchFamily="34" charset="0"/>
              </a:rPr>
              <a:pPr>
                <a:lnSpc>
                  <a:spcPct val="90000"/>
                </a:lnSpc>
                <a:defRPr/>
              </a:pPr>
              <a:t>‹#›</a:t>
            </a:fld>
            <a:endParaRPr lang="en-US">
              <a:latin typeface="Arial" pitchFamily="34" charset="0"/>
            </a:endParaRPr>
          </a:p>
        </p:txBody>
      </p:sp>
    </p:spTree>
    <p:extLst>
      <p:ext uri="{BB962C8B-B14F-4D97-AF65-F5344CB8AC3E}">
        <p14:creationId xmlns:p14="http://schemas.microsoft.com/office/powerpoint/2010/main" val="20844218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73051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869950" y="1524000"/>
            <a:ext cx="3624263"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6613" y="1524000"/>
            <a:ext cx="3624262"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6329580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18594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4270998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35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207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99342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42692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365125" y="-38100"/>
            <a:ext cx="579120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631481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04996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3961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38468748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328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1072924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3.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4.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6.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38100"/>
            <a:ext cx="9144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869950" y="1524000"/>
            <a:ext cx="740092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205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EABF3948-6436-4873-87BF-0CE3FE2D4B8E}"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3305079488"/>
      </p:ext>
    </p:extLst>
  </p:cSld>
  <p:clrMap bg1="lt1" tx1="dk1" bg2="lt2" tx2="dk2" accent1="accent1" accent2="accent2" accent3="accent3" accent4="accent4" accent5="accent5" accent6="accent6" hlink="hlink" folHlink="folHlink"/>
  <p:sldLayoutIdLst>
    <p:sldLayoutId id="2147483902" r:id="rId1"/>
  </p:sldLayoutIdLst>
  <p:hf sldNum="0" hdr="0" ftr="0" dt="0"/>
  <p:txStyles>
    <p:titleStyle>
      <a:lvl1pPr algn="ctr" rtl="0" eaLnBrk="0" fontAlgn="base" hangingPunct="0">
        <a:lnSpc>
          <a:spcPct val="95000"/>
        </a:lnSpc>
        <a:spcBef>
          <a:spcPct val="0"/>
        </a:spcBef>
        <a:spcAft>
          <a:spcPct val="0"/>
        </a:spcAft>
        <a:defRPr sz="3200" b="1">
          <a:solidFill>
            <a:srgbClr val="336699"/>
          </a:solidFill>
          <a:latin typeface="+mj-lt"/>
          <a:ea typeface="+mj-ea"/>
          <a:cs typeface="+mj-cs"/>
        </a:defRPr>
      </a:lvl1pPr>
      <a:lvl2pPr algn="ctr" rtl="0" eaLnBrk="0" fontAlgn="base" hangingPunct="0">
        <a:lnSpc>
          <a:spcPct val="95000"/>
        </a:lnSpc>
        <a:spcBef>
          <a:spcPct val="0"/>
        </a:spcBef>
        <a:spcAft>
          <a:spcPct val="0"/>
        </a:spcAft>
        <a:defRPr sz="3200" b="1">
          <a:solidFill>
            <a:srgbClr val="336699"/>
          </a:solidFill>
          <a:latin typeface="Arial" pitchFamily="34" charset="0"/>
        </a:defRPr>
      </a:lvl2pPr>
      <a:lvl3pPr algn="ctr" rtl="0" eaLnBrk="0" fontAlgn="base" hangingPunct="0">
        <a:lnSpc>
          <a:spcPct val="95000"/>
        </a:lnSpc>
        <a:spcBef>
          <a:spcPct val="0"/>
        </a:spcBef>
        <a:spcAft>
          <a:spcPct val="0"/>
        </a:spcAft>
        <a:defRPr sz="3200" b="1">
          <a:solidFill>
            <a:srgbClr val="336699"/>
          </a:solidFill>
          <a:latin typeface="Arial" pitchFamily="34" charset="0"/>
        </a:defRPr>
      </a:lvl3pPr>
      <a:lvl4pPr algn="ctr" rtl="0" eaLnBrk="0" fontAlgn="base" hangingPunct="0">
        <a:lnSpc>
          <a:spcPct val="95000"/>
        </a:lnSpc>
        <a:spcBef>
          <a:spcPct val="0"/>
        </a:spcBef>
        <a:spcAft>
          <a:spcPct val="0"/>
        </a:spcAft>
        <a:defRPr sz="3200" b="1">
          <a:solidFill>
            <a:srgbClr val="336699"/>
          </a:solidFill>
          <a:latin typeface="Arial" pitchFamily="34" charset="0"/>
        </a:defRPr>
      </a:lvl4pPr>
      <a:lvl5pPr algn="ctr" rtl="0" eaLnBrk="0" fontAlgn="base" hangingPunct="0">
        <a:lnSpc>
          <a:spcPct val="95000"/>
        </a:lnSpc>
        <a:spcBef>
          <a:spcPct val="0"/>
        </a:spcBef>
        <a:spcAft>
          <a:spcPct val="0"/>
        </a:spcAft>
        <a:defRPr sz="3200" b="1">
          <a:solidFill>
            <a:srgbClr val="336699"/>
          </a:solidFill>
          <a:latin typeface="Arial" pitchFamily="34" charset="0"/>
        </a:defRPr>
      </a:lvl5pPr>
      <a:lvl6pPr marL="457200" algn="ctr" rtl="0" eaLnBrk="0" fontAlgn="base" hangingPunct="0">
        <a:lnSpc>
          <a:spcPct val="95000"/>
        </a:lnSpc>
        <a:spcBef>
          <a:spcPct val="0"/>
        </a:spcBef>
        <a:spcAft>
          <a:spcPct val="0"/>
        </a:spcAft>
        <a:defRPr sz="3200" b="1">
          <a:solidFill>
            <a:srgbClr val="336699"/>
          </a:solidFill>
          <a:latin typeface="Arial" pitchFamily="34" charset="0"/>
        </a:defRPr>
      </a:lvl6pPr>
      <a:lvl7pPr marL="914400" algn="ctr" rtl="0" eaLnBrk="0" fontAlgn="base" hangingPunct="0">
        <a:lnSpc>
          <a:spcPct val="95000"/>
        </a:lnSpc>
        <a:spcBef>
          <a:spcPct val="0"/>
        </a:spcBef>
        <a:spcAft>
          <a:spcPct val="0"/>
        </a:spcAft>
        <a:defRPr sz="3200" b="1">
          <a:solidFill>
            <a:srgbClr val="336699"/>
          </a:solidFill>
          <a:latin typeface="Arial" pitchFamily="34" charset="0"/>
        </a:defRPr>
      </a:lvl7pPr>
      <a:lvl8pPr marL="1371600" algn="ctr" rtl="0" eaLnBrk="0" fontAlgn="base" hangingPunct="0">
        <a:lnSpc>
          <a:spcPct val="95000"/>
        </a:lnSpc>
        <a:spcBef>
          <a:spcPct val="0"/>
        </a:spcBef>
        <a:spcAft>
          <a:spcPct val="0"/>
        </a:spcAft>
        <a:defRPr sz="3200" b="1">
          <a:solidFill>
            <a:srgbClr val="336699"/>
          </a:solidFill>
          <a:latin typeface="Arial" pitchFamily="34" charset="0"/>
        </a:defRPr>
      </a:lvl8pPr>
      <a:lvl9pPr marL="1828800" algn="ctr" rtl="0" eaLnBrk="0" fontAlgn="base" hangingPunct="0">
        <a:lnSpc>
          <a:spcPct val="95000"/>
        </a:lnSpc>
        <a:spcBef>
          <a:spcPct val="0"/>
        </a:spcBef>
        <a:spcAft>
          <a:spcPct val="0"/>
        </a:spcAft>
        <a:defRPr sz="32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sz="2000">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sz="2000">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65125" y="-3810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869950" y="1524000"/>
            <a:ext cx="7400925"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Line 5"/>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nSpc>
                <a:spcPct val="90000"/>
              </a:lnSpc>
              <a:spcAft>
                <a:spcPct val="50000"/>
              </a:spcAft>
              <a:buFontTx/>
              <a:buChar char="•"/>
            </a:pPr>
            <a:endParaRPr lang="en-US" sz="2200">
              <a:solidFill>
                <a:srgbClr val="000000"/>
              </a:solidFill>
              <a:latin typeface="Arial" pitchFamily="34" charset="0"/>
            </a:endParaRPr>
          </a:p>
        </p:txBody>
      </p:sp>
      <p:sp>
        <p:nvSpPr>
          <p:cNvPr id="3077"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1DA75B1C-1FC8-4677-A6B8-31AFE1B3CD3C}"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dirty="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839824220"/>
      </p:ext>
    </p:extLst>
  </p:cSld>
  <p:clrMap bg1="lt1" tx1="dk1" bg2="lt2" tx2="dk2" accent1="accent1" accent2="accent2" accent3="accent3" accent4="accent4" accent5="accent5" accent6="accent6" hlink="hlink" folHlink="folHlink"/>
  <p:sldLayoutIdLst>
    <p:sldLayoutId id="2147483670" r:id="rId1"/>
    <p:sldLayoutId id="2147483671" r:id="rId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charset="0"/>
        </a:defRPr>
      </a:lvl2pPr>
      <a:lvl3pPr algn="ctr" rtl="0" eaLnBrk="0" fontAlgn="base" hangingPunct="0">
        <a:lnSpc>
          <a:spcPct val="95000"/>
        </a:lnSpc>
        <a:spcBef>
          <a:spcPct val="0"/>
        </a:spcBef>
        <a:spcAft>
          <a:spcPct val="0"/>
        </a:spcAft>
        <a:defRPr sz="3600" b="1">
          <a:solidFill>
            <a:srgbClr val="336699"/>
          </a:solidFill>
          <a:latin typeface="Arial" charset="0"/>
        </a:defRPr>
      </a:lvl3pPr>
      <a:lvl4pPr algn="ctr" rtl="0" eaLnBrk="0" fontAlgn="base" hangingPunct="0">
        <a:lnSpc>
          <a:spcPct val="95000"/>
        </a:lnSpc>
        <a:spcBef>
          <a:spcPct val="0"/>
        </a:spcBef>
        <a:spcAft>
          <a:spcPct val="0"/>
        </a:spcAft>
        <a:defRPr sz="3600" b="1">
          <a:solidFill>
            <a:srgbClr val="336699"/>
          </a:solidFill>
          <a:latin typeface="Arial" charset="0"/>
        </a:defRPr>
      </a:lvl4pPr>
      <a:lvl5pPr algn="ctr" rtl="0" eaLnBrk="0" fontAlgn="base" hangingPunct="0">
        <a:lnSpc>
          <a:spcPct val="95000"/>
        </a:lnSpc>
        <a:spcBef>
          <a:spcPct val="0"/>
        </a:spcBef>
        <a:spcAft>
          <a:spcPct val="0"/>
        </a:spcAft>
        <a:defRPr sz="3600" b="1">
          <a:solidFill>
            <a:srgbClr val="336699"/>
          </a:solidFill>
          <a:latin typeface="Arial" charset="0"/>
        </a:defRPr>
      </a:lvl5pPr>
      <a:lvl6pPr marL="457200" algn="ctr" rtl="0" eaLnBrk="0" fontAlgn="base" hangingPunct="0">
        <a:lnSpc>
          <a:spcPct val="95000"/>
        </a:lnSpc>
        <a:spcBef>
          <a:spcPct val="0"/>
        </a:spcBef>
        <a:spcAft>
          <a:spcPct val="0"/>
        </a:spcAft>
        <a:defRPr sz="3600" b="1">
          <a:solidFill>
            <a:srgbClr val="336699"/>
          </a:solidFill>
          <a:latin typeface="Arial" charset="0"/>
        </a:defRPr>
      </a:lvl6pPr>
      <a:lvl7pPr marL="914400" algn="ctr" rtl="0" eaLnBrk="0" fontAlgn="base" hangingPunct="0">
        <a:lnSpc>
          <a:spcPct val="95000"/>
        </a:lnSpc>
        <a:spcBef>
          <a:spcPct val="0"/>
        </a:spcBef>
        <a:spcAft>
          <a:spcPct val="0"/>
        </a:spcAft>
        <a:defRPr sz="3600" b="1">
          <a:solidFill>
            <a:srgbClr val="336699"/>
          </a:solidFill>
          <a:latin typeface="Arial" charset="0"/>
        </a:defRPr>
      </a:lvl7pPr>
      <a:lvl8pPr marL="1371600" algn="ctr" rtl="0" eaLnBrk="0" fontAlgn="base" hangingPunct="0">
        <a:lnSpc>
          <a:spcPct val="95000"/>
        </a:lnSpc>
        <a:spcBef>
          <a:spcPct val="0"/>
        </a:spcBef>
        <a:spcAft>
          <a:spcPct val="0"/>
        </a:spcAft>
        <a:defRPr sz="3600" b="1">
          <a:solidFill>
            <a:srgbClr val="336699"/>
          </a:solidFill>
          <a:latin typeface="Arial" charset="0"/>
        </a:defRPr>
      </a:lvl8pPr>
      <a:lvl9pPr marL="1828800" algn="ctr" rtl="0" eaLnBrk="0" fontAlgn="base" hangingPunct="0">
        <a:lnSpc>
          <a:spcPct val="95000"/>
        </a:lnSpc>
        <a:spcBef>
          <a:spcPct val="0"/>
        </a:spcBef>
        <a:spcAft>
          <a:spcPct val="0"/>
        </a:spcAft>
        <a:defRPr sz="3600" b="1">
          <a:solidFill>
            <a:srgbClr val="336699"/>
          </a:solidFill>
          <a:latin typeface="Arial"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145684690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9" r:id="rId10"/>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309526261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6" r:id="rId3"/>
    <p:sldLayoutId id="2147483807" r:id="rId4"/>
    <p:sldLayoutId id="2147483808" r:id="rId5"/>
    <p:sldLayoutId id="2147483809" r:id="rId6"/>
    <p:sldLayoutId id="2147483810" r:id="rId7"/>
    <p:sldLayoutId id="2147483811" r:id="rId8"/>
    <p:sldLayoutId id="2147483812" r:id="rId9"/>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spcBef>
                <a:spcPct val="30000"/>
              </a:spcBef>
              <a:spcAft>
                <a:spcPct val="0"/>
              </a:spcAft>
              <a:buFontTx/>
              <a:buNone/>
              <a:defRPr sz="900" b="0">
                <a:solidFill>
                  <a:srgbClr val="000000"/>
                </a:solidFill>
              </a:defRPr>
            </a:lvl1pPr>
          </a:lstStyle>
          <a:p>
            <a:pPr>
              <a:lnSpc>
                <a:spcPct val="90000"/>
              </a:lnSpc>
              <a:defRPr/>
            </a:pPr>
            <a:fld id="{8BDC377B-EC9C-4253-A88C-5B0E49C4E108}" type="slidenum">
              <a:rPr lang="en-US">
                <a:latin typeface="Arial" pitchFamily="34" charset="0"/>
              </a:rPr>
              <a:pPr>
                <a:lnSpc>
                  <a:spcPct val="90000"/>
                </a:lnSpc>
                <a:defRPr/>
              </a:pPr>
              <a:t>‹#›</a:t>
            </a:fld>
            <a:endParaRPr lang="en-US">
              <a:latin typeface="Arial" pitchFamily="34" charset="0"/>
            </a:endParaRPr>
          </a:p>
        </p:txBody>
      </p:sp>
      <p:sp>
        <p:nvSpPr>
          <p:cNvPr id="9221"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tr-TR" sz="2200" b="1">
              <a:solidFill>
                <a:srgbClr val="000000"/>
              </a:solidFill>
              <a:latin typeface="Arial" pitchFamily="34" charset="0"/>
            </a:endParaRPr>
          </a:p>
        </p:txBody>
      </p:sp>
    </p:spTree>
    <p:extLst>
      <p:ext uri="{BB962C8B-B14F-4D97-AF65-F5344CB8AC3E}">
        <p14:creationId xmlns:p14="http://schemas.microsoft.com/office/powerpoint/2010/main" val="41434673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tr-TR"/>
              <a:t>Click To Edit Master Title Style</a:t>
            </a:r>
          </a:p>
        </p:txBody>
      </p:sp>
      <p:sp>
        <p:nvSpPr>
          <p:cNvPr id="8195"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lnSpc>
                <a:spcPct val="90000"/>
              </a:lnSpc>
              <a:spcBef>
                <a:spcPct val="30000"/>
              </a:spcBef>
              <a:spcAft>
                <a:spcPct val="0"/>
              </a:spcAft>
              <a:buFontTx/>
              <a:buNone/>
              <a:defRPr sz="900" b="0">
                <a:solidFill>
                  <a:srgbClr val="000000"/>
                </a:solidFill>
                <a:latin typeface="Arial" pitchFamily="34" charset="0"/>
              </a:defRPr>
            </a:lvl1pPr>
          </a:lstStyle>
          <a:p>
            <a:pPr>
              <a:defRPr/>
            </a:pPr>
            <a:fld id="{08E6CDD4-4A55-4656-9F51-403AD196A10A}" type="slidenum">
              <a:rPr lang="en-US"/>
              <a:pPr>
                <a:defRPr/>
              </a:pPr>
              <a:t>‹#›</a:t>
            </a:fld>
            <a:endParaRPr lang="en-US"/>
          </a:p>
        </p:txBody>
      </p:sp>
      <p:sp>
        <p:nvSpPr>
          <p:cNvPr id="8197"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sz="1200">
              <a:solidFill>
                <a:srgbClr val="000000"/>
              </a:solidFill>
            </a:endParaRPr>
          </a:p>
        </p:txBody>
      </p:sp>
    </p:spTree>
    <p:extLst>
      <p:ext uri="{BB962C8B-B14F-4D97-AF65-F5344CB8AC3E}">
        <p14:creationId xmlns:p14="http://schemas.microsoft.com/office/powerpoint/2010/main" val="1267217728"/>
      </p:ext>
    </p:extLst>
  </p:cSld>
  <p:clrMap bg1="lt1" tx1="dk1" bg2="lt2" tx2="dk2" accent1="accent1" accent2="accent2" accent3="accent3" accent4="accent4" accent5="accent5" accent6="accent6" hlink="hlink" folHlink="folHlink"/>
  <p:sldLayoutIdLst>
    <p:sldLayoutId id="2147483828" r:id="rId1"/>
    <p:sldLayoutId id="2147483832" r:id="rId2"/>
    <p:sldLayoutId id="2147483835" r:id="rId3"/>
    <p:sldLayoutId id="2147483838" r:id="rId4"/>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anose="05000000000000000000"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anose="05000000000000000000"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anose="05000000000000000000"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emf"/><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3"/>
          <p:cNvSpPr>
            <a:spLocks noChangeArrowheads="1"/>
          </p:cNvSpPr>
          <p:nvPr/>
        </p:nvSpPr>
        <p:spPr bwMode="auto">
          <a:xfrm>
            <a:off x="0" y="698500"/>
            <a:ext cx="9144000" cy="240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lvl="0" algn="ctr">
              <a:lnSpc>
                <a:spcPct val="95000"/>
              </a:lnSpc>
              <a:spcBef>
                <a:spcPct val="0"/>
              </a:spcBef>
              <a:buClrTx/>
              <a:buSzTx/>
              <a:buNone/>
              <a:defRPr/>
            </a:pPr>
            <a:endParaRPr lang="tr-TR" sz="32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lang="tr-TR" sz="3600" b="1" dirty="0">
                <a:solidFill>
                  <a:srgbClr val="0070C0"/>
                </a:solidFill>
                <a:latin typeface="Arial" panose="020B0604020202020204" pitchFamily="34" charset="0"/>
                <a:cs typeface="Arial" panose="020B0604020202020204" pitchFamily="34" charset="0"/>
              </a:rPr>
              <a:t>Web Tasarım ve Programlama</a:t>
            </a:r>
          </a:p>
          <a:p>
            <a:pPr lvl="0" algn="ctr">
              <a:lnSpc>
                <a:spcPct val="95000"/>
              </a:lnSpc>
              <a:spcBef>
                <a:spcPct val="0"/>
              </a:spcBef>
              <a:buClrTx/>
              <a:buSzTx/>
              <a:buNone/>
              <a:defRPr/>
            </a:pPr>
            <a:endParaRPr lang="en-US"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lang="tr-TR" altLang="tr-TR" sz="3200" b="1" dirty="0">
                <a:solidFill>
                  <a:srgbClr val="0070C0"/>
                </a:solidFill>
                <a:latin typeface="Arial" panose="020B0604020202020204" pitchFamily="34" charset="0"/>
                <a:ea typeface="ＭＳ Ｐゴシック" pitchFamily="34" charset="-128"/>
                <a:cs typeface="Arial" panose="020B0604020202020204" pitchFamily="34" charset="0"/>
              </a:rPr>
              <a:t>Form Tasarımı ve Veri İletimi</a:t>
            </a:r>
            <a:endParaRPr kumimoji="0" lang="en-US" altLang="tr-TR" sz="26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endParaRPr>
          </a:p>
        </p:txBody>
      </p:sp>
      <p:sp>
        <p:nvSpPr>
          <p:cNvPr id="3" name="Text Box 3">
            <a:extLst>
              <a:ext uri="{FF2B5EF4-FFF2-40B4-BE49-F238E27FC236}">
                <a16:creationId xmlns:a16="http://schemas.microsoft.com/office/drawing/2014/main" id="{79C63A1D-0907-4A02-A70F-DA401177ACAB}"/>
              </a:ext>
            </a:extLst>
          </p:cNvPr>
          <p:cNvSpPr txBox="1">
            <a:spLocks noChangeArrowheads="1"/>
          </p:cNvSpPr>
          <p:nvPr/>
        </p:nvSpPr>
        <p:spPr bwMode="auto">
          <a:xfrm>
            <a:off x="0" y="3227725"/>
            <a:ext cx="91440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tr-TR" altLang="tr-TR" b="1" dirty="0">
                <a:solidFill>
                  <a:srgbClr val="336699"/>
                </a:solidFill>
                <a:latin typeface="Arial" panose="020B0604020202020204" pitchFamily="34" charset="0"/>
                <a:ea typeface="ＭＳ Ｐゴシック" pitchFamily="34" charset="-128"/>
                <a:cs typeface="Arial" panose="020B0604020202020204" pitchFamily="34" charset="0"/>
              </a:rPr>
              <a:t>Dr. </a:t>
            </a:r>
            <a:r>
              <a:rPr lang="tr-TR" altLang="tr-TR" b="1" dirty="0" err="1">
                <a:solidFill>
                  <a:srgbClr val="336699"/>
                </a:solidFill>
                <a:latin typeface="Arial" panose="020B0604020202020204" pitchFamily="34" charset="0"/>
                <a:ea typeface="ＭＳ Ｐゴシック" pitchFamily="34" charset="-128"/>
                <a:cs typeface="Arial" panose="020B0604020202020204" pitchFamily="34" charset="0"/>
              </a:rPr>
              <a:t>Öğr</a:t>
            </a:r>
            <a:r>
              <a:rPr lang="tr-TR" altLang="tr-TR" b="1" dirty="0">
                <a:solidFill>
                  <a:srgbClr val="336699"/>
                </a:solidFill>
                <a:latin typeface="Arial" panose="020B0604020202020204" pitchFamily="34" charset="0"/>
                <a:ea typeface="ＭＳ Ｐゴシック" pitchFamily="34" charset="-128"/>
                <a:cs typeface="Arial" panose="020B0604020202020204" pitchFamily="34" charset="0"/>
              </a:rPr>
              <a:t>. Üyesi</a:t>
            </a:r>
            <a:r>
              <a:rPr kumimoji="0" lang="tr-TR" altLang="tr-TR"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Zihni KAYA</a:t>
            </a:r>
            <a:endParaRPr kumimoji="0" lang="en-US" altLang="tr-TR"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lang="en-US" altLang="tr-TR" sz="2000" b="1" dirty="0">
              <a:solidFill>
                <a:srgbClr val="336699"/>
              </a:solidFill>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Uygulamal</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ı</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a:t>
            </a: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Bilimler</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a:t>
            </a:r>
            <a:r>
              <a:rPr kumimoji="0" lang="en-US"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Fakültesi</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 Yönetim Bilişim </a:t>
            </a:r>
            <a:r>
              <a:rPr lang="tr-TR" altLang="tr-TR" sz="2000" b="1" dirty="0">
                <a:solidFill>
                  <a:srgbClr val="336699"/>
                </a:solidFill>
                <a:latin typeface="Arial" panose="020B0604020202020204" pitchFamily="34" charset="0"/>
                <a:ea typeface="ＭＳ Ｐゴシック" pitchFamily="34" charset="-128"/>
                <a:cs typeface="Arial" panose="020B0604020202020204" pitchFamily="34" charset="0"/>
              </a:rPr>
              <a:t>S</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istemleri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tr-TR" altLang="tr-TR" sz="2000" b="1" i="0" u="none" strike="noStrike" kern="1200" cap="none" spc="0" normalizeH="0" baseline="0" noProof="0" dirty="0" err="1">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zihnikaya</a:t>
            </a:r>
            <a:r>
              <a:rPr kumimoji="0" lang="tr-TR"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a:t>
            </a:r>
            <a:r>
              <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rPr>
              <a:t>aydin.edu.tr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tr-TR" sz="2000" b="1" i="0" u="none" strike="noStrike" kern="1200" cap="none" spc="0" normalizeH="0" baseline="0" noProof="0" dirty="0">
              <a:ln>
                <a:noFill/>
              </a:ln>
              <a:solidFill>
                <a:srgbClr val="336699"/>
              </a:solidFill>
              <a:effectLst/>
              <a:uLnTx/>
              <a:uFillTx/>
              <a:latin typeface="Arial" panose="020B0604020202020204" pitchFamily="34" charset="0"/>
              <a:ea typeface="ＭＳ Ｐゴシック" pitchFamily="34" charset="-128"/>
              <a:cs typeface="Arial" panose="020B0604020202020204" pitchFamily="34" charset="0"/>
            </a:endParaRPr>
          </a:p>
        </p:txBody>
      </p:sp>
      <p:pic>
        <p:nvPicPr>
          <p:cNvPr id="4" name="Resim 3">
            <a:extLst>
              <a:ext uri="{FF2B5EF4-FFF2-40B4-BE49-F238E27FC236}">
                <a16:creationId xmlns:a16="http://schemas.microsoft.com/office/drawing/2014/main" id="{A95D6CDF-BED1-4B82-A5D5-5C5AD07AAF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6660" y="5399328"/>
            <a:ext cx="3520063" cy="1135696"/>
          </a:xfrm>
          <a:prstGeom prst="rect">
            <a:avLst/>
          </a:prstGeom>
        </p:spPr>
      </p:pic>
    </p:spTree>
    <p:extLst>
      <p:ext uri="{BB962C8B-B14F-4D97-AF65-F5344CB8AC3E}">
        <p14:creationId xmlns:p14="http://schemas.microsoft.com/office/powerpoint/2010/main" val="279615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Giriş</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Formlar genelde kullanıcıların veri girdiği ya da seçim yaptığı alanlar ile bu bilgileri sunucuya gönderen düğmelerden oluşan bir bütündür.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Formlar içerisinde verilerin girildiği ya da seçimlerin yapıldığı araçlara form elemanları denir.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formun bir ya da birden fazla form elemanına ait verileri bir bütün olarak sunucuya gönderilebilir.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5.1’de ad ve </a:t>
            </a:r>
            <a:r>
              <a:rPr lang="tr-TR" dirty="0" err="1">
                <a:solidFill>
                  <a:srgbClr val="000000"/>
                </a:solidFill>
                <a:latin typeface="Arial" pitchFamily="34" charset="0"/>
              </a:rPr>
              <a:t>soyad</a:t>
            </a:r>
            <a:r>
              <a:rPr lang="tr-TR" dirty="0">
                <a:solidFill>
                  <a:srgbClr val="000000"/>
                </a:solidFill>
                <a:latin typeface="Arial" pitchFamily="34" charset="0"/>
              </a:rPr>
              <a:t> bilgilerinin girilebildiği bir formun kodları yer almaktadır.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Formları daha iyi anlayabilmek için bu örneğe göz atalım.</a:t>
            </a:r>
          </a:p>
        </p:txBody>
      </p:sp>
    </p:spTree>
    <p:extLst>
      <p:ext uri="{BB962C8B-B14F-4D97-AF65-F5344CB8AC3E}">
        <p14:creationId xmlns:p14="http://schemas.microsoft.com/office/powerpoint/2010/main" val="2269812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Giriş</a:t>
            </a:r>
            <a:endParaRPr lang="en-US" sz="3200" dirty="0"/>
          </a:p>
        </p:txBody>
      </p:sp>
      <p:sp>
        <p:nvSpPr>
          <p:cNvPr id="154627" name="Rectangle 3"/>
          <p:cNvSpPr>
            <a:spLocks noChangeArrowheads="1"/>
          </p:cNvSpPr>
          <p:nvPr/>
        </p:nvSpPr>
        <p:spPr bwMode="auto">
          <a:xfrm>
            <a:off x="0" y="2418007"/>
            <a:ext cx="9144000" cy="3041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Yukarıdaki kayıt formunda isim, </a:t>
            </a:r>
            <a:r>
              <a:rPr lang="tr-TR" dirty="0" err="1">
                <a:solidFill>
                  <a:srgbClr val="000000"/>
                </a:solidFill>
                <a:latin typeface="Arial" pitchFamily="34" charset="0"/>
              </a:rPr>
              <a:t>soyisim</a:t>
            </a:r>
            <a:r>
              <a:rPr lang="tr-TR" dirty="0">
                <a:solidFill>
                  <a:srgbClr val="000000"/>
                </a:solidFill>
                <a:latin typeface="Arial" pitchFamily="34" charset="0"/>
              </a:rPr>
              <a:t> girilebilen iki metin kutusu ve bir gönder düğmesi olmak üzere üç adet form elemanını oluşturan kodlar yer almaktadır.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Kodlar tarayıcıda açıldığında Resim 5.2’de ekran görüntüsü elde edilmektedir.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Kutucuklara girilen bilgiler Gönder düğmesiyle sunucuya gönderilmektedir. </a:t>
            </a:r>
          </a:p>
        </p:txBody>
      </p:sp>
      <p:pic>
        <p:nvPicPr>
          <p:cNvPr id="3" name="Resim 2">
            <a:extLst>
              <a:ext uri="{FF2B5EF4-FFF2-40B4-BE49-F238E27FC236}">
                <a16:creationId xmlns:a16="http://schemas.microsoft.com/office/drawing/2014/main" id="{994E844D-5EC0-4EE5-A55B-6A494D448996}"/>
              </a:ext>
            </a:extLst>
          </p:cNvPr>
          <p:cNvPicPr>
            <a:picLocks noChangeAspect="1"/>
          </p:cNvPicPr>
          <p:nvPr/>
        </p:nvPicPr>
        <p:blipFill>
          <a:blip r:embed="rId2"/>
          <a:stretch>
            <a:fillRect/>
          </a:stretch>
        </p:blipFill>
        <p:spPr>
          <a:xfrm>
            <a:off x="625884" y="999554"/>
            <a:ext cx="7613309" cy="1221539"/>
          </a:xfrm>
          <a:prstGeom prst="rect">
            <a:avLst/>
          </a:prstGeom>
        </p:spPr>
      </p:pic>
      <p:pic>
        <p:nvPicPr>
          <p:cNvPr id="5" name="Resim 4">
            <a:extLst>
              <a:ext uri="{FF2B5EF4-FFF2-40B4-BE49-F238E27FC236}">
                <a16:creationId xmlns:a16="http://schemas.microsoft.com/office/drawing/2014/main" id="{DE50F34A-0FEE-4F55-9A66-D3A547AE2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260" y="5459508"/>
            <a:ext cx="8153480" cy="1254382"/>
          </a:xfrm>
          <a:prstGeom prst="rect">
            <a:avLst/>
          </a:prstGeom>
        </p:spPr>
      </p:pic>
    </p:spTree>
    <p:extLst>
      <p:ext uri="{BB962C8B-B14F-4D97-AF65-F5344CB8AC3E}">
        <p14:creationId xmlns:p14="http://schemas.microsoft.com/office/powerpoint/2010/main" val="3607990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Giriş</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5.1’deki birinci satırda görüldüğü üzere &lt;form&gt; etiketi içinde </a:t>
            </a:r>
            <a:r>
              <a:rPr lang="tr-TR" dirty="0" err="1">
                <a:solidFill>
                  <a:srgbClr val="000000"/>
                </a:solidFill>
                <a:latin typeface="Arial" pitchFamily="34" charset="0"/>
              </a:rPr>
              <a:t>action</a:t>
            </a:r>
            <a:r>
              <a:rPr lang="tr-TR" dirty="0">
                <a:solidFill>
                  <a:srgbClr val="000000"/>
                </a:solidFill>
                <a:latin typeface="Arial" pitchFamily="34" charset="0"/>
              </a:rPr>
              <a:t>, </a:t>
            </a:r>
            <a:r>
              <a:rPr lang="tr-TR" dirty="0" err="1">
                <a:solidFill>
                  <a:srgbClr val="000000"/>
                </a:solidFill>
                <a:latin typeface="Arial" pitchFamily="34" charset="0"/>
              </a:rPr>
              <a:t>method</a:t>
            </a:r>
            <a:r>
              <a:rPr lang="tr-TR" dirty="0">
                <a:solidFill>
                  <a:srgbClr val="000000"/>
                </a:solidFill>
                <a:latin typeface="Arial" pitchFamily="34" charset="0"/>
              </a:rPr>
              <a:t> ve </a:t>
            </a:r>
            <a:r>
              <a:rPr lang="tr-TR" dirty="0" err="1">
                <a:solidFill>
                  <a:srgbClr val="000000"/>
                </a:solidFill>
                <a:latin typeface="Arial" pitchFamily="34" charset="0"/>
              </a:rPr>
              <a:t>target</a:t>
            </a:r>
            <a:r>
              <a:rPr lang="tr-TR" dirty="0">
                <a:solidFill>
                  <a:srgbClr val="000000"/>
                </a:solidFill>
                <a:latin typeface="Arial" pitchFamily="34" charset="0"/>
              </a:rPr>
              <a:t> gibi kodların bulunduğu görülmektedir.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kodlara özellik denilmektedir.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Özellikler formlara ve form elemanlarına ek </a:t>
            </a:r>
            <a:r>
              <a:rPr lang="tr-TR">
                <a:solidFill>
                  <a:srgbClr val="000000"/>
                </a:solidFill>
                <a:latin typeface="Arial" pitchFamily="34" charset="0"/>
              </a:rPr>
              <a:t>işlevler kazandırmak ya </a:t>
            </a:r>
            <a:r>
              <a:rPr lang="tr-TR" dirty="0">
                <a:solidFill>
                  <a:srgbClr val="000000"/>
                </a:solidFill>
                <a:latin typeface="Arial" pitchFamily="34" charset="0"/>
              </a:rPr>
              <a:t>da sınırlamalar getirmek için kullanılırlar.</a:t>
            </a:r>
          </a:p>
        </p:txBody>
      </p:sp>
    </p:spTree>
    <p:extLst>
      <p:ext uri="{BB962C8B-B14F-4D97-AF65-F5344CB8AC3E}">
        <p14:creationId xmlns:p14="http://schemas.microsoft.com/office/powerpoint/2010/main" val="538123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5.3’te görüldüğü gibi &lt;form&gt; etiketi içine Tablo 1’de yer alan özellikler eklenebilir.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özelliklerin alabilecekleri değerler, kullanım biçimleri ve tanımları tabloda yer almaktadır.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bazı özelliklerin hemen altında ve sonraki bölümlerde görüleceği üzere HTML5 ibaresi yer almaktadır.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HTML5, o özelliğin HTML5 ile yeni gelen bir özellik olduğunu göstermektedir.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WEB sayfası tasarımının temelini oluşturan HTML, zaman içinde geliştirilerek yeni özellikler kazanmaktadır.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özellikler gerek WEB sayfası tasarımcılarına gerekse WEB kullanıcılarına kolaylıklar sağlamaktadır.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Son olarak </a:t>
            </a:r>
            <a:r>
              <a:rPr lang="tr-TR" dirty="0" err="1">
                <a:solidFill>
                  <a:srgbClr val="000000"/>
                </a:solidFill>
                <a:latin typeface="Arial" pitchFamily="34" charset="0"/>
              </a:rPr>
              <a:t>olarak</a:t>
            </a:r>
            <a:r>
              <a:rPr lang="tr-TR" dirty="0">
                <a:solidFill>
                  <a:srgbClr val="000000"/>
                </a:solidFill>
                <a:latin typeface="Arial" pitchFamily="34" charset="0"/>
              </a:rPr>
              <a:t> HTML5 sürümü kullanılmaktadır.</a:t>
            </a:r>
          </a:p>
        </p:txBody>
      </p:sp>
    </p:spTree>
    <p:extLst>
      <p:ext uri="{BB962C8B-B14F-4D97-AF65-F5344CB8AC3E}">
        <p14:creationId xmlns:p14="http://schemas.microsoft.com/office/powerpoint/2010/main" val="2697817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pic>
        <p:nvPicPr>
          <p:cNvPr id="5" name="Resim 4">
            <a:extLst>
              <a:ext uri="{FF2B5EF4-FFF2-40B4-BE49-F238E27FC236}">
                <a16:creationId xmlns:a16="http://schemas.microsoft.com/office/drawing/2014/main" id="{E9470884-DD72-4FEE-8B7B-710D77EE3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064" y="986829"/>
            <a:ext cx="6706536" cy="2686425"/>
          </a:xfrm>
          <a:prstGeom prst="rect">
            <a:avLst/>
          </a:prstGeom>
        </p:spPr>
      </p:pic>
      <p:pic>
        <p:nvPicPr>
          <p:cNvPr id="7" name="Resim 6">
            <a:extLst>
              <a:ext uri="{FF2B5EF4-FFF2-40B4-BE49-F238E27FC236}">
                <a16:creationId xmlns:a16="http://schemas.microsoft.com/office/drawing/2014/main" id="{5B434094-52FB-4A0E-B78D-88EFEEC6A8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248" y="3137114"/>
            <a:ext cx="6754168" cy="2734057"/>
          </a:xfrm>
          <a:prstGeom prst="rect">
            <a:avLst/>
          </a:prstGeom>
        </p:spPr>
      </p:pic>
    </p:spTree>
    <p:extLst>
      <p:ext uri="{BB962C8B-B14F-4D97-AF65-F5344CB8AC3E}">
        <p14:creationId xmlns:p14="http://schemas.microsoft.com/office/powerpoint/2010/main" val="2525099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Tablo 5.1.’deki özellikler form yapısına uygun şekilde &lt;form&gt; etiketi içinde kullanılabilir.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Resim 5.4’te bir metin kutusu ve düğmeden oluşan bir formun kodları görülmektedir. </a:t>
            </a:r>
          </a:p>
        </p:txBody>
      </p:sp>
      <p:pic>
        <p:nvPicPr>
          <p:cNvPr id="3" name="Resim 2">
            <a:extLst>
              <a:ext uri="{FF2B5EF4-FFF2-40B4-BE49-F238E27FC236}">
                <a16:creationId xmlns:a16="http://schemas.microsoft.com/office/drawing/2014/main" id="{ABB95064-8439-4507-B158-105283DD5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14" y="3867015"/>
            <a:ext cx="7039344" cy="1694886"/>
          </a:xfrm>
          <a:prstGeom prst="rect">
            <a:avLst/>
          </a:prstGeom>
        </p:spPr>
      </p:pic>
    </p:spTree>
    <p:extLst>
      <p:ext uri="{BB962C8B-B14F-4D97-AF65-F5344CB8AC3E}">
        <p14:creationId xmlns:p14="http://schemas.microsoft.com/office/powerpoint/2010/main" val="1358385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İşlem sonucunu yeni bir pencerede açabilmek için </a:t>
            </a:r>
            <a:r>
              <a:rPr lang="tr-TR" dirty="0" err="1">
                <a:solidFill>
                  <a:srgbClr val="000000"/>
                </a:solidFill>
                <a:latin typeface="Arial" pitchFamily="34" charset="0"/>
              </a:rPr>
              <a:t>target</a:t>
            </a:r>
            <a:r>
              <a:rPr lang="tr-TR" dirty="0">
                <a:solidFill>
                  <a:srgbClr val="000000"/>
                </a:solidFill>
                <a:latin typeface="Arial" pitchFamily="34" charset="0"/>
              </a:rPr>
              <a:t>=”_</a:t>
            </a:r>
            <a:r>
              <a:rPr lang="tr-TR" dirty="0" err="1">
                <a:solidFill>
                  <a:srgbClr val="000000"/>
                </a:solidFill>
                <a:latin typeface="Arial" pitchFamily="34" charset="0"/>
              </a:rPr>
              <a:t>blank</a:t>
            </a:r>
            <a:r>
              <a:rPr lang="tr-TR" dirty="0">
                <a:solidFill>
                  <a:srgbClr val="000000"/>
                </a:solidFill>
                <a:latin typeface="Arial" pitchFamily="34" charset="0"/>
              </a:rPr>
              <a:t>” komutu &lt;form&gt; etiketi içine eklenmiştir.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5.4.’teki örnek kodlarda yer aldığı gibi aslında formların en fazla kullanılan iki özelliği vardır.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Bunlar </a:t>
            </a:r>
            <a:r>
              <a:rPr lang="tr-TR" dirty="0" err="1">
                <a:solidFill>
                  <a:srgbClr val="000000"/>
                </a:solidFill>
                <a:latin typeface="Arial" pitchFamily="34" charset="0"/>
              </a:rPr>
              <a:t>action</a:t>
            </a:r>
            <a:r>
              <a:rPr lang="tr-TR" dirty="0">
                <a:solidFill>
                  <a:srgbClr val="000000"/>
                </a:solidFill>
                <a:latin typeface="Arial" pitchFamily="34" charset="0"/>
              </a:rPr>
              <a:t> ve </a:t>
            </a:r>
            <a:r>
              <a:rPr lang="tr-TR" dirty="0" err="1">
                <a:solidFill>
                  <a:srgbClr val="000000"/>
                </a:solidFill>
                <a:latin typeface="Arial" pitchFamily="34" charset="0"/>
              </a:rPr>
              <a:t>method’dur</a:t>
            </a:r>
            <a:r>
              <a:rPr lang="tr-TR" dirty="0">
                <a:solidFill>
                  <a:srgbClr val="000000"/>
                </a:solidFill>
                <a:latin typeface="Arial" pitchFamily="34" charset="0"/>
              </a:rPr>
              <a:t>. Bu iki özellik neredeyse bütün formlarda yer alır.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Action özelliği formlardan alınan verinin sunucuda nerede değerlendirileceğini belirler.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CGI, ASP veya PHP gibi uygulamalar form verilerini işlemede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sunucuya gönderilen veriler bir </a:t>
            </a:r>
            <a:r>
              <a:rPr lang="tr-TR" dirty="0" err="1">
                <a:solidFill>
                  <a:srgbClr val="000000"/>
                </a:solidFill>
                <a:latin typeface="Arial" pitchFamily="34" charset="0"/>
              </a:rPr>
              <a:t>veritabanına</a:t>
            </a:r>
            <a:r>
              <a:rPr lang="tr-TR" dirty="0">
                <a:solidFill>
                  <a:srgbClr val="000000"/>
                </a:solidFill>
                <a:latin typeface="Arial" pitchFamily="34" charset="0"/>
              </a:rPr>
              <a:t> kaydedilebilir. </a:t>
            </a:r>
            <a:r>
              <a:rPr lang="tr-TR" dirty="0" err="1">
                <a:solidFill>
                  <a:srgbClr val="000000"/>
                </a:solidFill>
                <a:latin typeface="Arial" pitchFamily="34" charset="0"/>
              </a:rPr>
              <a:t>Method</a:t>
            </a:r>
            <a:r>
              <a:rPr lang="tr-TR" dirty="0">
                <a:solidFill>
                  <a:srgbClr val="000000"/>
                </a:solidFill>
                <a:latin typeface="Arial" pitchFamily="34" charset="0"/>
              </a:rPr>
              <a:t> özelliği kullanıcı verisinin sunucuya nasıl gönderileceğini, başka bir deyişle form verilerinin iletim biçimini belirler. </a:t>
            </a:r>
            <a:r>
              <a:rPr lang="tr-TR" dirty="0" err="1">
                <a:solidFill>
                  <a:srgbClr val="000000"/>
                </a:solidFill>
                <a:latin typeface="Arial" pitchFamily="34" charset="0"/>
              </a:rPr>
              <a:t>Get</a:t>
            </a:r>
            <a:r>
              <a:rPr lang="tr-TR" dirty="0">
                <a:solidFill>
                  <a:srgbClr val="000000"/>
                </a:solidFill>
                <a:latin typeface="Arial" pitchFamily="34" charset="0"/>
              </a:rPr>
              <a:t> ve post olmak üzere 2 değer vardır.</a:t>
            </a:r>
          </a:p>
        </p:txBody>
      </p:sp>
    </p:spTree>
    <p:extLst>
      <p:ext uri="{BB962C8B-B14F-4D97-AF65-F5344CB8AC3E}">
        <p14:creationId xmlns:p14="http://schemas.microsoft.com/office/powerpoint/2010/main" val="608734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iki değerin farkları şu şekilde özetlenebilir.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Formlarda veri iletim metodu olarak </a:t>
            </a:r>
            <a:r>
              <a:rPr lang="tr-TR" dirty="0" err="1">
                <a:solidFill>
                  <a:srgbClr val="000000"/>
                </a:solidFill>
                <a:latin typeface="Arial" pitchFamily="34" charset="0"/>
              </a:rPr>
              <a:t>get</a:t>
            </a:r>
            <a:r>
              <a:rPr lang="tr-TR" dirty="0">
                <a:solidFill>
                  <a:srgbClr val="000000"/>
                </a:solidFill>
                <a:latin typeface="Arial" pitchFamily="34" charset="0"/>
              </a:rPr>
              <a:t> kullanıldığında form elemanının karşısında aldığı değer adres satırında gözükür.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Resim 5.4’teki örnekte isim kutusuna cem yazıp gönder düğmesine bastığımızda açılan sayfanın adres satırında “http://www.webadresi.com.tr/</a:t>
            </a:r>
            <a:r>
              <a:rPr lang="tr-TR" dirty="0" err="1">
                <a:solidFill>
                  <a:srgbClr val="000000"/>
                </a:solidFill>
                <a:latin typeface="Arial" pitchFamily="34" charset="0"/>
              </a:rPr>
              <a:t>kayit.php?isim</a:t>
            </a:r>
            <a:r>
              <a:rPr lang="tr-TR" dirty="0">
                <a:solidFill>
                  <a:srgbClr val="000000"/>
                </a:solidFill>
                <a:latin typeface="Arial" pitchFamily="34" charset="0"/>
              </a:rPr>
              <a:t>=cem” şeklinde bir ifade yer alacaktır.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 içerisinde başka elemanlar yer alıyorsa, onların değeri de bu şekilde adres satırında çiftler hâlinde gözükecektir.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Post metodunda ise veriler adres satırında gözükmeden arka planda sunucuya gönderilir. </a:t>
            </a: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Get</a:t>
            </a:r>
            <a:r>
              <a:rPr lang="tr-TR" dirty="0">
                <a:solidFill>
                  <a:srgbClr val="000000"/>
                </a:solidFill>
                <a:latin typeface="Arial" pitchFamily="34" charset="0"/>
              </a:rPr>
              <a:t> metodundaki gibi şifre türü verilerin adres satırında gözükmesi, güvenlik anlamında sorunlar yaratabilir. </a:t>
            </a:r>
          </a:p>
        </p:txBody>
      </p:sp>
    </p:spTree>
    <p:extLst>
      <p:ext uri="{BB962C8B-B14F-4D97-AF65-F5344CB8AC3E}">
        <p14:creationId xmlns:p14="http://schemas.microsoft.com/office/powerpoint/2010/main" val="2433126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Ayrıca </a:t>
            </a:r>
            <a:r>
              <a:rPr lang="tr-TR" dirty="0" err="1">
                <a:solidFill>
                  <a:srgbClr val="000000"/>
                </a:solidFill>
                <a:latin typeface="Arial" pitchFamily="34" charset="0"/>
              </a:rPr>
              <a:t>get</a:t>
            </a:r>
            <a:r>
              <a:rPr lang="tr-TR" dirty="0">
                <a:solidFill>
                  <a:srgbClr val="000000"/>
                </a:solidFill>
                <a:latin typeface="Arial" pitchFamily="34" charset="0"/>
              </a:rPr>
              <a:t> metodunda form bilgilerini içeren adres gönderimi için belirli bir karakter sayısı sınırı vardır.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sınır tarayıcı ya da sunucuya göre değişebilir. Başka bir deyişle uygulamada çok yeri olmasa da </a:t>
            </a:r>
            <a:r>
              <a:rPr lang="tr-TR" dirty="0" err="1">
                <a:solidFill>
                  <a:srgbClr val="000000"/>
                </a:solidFill>
                <a:latin typeface="Arial" pitchFamily="34" charset="0"/>
              </a:rPr>
              <a:t>get</a:t>
            </a:r>
            <a:r>
              <a:rPr lang="tr-TR" dirty="0">
                <a:solidFill>
                  <a:srgbClr val="000000"/>
                </a:solidFill>
                <a:latin typeface="Arial" pitchFamily="34" charset="0"/>
              </a:rPr>
              <a:t> metoduyla sınırlı miktarda form verisi sunucuya gönderilebilir.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a:t>
            </a:r>
            <a:r>
              <a:rPr lang="tr-TR" dirty="0" err="1">
                <a:solidFill>
                  <a:srgbClr val="000000"/>
                </a:solidFill>
                <a:latin typeface="Arial" pitchFamily="34" charset="0"/>
              </a:rPr>
              <a:t>get</a:t>
            </a:r>
            <a:r>
              <a:rPr lang="tr-TR" dirty="0">
                <a:solidFill>
                  <a:srgbClr val="000000"/>
                </a:solidFill>
                <a:latin typeface="Arial" pitchFamily="34" charset="0"/>
              </a:rPr>
              <a:t> ile veri iletiminin bir avantajı vardır. Formlarla yapılmış belirli sorgulamaların sonuçları sık kullanılanlara eklenebilir.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bir arama motorunda yapılan araştırma ya da bir WEB sitesinde belirli değişkenlere göre yapılan arama olabilir.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bir ikinci el araç sitesinde dizel, sedan ve mavi bir araç aradığımızda, arama sonuçlarını sık kullanılanlara ekleyerek daha sonra inceleme olanağına sahip olabiliriz.</a:t>
            </a:r>
          </a:p>
        </p:txBody>
      </p:sp>
    </p:spTree>
    <p:extLst>
      <p:ext uri="{BB962C8B-B14F-4D97-AF65-F5344CB8AC3E}">
        <p14:creationId xmlns:p14="http://schemas.microsoft.com/office/powerpoint/2010/main" val="413656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Özellikleri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Name özelliği formların ve form elemanlarının çoğunda yer alır.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Özellikle veri taşıyan ve üzerinde sunucu ya da istemcide işlem yapılacak form elemanlarında name özelliği kullanılmalıdır.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 elemanının taşıyacağı veri için kullanılacak değişkenin adı name ile belirlenir.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a:t>
            </a:r>
            <a:r>
              <a:rPr lang="tr-TR" dirty="0" err="1">
                <a:solidFill>
                  <a:srgbClr val="000000"/>
                </a:solidFill>
                <a:latin typeface="Arial" pitchFamily="34" charset="0"/>
              </a:rPr>
              <a:t>text</a:t>
            </a:r>
            <a:r>
              <a:rPr lang="tr-TR" dirty="0">
                <a:solidFill>
                  <a:srgbClr val="000000"/>
                </a:solidFill>
                <a:latin typeface="Arial" pitchFamily="34" charset="0"/>
              </a:rPr>
              <a:t>” name=”ad”&gt; ifadesinde ad isimli bir metin kutusu oluşturulmaktadır. Kutuya girilen kullanıcı ismi Ali ise, ad=Ali olarak sunucuya gönderilir.</a:t>
            </a:r>
          </a:p>
        </p:txBody>
      </p:sp>
    </p:spTree>
    <p:extLst>
      <p:ext uri="{BB962C8B-B14F-4D97-AF65-F5344CB8AC3E}">
        <p14:creationId xmlns:p14="http://schemas.microsoft.com/office/powerpoint/2010/main" val="628491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Form Elemanları</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 elemanları genellikle &lt;form&gt;…&lt;/form&gt; etiketleri arasında kalan alana girilen, kullanıcının veri girişi ya da seçim yaptığı birimlerdir.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bir siteye kayıt olurken mail adresimizi girdiğimiz metin kutusu veya öğrenim durumumuzu belirlediğimiz açılır listeler birer form elemanıdır.</a:t>
            </a:r>
          </a:p>
        </p:txBody>
      </p:sp>
    </p:spTree>
    <p:extLst>
      <p:ext uri="{BB962C8B-B14F-4D97-AF65-F5344CB8AC3E}">
        <p14:creationId xmlns:p14="http://schemas.microsoft.com/office/powerpoint/2010/main" val="3784963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Input (Giriş)</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Input elemanı genellikle &lt;form&gt; etiketi içinde kullanılır ve birçok formatta veri girebilmesini sağlar.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Veri girişi tipi </a:t>
            </a:r>
            <a:r>
              <a:rPr lang="tr-TR" dirty="0" err="1">
                <a:solidFill>
                  <a:srgbClr val="000000"/>
                </a:solidFill>
                <a:latin typeface="Arial" pitchFamily="34" charset="0"/>
              </a:rPr>
              <a:t>type</a:t>
            </a:r>
            <a:r>
              <a:rPr lang="tr-TR" dirty="0">
                <a:solidFill>
                  <a:srgbClr val="000000"/>
                </a:solidFill>
                <a:latin typeface="Arial" pitchFamily="34" charset="0"/>
              </a:rPr>
              <a:t> komutuyla belirlenir ve kapama etiketi kullanılmadan özellikler eklenir.</a:t>
            </a:r>
          </a:p>
        </p:txBody>
      </p:sp>
    </p:spTree>
    <p:extLst>
      <p:ext uri="{BB962C8B-B14F-4D97-AF65-F5344CB8AC3E}">
        <p14:creationId xmlns:p14="http://schemas.microsoft.com/office/powerpoint/2010/main" val="4148124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err="1"/>
              <a:t>Text</a:t>
            </a:r>
            <a:r>
              <a:rPr lang="tr-TR" sz="3200" dirty="0"/>
              <a:t> (Metin Kutusu)</a:t>
            </a:r>
            <a:endParaRPr lang="en-US" sz="3200" dirty="0"/>
          </a:p>
        </p:txBody>
      </p:sp>
      <p:sp>
        <p:nvSpPr>
          <p:cNvPr id="154627" name="Rectangle 3"/>
          <p:cNvSpPr>
            <a:spLocks noChangeArrowheads="1"/>
          </p:cNvSpPr>
          <p:nvPr/>
        </p:nvSpPr>
        <p:spPr bwMode="auto">
          <a:xfrm>
            <a:off x="0" y="876300"/>
            <a:ext cx="5519128"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Tek satırlık metin girişi için kullanılır. Resim 5.7’de </a:t>
            </a:r>
            <a:r>
              <a:rPr lang="tr-TR" dirty="0" err="1">
                <a:solidFill>
                  <a:srgbClr val="000000"/>
                </a:solidFill>
                <a:latin typeface="Arial" pitchFamily="34" charset="0"/>
              </a:rPr>
              <a:t>text</a:t>
            </a:r>
            <a:r>
              <a:rPr lang="tr-TR" dirty="0">
                <a:solidFill>
                  <a:srgbClr val="000000"/>
                </a:solidFill>
                <a:latin typeface="Arial" pitchFamily="34" charset="0"/>
              </a:rPr>
              <a:t> için örnek kodlar yer almaktadır.</a:t>
            </a: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Text</a:t>
            </a:r>
            <a:r>
              <a:rPr lang="tr-TR" dirty="0">
                <a:solidFill>
                  <a:srgbClr val="000000"/>
                </a:solidFill>
                <a:latin typeface="Arial" pitchFamily="34" charset="0"/>
              </a:rPr>
              <a:t> elemanına </a:t>
            </a:r>
            <a:r>
              <a:rPr lang="tr-TR" dirty="0" err="1">
                <a:solidFill>
                  <a:srgbClr val="000000"/>
                </a:solidFill>
                <a:latin typeface="Arial" pitchFamily="34" charset="0"/>
              </a:rPr>
              <a:t>autocomplete</a:t>
            </a:r>
            <a:r>
              <a:rPr lang="tr-TR" dirty="0">
                <a:solidFill>
                  <a:srgbClr val="000000"/>
                </a:solidFill>
                <a:latin typeface="Arial" pitchFamily="34" charset="0"/>
              </a:rPr>
              <a:t>, </a:t>
            </a:r>
            <a:r>
              <a:rPr lang="tr-TR" dirty="0" err="1">
                <a:solidFill>
                  <a:srgbClr val="000000"/>
                </a:solidFill>
                <a:latin typeface="Arial" pitchFamily="34" charset="0"/>
              </a:rPr>
              <a:t>maxlength</a:t>
            </a:r>
            <a:r>
              <a:rPr lang="tr-TR" dirty="0">
                <a:solidFill>
                  <a:srgbClr val="000000"/>
                </a:solidFill>
                <a:latin typeface="Arial" pitchFamily="34" charset="0"/>
              </a:rPr>
              <a:t>, name </a:t>
            </a:r>
            <a:r>
              <a:rPr lang="tr-TR" dirty="0" err="1">
                <a:solidFill>
                  <a:srgbClr val="000000"/>
                </a:solidFill>
                <a:latin typeface="Arial" pitchFamily="34" charset="0"/>
              </a:rPr>
              <a:t>placeholder</a:t>
            </a:r>
            <a:r>
              <a:rPr lang="tr-TR" dirty="0">
                <a:solidFill>
                  <a:srgbClr val="000000"/>
                </a:solidFill>
                <a:latin typeface="Arial" pitchFamily="34" charset="0"/>
              </a:rPr>
              <a:t>, </a:t>
            </a:r>
            <a:r>
              <a:rPr lang="tr-TR" dirty="0" err="1">
                <a:solidFill>
                  <a:srgbClr val="000000"/>
                </a:solidFill>
                <a:latin typeface="Arial" pitchFamily="34" charset="0"/>
              </a:rPr>
              <a:t>readonly</a:t>
            </a:r>
            <a:r>
              <a:rPr lang="tr-TR" dirty="0">
                <a:solidFill>
                  <a:srgbClr val="000000"/>
                </a:solidFill>
                <a:latin typeface="Arial" pitchFamily="34" charset="0"/>
              </a:rPr>
              <a:t>, </a:t>
            </a:r>
            <a:r>
              <a:rPr lang="tr-TR" dirty="0" err="1">
                <a:solidFill>
                  <a:srgbClr val="000000"/>
                </a:solidFill>
                <a:latin typeface="Arial" pitchFamily="34" charset="0"/>
              </a:rPr>
              <a:t>required</a:t>
            </a:r>
            <a:r>
              <a:rPr lang="tr-TR" dirty="0">
                <a:solidFill>
                  <a:srgbClr val="000000"/>
                </a:solidFill>
                <a:latin typeface="Arial" pitchFamily="34" charset="0"/>
              </a:rPr>
              <a:t>, size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formda ad ve </a:t>
            </a:r>
            <a:r>
              <a:rPr lang="tr-TR" dirty="0" err="1">
                <a:solidFill>
                  <a:srgbClr val="000000"/>
                </a:solidFill>
                <a:latin typeface="Arial" pitchFamily="34" charset="0"/>
              </a:rPr>
              <a:t>soyad</a:t>
            </a:r>
            <a:r>
              <a:rPr lang="tr-TR" dirty="0">
                <a:solidFill>
                  <a:srgbClr val="000000"/>
                </a:solidFill>
                <a:latin typeface="Arial" pitchFamily="34" charset="0"/>
              </a:rPr>
              <a:t> bölümünün mutlaka doldurulması isteniyorsa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a:t>
            </a:r>
            <a:r>
              <a:rPr lang="tr-TR" dirty="0" err="1">
                <a:solidFill>
                  <a:srgbClr val="000000"/>
                </a:solidFill>
                <a:latin typeface="Arial" pitchFamily="34" charset="0"/>
              </a:rPr>
              <a:t>text</a:t>
            </a:r>
            <a:r>
              <a:rPr lang="tr-TR" dirty="0">
                <a:solidFill>
                  <a:srgbClr val="000000"/>
                </a:solidFill>
                <a:latin typeface="Arial" pitchFamily="34" charset="0"/>
              </a:rPr>
              <a:t>” name=”ad” </a:t>
            </a:r>
            <a:r>
              <a:rPr lang="tr-TR" dirty="0" err="1">
                <a:solidFill>
                  <a:srgbClr val="000000"/>
                </a:solidFill>
                <a:latin typeface="Arial" pitchFamily="34" charset="0"/>
              </a:rPr>
              <a:t>required</a:t>
            </a:r>
            <a:r>
              <a:rPr lang="tr-TR" dirty="0">
                <a:solidFill>
                  <a:srgbClr val="000000"/>
                </a:solidFill>
                <a:latin typeface="Arial" pitchFamily="34" charset="0"/>
              </a:rPr>
              <a:t>&gt; şeklinde </a:t>
            </a:r>
            <a:r>
              <a:rPr lang="tr-TR" dirty="0" err="1">
                <a:solidFill>
                  <a:srgbClr val="000000"/>
                </a:solidFill>
                <a:latin typeface="Arial" pitchFamily="34" charset="0"/>
              </a:rPr>
              <a:t>required</a:t>
            </a:r>
            <a:r>
              <a:rPr lang="tr-TR" dirty="0">
                <a:solidFill>
                  <a:srgbClr val="000000"/>
                </a:solidFill>
                <a:latin typeface="Arial" pitchFamily="34" charset="0"/>
              </a:rPr>
              <a:t> komutu eklenmelidir. </a:t>
            </a:r>
          </a:p>
        </p:txBody>
      </p:sp>
      <p:pic>
        <p:nvPicPr>
          <p:cNvPr id="3" name="Resim 2">
            <a:extLst>
              <a:ext uri="{FF2B5EF4-FFF2-40B4-BE49-F238E27FC236}">
                <a16:creationId xmlns:a16="http://schemas.microsoft.com/office/drawing/2014/main" id="{3798340E-3E13-4C3A-8B42-49F937B23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9128" y="1037849"/>
            <a:ext cx="3105583" cy="2695951"/>
          </a:xfrm>
          <a:prstGeom prst="rect">
            <a:avLst/>
          </a:prstGeom>
        </p:spPr>
      </p:pic>
    </p:spTree>
    <p:extLst>
      <p:ext uri="{BB962C8B-B14F-4D97-AF65-F5344CB8AC3E}">
        <p14:creationId xmlns:p14="http://schemas.microsoft.com/office/powerpoint/2010/main" val="3103269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Password (Şifre)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şifre girebilmesi için bir metin alanı oluşturur. Resim 5.9’da </a:t>
            </a:r>
            <a:r>
              <a:rPr lang="tr-TR" dirty="0" err="1">
                <a:solidFill>
                  <a:srgbClr val="000000"/>
                </a:solidFill>
                <a:latin typeface="Arial" pitchFamily="34" charset="0"/>
              </a:rPr>
              <a:t>password</a:t>
            </a:r>
            <a:r>
              <a:rPr lang="tr-TR" dirty="0">
                <a:solidFill>
                  <a:srgbClr val="000000"/>
                </a:solidFill>
                <a:latin typeface="Arial" pitchFamily="34" charset="0"/>
              </a:rPr>
              <a:t> için örnek kodlar yer almaktadır.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5.9’daki kodların ikinci satırında </a:t>
            </a:r>
            <a:r>
              <a:rPr lang="tr-TR" dirty="0" err="1">
                <a:solidFill>
                  <a:srgbClr val="000000"/>
                </a:solidFill>
                <a:latin typeface="Arial" pitchFamily="34" charset="0"/>
              </a:rPr>
              <a:t>sifre</a:t>
            </a:r>
            <a:r>
              <a:rPr lang="tr-TR" dirty="0">
                <a:solidFill>
                  <a:srgbClr val="000000"/>
                </a:solidFill>
                <a:latin typeface="Arial" pitchFamily="34" charset="0"/>
              </a:rPr>
              <a:t> isimli bir şifre kutusu oluşturulmaktadır.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alana girilen karakterler güvenlik amacıyla ekranda * ya da gibi sembollerle gizlenir.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Forma ait bir gönder düğmesi var ise, gönder düğmesine basıldığında şifre, </a:t>
            </a:r>
            <a:r>
              <a:rPr lang="tr-TR" dirty="0" err="1">
                <a:solidFill>
                  <a:srgbClr val="000000"/>
                </a:solidFill>
                <a:latin typeface="Arial" pitchFamily="34" charset="0"/>
              </a:rPr>
              <a:t>sifre</a:t>
            </a:r>
            <a:r>
              <a:rPr lang="tr-TR" dirty="0">
                <a:solidFill>
                  <a:srgbClr val="000000"/>
                </a:solidFill>
                <a:latin typeface="Arial" pitchFamily="34" charset="0"/>
              </a:rPr>
              <a:t> isimli değişken olarak sunucuya gönderilmektedir.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p:txBody>
      </p:sp>
      <p:pic>
        <p:nvPicPr>
          <p:cNvPr id="3" name="Resim 2">
            <a:extLst>
              <a:ext uri="{FF2B5EF4-FFF2-40B4-BE49-F238E27FC236}">
                <a16:creationId xmlns:a16="http://schemas.microsoft.com/office/drawing/2014/main" id="{2F33FA74-2C2A-4006-8686-5BA6D3F865F6}"/>
              </a:ext>
            </a:extLst>
          </p:cNvPr>
          <p:cNvPicPr>
            <a:picLocks noChangeAspect="1"/>
          </p:cNvPicPr>
          <p:nvPr/>
        </p:nvPicPr>
        <p:blipFill>
          <a:blip r:embed="rId2"/>
          <a:stretch>
            <a:fillRect/>
          </a:stretch>
        </p:blipFill>
        <p:spPr>
          <a:xfrm>
            <a:off x="1196172" y="2091327"/>
            <a:ext cx="5593976" cy="510988"/>
          </a:xfrm>
          <a:prstGeom prst="rect">
            <a:avLst/>
          </a:prstGeom>
        </p:spPr>
      </p:pic>
    </p:spTree>
    <p:extLst>
      <p:ext uri="{BB962C8B-B14F-4D97-AF65-F5344CB8AC3E}">
        <p14:creationId xmlns:p14="http://schemas.microsoft.com/office/powerpoint/2010/main" val="1195596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Email (E-posta)</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e-posta adresini girebilmesi için bir e-posta alanı oluşturur. Resim 5.14’te </a:t>
            </a:r>
            <a:r>
              <a:rPr lang="tr-TR" dirty="0" err="1">
                <a:solidFill>
                  <a:srgbClr val="000000"/>
                </a:solidFill>
                <a:latin typeface="Arial" pitchFamily="34" charset="0"/>
              </a:rPr>
              <a:t>email</a:t>
            </a:r>
            <a:r>
              <a:rPr lang="tr-TR" dirty="0">
                <a:solidFill>
                  <a:srgbClr val="000000"/>
                </a:solidFill>
                <a:latin typeface="Arial" pitchFamily="34" charset="0"/>
              </a:rPr>
              <a:t> için örnek kodlar yer almaktadır.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Resim’deki</a:t>
            </a:r>
            <a:r>
              <a:rPr lang="tr-TR" dirty="0">
                <a:solidFill>
                  <a:srgbClr val="000000"/>
                </a:solidFill>
                <a:latin typeface="Arial" pitchFamily="34" charset="0"/>
              </a:rPr>
              <a:t> kodların ikinci satırında </a:t>
            </a:r>
            <a:r>
              <a:rPr lang="tr-TR" dirty="0" err="1">
                <a:solidFill>
                  <a:srgbClr val="000000"/>
                </a:solidFill>
                <a:latin typeface="Arial" pitchFamily="34" charset="0"/>
              </a:rPr>
              <a:t>email</a:t>
            </a:r>
            <a:r>
              <a:rPr lang="tr-TR" dirty="0">
                <a:solidFill>
                  <a:srgbClr val="000000"/>
                </a:solidFill>
                <a:latin typeface="Arial" pitchFamily="34" charset="0"/>
              </a:rPr>
              <a:t> isimli bir e-posta alanı oluşturulmaktadır.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Gönder düğmesine basıldığında bu alana girilen e-posta adresi, </a:t>
            </a:r>
            <a:r>
              <a:rPr lang="tr-TR" dirty="0" err="1">
                <a:solidFill>
                  <a:srgbClr val="000000"/>
                </a:solidFill>
                <a:latin typeface="Arial" pitchFamily="34" charset="0"/>
              </a:rPr>
              <a:t>email</a:t>
            </a:r>
            <a:r>
              <a:rPr lang="tr-TR" dirty="0">
                <a:solidFill>
                  <a:srgbClr val="000000"/>
                </a:solidFill>
                <a:latin typeface="Arial" pitchFamily="34" charset="0"/>
              </a:rPr>
              <a:t> isimli değişken ile sunucuya gönderilmektedir.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Email için yazılmış bu kodların tarayıcıdaki görüntüsü Resim 5.15’teki gibidir.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Email, e-postalardaki @ simgesi kontrolü yaparak verileri gönderir.</a:t>
            </a:r>
          </a:p>
        </p:txBody>
      </p:sp>
      <p:pic>
        <p:nvPicPr>
          <p:cNvPr id="4" name="Resim 3">
            <a:extLst>
              <a:ext uri="{FF2B5EF4-FFF2-40B4-BE49-F238E27FC236}">
                <a16:creationId xmlns:a16="http://schemas.microsoft.com/office/drawing/2014/main" id="{A4A6377F-25D1-4B58-B016-53988BCB1ADF}"/>
              </a:ext>
            </a:extLst>
          </p:cNvPr>
          <p:cNvPicPr>
            <a:picLocks noChangeAspect="1"/>
          </p:cNvPicPr>
          <p:nvPr/>
        </p:nvPicPr>
        <p:blipFill>
          <a:blip r:embed="rId2"/>
          <a:stretch>
            <a:fillRect/>
          </a:stretch>
        </p:blipFill>
        <p:spPr>
          <a:xfrm>
            <a:off x="1491759" y="1847347"/>
            <a:ext cx="5271247" cy="663388"/>
          </a:xfrm>
          <a:prstGeom prst="rect">
            <a:avLst/>
          </a:prstGeom>
        </p:spPr>
      </p:pic>
    </p:spTree>
    <p:extLst>
      <p:ext uri="{BB962C8B-B14F-4D97-AF65-F5344CB8AC3E}">
        <p14:creationId xmlns:p14="http://schemas.microsoft.com/office/powerpoint/2010/main" val="3208001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Checkbox (Onay Kutusu)</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işaretleyebilmesi için onay kutuları oluşturur. Resim 5.20’de </a:t>
            </a:r>
            <a:r>
              <a:rPr lang="tr-TR" dirty="0" err="1">
                <a:solidFill>
                  <a:srgbClr val="000000"/>
                </a:solidFill>
                <a:latin typeface="Arial" pitchFamily="34" charset="0"/>
              </a:rPr>
              <a:t>checkbox</a:t>
            </a:r>
            <a:r>
              <a:rPr lang="tr-TR" dirty="0">
                <a:solidFill>
                  <a:srgbClr val="000000"/>
                </a:solidFill>
                <a:latin typeface="Arial" pitchFamily="34" charset="0"/>
              </a:rPr>
              <a:t> için örnek kodlar yer almaktadır.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 kendine uyan seçenek ya da seçenekleri işaretleyebilir.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Gönder düğmesine basıldığında bisiklet değeri arac1, taksi değeri arac2 ve tekne değeri arac3 isimli değişkenlerle sunucuya gönderilmektedir.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Checkbox elemanına </a:t>
            </a:r>
            <a:r>
              <a:rPr lang="tr-TR" dirty="0" err="1">
                <a:solidFill>
                  <a:srgbClr val="000000"/>
                </a:solidFill>
                <a:latin typeface="Arial" pitchFamily="34" charset="0"/>
              </a:rPr>
              <a:t>checked</a:t>
            </a:r>
            <a:r>
              <a:rPr lang="tr-TR" dirty="0">
                <a:solidFill>
                  <a:srgbClr val="000000"/>
                </a:solidFill>
                <a:latin typeface="Arial" pitchFamily="34" charset="0"/>
              </a:rPr>
              <a:t>, name, </a:t>
            </a:r>
            <a:r>
              <a:rPr lang="tr-TR" dirty="0" err="1">
                <a:solidFill>
                  <a:srgbClr val="000000"/>
                </a:solidFill>
                <a:latin typeface="Arial" pitchFamily="34" charset="0"/>
              </a:rPr>
              <a:t>required</a:t>
            </a:r>
            <a:r>
              <a:rPr lang="tr-TR" dirty="0">
                <a:solidFill>
                  <a:srgbClr val="000000"/>
                </a:solidFill>
                <a:latin typeface="Arial" pitchFamily="34" charset="0"/>
              </a:rPr>
              <a:t>,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 </a:t>
            </a:r>
          </a:p>
        </p:txBody>
      </p:sp>
      <p:pic>
        <p:nvPicPr>
          <p:cNvPr id="3" name="Resim 2">
            <a:extLst>
              <a:ext uri="{FF2B5EF4-FFF2-40B4-BE49-F238E27FC236}">
                <a16:creationId xmlns:a16="http://schemas.microsoft.com/office/drawing/2014/main" id="{128506AA-52AD-4622-8DC4-F50CF9DBCC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52" y="2201659"/>
            <a:ext cx="6744641" cy="1448002"/>
          </a:xfrm>
          <a:prstGeom prst="rect">
            <a:avLst/>
          </a:prstGeom>
        </p:spPr>
      </p:pic>
    </p:spTree>
    <p:extLst>
      <p:ext uri="{BB962C8B-B14F-4D97-AF65-F5344CB8AC3E}">
        <p14:creationId xmlns:p14="http://schemas.microsoft.com/office/powerpoint/2010/main" val="3585373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Radio (Radyo Düğmesi)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seçim yapabilmesi için radyo düğmeleri oluşturur. Resim 5.22’de </a:t>
            </a:r>
            <a:r>
              <a:rPr lang="tr-TR" dirty="0" err="1">
                <a:solidFill>
                  <a:srgbClr val="000000"/>
                </a:solidFill>
                <a:latin typeface="Arial" pitchFamily="34" charset="0"/>
              </a:rPr>
              <a:t>radio</a:t>
            </a:r>
            <a:r>
              <a:rPr lang="tr-TR" dirty="0">
                <a:solidFill>
                  <a:srgbClr val="000000"/>
                </a:solidFill>
                <a:latin typeface="Arial" pitchFamily="34" charset="0"/>
              </a:rPr>
              <a:t> için örnek kodlar yer almaktadır.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5.22’deki kodların üçüncü ve dördüncü satırlarında cinsiyet isimli radyo düğmeleri oluşturulmaktadır.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 kendine uyan seçeneklerden birisini seçebilir. Gönder düğmesine basıldığında cinsiyet değişkeni bay veya bayan değerlerinden biriyle sunucuya gönderilmektedir.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Radio elemanına </a:t>
            </a:r>
            <a:r>
              <a:rPr lang="tr-TR" dirty="0" err="1">
                <a:solidFill>
                  <a:srgbClr val="000000"/>
                </a:solidFill>
                <a:latin typeface="Arial" pitchFamily="34" charset="0"/>
              </a:rPr>
              <a:t>checked</a:t>
            </a:r>
            <a:r>
              <a:rPr lang="tr-TR" dirty="0">
                <a:solidFill>
                  <a:srgbClr val="000000"/>
                </a:solidFill>
                <a:latin typeface="Arial" pitchFamily="34" charset="0"/>
              </a:rPr>
              <a:t>, name, </a:t>
            </a:r>
            <a:r>
              <a:rPr lang="tr-TR" dirty="0" err="1">
                <a:solidFill>
                  <a:srgbClr val="000000"/>
                </a:solidFill>
                <a:latin typeface="Arial" pitchFamily="34" charset="0"/>
              </a:rPr>
              <a:t>required</a:t>
            </a:r>
            <a:r>
              <a:rPr lang="tr-TR" dirty="0">
                <a:solidFill>
                  <a:srgbClr val="000000"/>
                </a:solidFill>
                <a:latin typeface="Arial" pitchFamily="34" charset="0"/>
              </a:rPr>
              <a:t>,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a:t>
            </a:r>
          </a:p>
        </p:txBody>
      </p:sp>
      <p:pic>
        <p:nvPicPr>
          <p:cNvPr id="4" name="Resim 3">
            <a:extLst>
              <a:ext uri="{FF2B5EF4-FFF2-40B4-BE49-F238E27FC236}">
                <a16:creationId xmlns:a16="http://schemas.microsoft.com/office/drawing/2014/main" id="{B88F642B-13C1-444F-94A9-3F0393EF5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371" y="1823231"/>
            <a:ext cx="5820587" cy="1533739"/>
          </a:xfrm>
          <a:prstGeom prst="rect">
            <a:avLst/>
          </a:prstGeom>
        </p:spPr>
      </p:pic>
    </p:spTree>
    <p:extLst>
      <p:ext uri="{BB962C8B-B14F-4D97-AF65-F5344CB8AC3E}">
        <p14:creationId xmlns:p14="http://schemas.microsoft.com/office/powerpoint/2010/main" val="3823151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Submit (Gönder Düğmesi)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Submit, bundan önceki form elemanları için verilen örneklerde görüldüğü gibi, genel olarak kullanıcının form verilerini sunucuya göndermesi için kullanılır. </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örnekte olduğu gibi </a:t>
            </a:r>
            <a:r>
              <a:rPr lang="tr-TR" dirty="0" err="1">
                <a:solidFill>
                  <a:srgbClr val="000000"/>
                </a:solidFill>
                <a:latin typeface="Arial" pitchFamily="34" charset="0"/>
              </a:rPr>
              <a:t>formaction</a:t>
            </a:r>
            <a:r>
              <a:rPr lang="tr-TR" dirty="0">
                <a:solidFill>
                  <a:srgbClr val="000000"/>
                </a:solidFill>
                <a:latin typeface="Arial" pitchFamily="34" charset="0"/>
              </a:rPr>
              <a:t> özelliğiyle cinsiyet bilgisi, form etiketinde yer alan </a:t>
            </a:r>
            <a:r>
              <a:rPr lang="tr-TR" dirty="0" err="1">
                <a:solidFill>
                  <a:srgbClr val="000000"/>
                </a:solidFill>
                <a:latin typeface="Arial" pitchFamily="34" charset="0"/>
              </a:rPr>
              <a:t>kayit.php</a:t>
            </a:r>
            <a:r>
              <a:rPr lang="tr-TR" dirty="0">
                <a:solidFill>
                  <a:srgbClr val="000000"/>
                </a:solidFill>
                <a:latin typeface="Arial" pitchFamily="34" charset="0"/>
              </a:rPr>
              <a:t> adresine değil, düğme içinde tanımlanan </a:t>
            </a:r>
            <a:r>
              <a:rPr lang="tr-TR" dirty="0" err="1">
                <a:solidFill>
                  <a:srgbClr val="000000"/>
                </a:solidFill>
                <a:latin typeface="Arial" pitchFamily="34" charset="0"/>
              </a:rPr>
              <a:t>cinsiyet.php</a:t>
            </a:r>
            <a:r>
              <a:rPr lang="tr-TR" dirty="0">
                <a:solidFill>
                  <a:srgbClr val="000000"/>
                </a:solidFill>
                <a:latin typeface="Arial" pitchFamily="34" charset="0"/>
              </a:rPr>
              <a:t> adresine gönderilmektedir. </a:t>
            </a: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Formaction</a:t>
            </a:r>
            <a:r>
              <a:rPr lang="tr-TR" dirty="0">
                <a:solidFill>
                  <a:srgbClr val="000000"/>
                </a:solidFill>
                <a:latin typeface="Arial" pitchFamily="34" charset="0"/>
              </a:rPr>
              <a:t> özelliği </a:t>
            </a:r>
            <a:r>
              <a:rPr lang="tr-TR" dirty="0" err="1">
                <a:solidFill>
                  <a:srgbClr val="000000"/>
                </a:solidFill>
                <a:latin typeface="Arial" pitchFamily="34" charset="0"/>
              </a:rPr>
              <a:t>submit</a:t>
            </a:r>
            <a:r>
              <a:rPr lang="tr-TR" dirty="0">
                <a:solidFill>
                  <a:srgbClr val="000000"/>
                </a:solidFill>
                <a:latin typeface="Arial" pitchFamily="34" charset="0"/>
              </a:rPr>
              <a:t> için, kendi veri gönderme yolunu ya da dosyasını belirlemesini sağlar.</a:t>
            </a:r>
          </a:p>
        </p:txBody>
      </p:sp>
      <p:pic>
        <p:nvPicPr>
          <p:cNvPr id="3" name="Resim 2">
            <a:extLst>
              <a:ext uri="{FF2B5EF4-FFF2-40B4-BE49-F238E27FC236}">
                <a16:creationId xmlns:a16="http://schemas.microsoft.com/office/drawing/2014/main" id="{130E13FA-190D-4785-A273-F7D8035DE1C0}"/>
              </a:ext>
            </a:extLst>
          </p:cNvPr>
          <p:cNvPicPr>
            <a:picLocks noChangeAspect="1"/>
          </p:cNvPicPr>
          <p:nvPr/>
        </p:nvPicPr>
        <p:blipFill>
          <a:blip r:embed="rId2"/>
          <a:stretch>
            <a:fillRect/>
          </a:stretch>
        </p:blipFill>
        <p:spPr>
          <a:xfrm>
            <a:off x="591670" y="2112669"/>
            <a:ext cx="7960659" cy="1021976"/>
          </a:xfrm>
          <a:prstGeom prst="rect">
            <a:avLst/>
          </a:prstGeom>
        </p:spPr>
      </p:pic>
    </p:spTree>
    <p:extLst>
      <p:ext uri="{BB962C8B-B14F-4D97-AF65-F5344CB8AC3E}">
        <p14:creationId xmlns:p14="http://schemas.microsoft.com/office/powerpoint/2010/main" val="836462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Image (Resimli Düğme)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Image aslında bir </a:t>
            </a:r>
            <a:r>
              <a:rPr lang="tr-TR" dirty="0" err="1">
                <a:solidFill>
                  <a:srgbClr val="000000"/>
                </a:solidFill>
                <a:latin typeface="Arial" pitchFamily="34" charset="0"/>
              </a:rPr>
              <a:t>submit</a:t>
            </a:r>
            <a:r>
              <a:rPr lang="tr-TR" dirty="0">
                <a:solidFill>
                  <a:srgbClr val="000000"/>
                </a:solidFill>
                <a:latin typeface="Arial" pitchFamily="34" charset="0"/>
              </a:rPr>
              <a:t> elemanıdır. Genel olarak kullanıcının form verilerini sunucuya göndermesi için kullanılır. Tek farkı gönder düğmesi yerine bir resim kullanılmasıdır.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Src</a:t>
            </a:r>
            <a:r>
              <a:rPr lang="tr-TR" dirty="0">
                <a:solidFill>
                  <a:srgbClr val="000000"/>
                </a:solidFill>
                <a:latin typeface="Arial" pitchFamily="34" charset="0"/>
              </a:rPr>
              <a:t> resmin sunucudaki konumunu göstermektedir.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Örnekte olduğu gibi resim öğesi olarak gondersimgesi.png isimli resim kullanılmıştır.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resmin sayfada görüntülenememesi durumunda, alt özelliğiyle sayfada tıklanabilir Gönder yazısı belirecektir.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yazıya basıldığında bilgi adsoyad.asp adresine gönderilecektir. Resmin piksel cinsinden eni ve boyu sırasıyla </a:t>
            </a:r>
            <a:r>
              <a:rPr lang="tr-TR" dirty="0" err="1">
                <a:solidFill>
                  <a:srgbClr val="000000"/>
                </a:solidFill>
                <a:latin typeface="Arial" pitchFamily="34" charset="0"/>
              </a:rPr>
              <a:t>width</a:t>
            </a:r>
            <a:r>
              <a:rPr lang="tr-TR" dirty="0">
                <a:solidFill>
                  <a:srgbClr val="000000"/>
                </a:solidFill>
                <a:latin typeface="Arial" pitchFamily="34" charset="0"/>
              </a:rPr>
              <a:t> ve </a:t>
            </a:r>
            <a:r>
              <a:rPr lang="tr-TR" dirty="0" err="1">
                <a:solidFill>
                  <a:srgbClr val="000000"/>
                </a:solidFill>
                <a:latin typeface="Arial" pitchFamily="34" charset="0"/>
              </a:rPr>
              <a:t>height</a:t>
            </a:r>
            <a:r>
              <a:rPr lang="tr-TR" dirty="0">
                <a:solidFill>
                  <a:srgbClr val="000000"/>
                </a:solidFill>
                <a:latin typeface="Arial" pitchFamily="34" charset="0"/>
              </a:rPr>
              <a:t> özellikleriyle belirlenmiştir.</a:t>
            </a:r>
          </a:p>
        </p:txBody>
      </p:sp>
      <p:pic>
        <p:nvPicPr>
          <p:cNvPr id="4" name="Resim 3">
            <a:extLst>
              <a:ext uri="{FF2B5EF4-FFF2-40B4-BE49-F238E27FC236}">
                <a16:creationId xmlns:a16="http://schemas.microsoft.com/office/drawing/2014/main" id="{8696DD65-5D9F-463C-8629-283F67206284}"/>
              </a:ext>
            </a:extLst>
          </p:cNvPr>
          <p:cNvPicPr>
            <a:picLocks noChangeAspect="1"/>
          </p:cNvPicPr>
          <p:nvPr/>
        </p:nvPicPr>
        <p:blipFill>
          <a:blip r:embed="rId2"/>
          <a:stretch>
            <a:fillRect/>
          </a:stretch>
        </p:blipFill>
        <p:spPr>
          <a:xfrm>
            <a:off x="624897" y="2111393"/>
            <a:ext cx="7709647" cy="1192306"/>
          </a:xfrm>
          <a:prstGeom prst="rect">
            <a:avLst/>
          </a:prstGeom>
        </p:spPr>
      </p:pic>
    </p:spTree>
    <p:extLst>
      <p:ext uri="{BB962C8B-B14F-4D97-AF65-F5344CB8AC3E}">
        <p14:creationId xmlns:p14="http://schemas.microsoft.com/office/powerpoint/2010/main" val="2247679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Reset (Sıfırlama Düğmesi)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Reset genel olarak çok fazla veri girilmesi gereken formlarda önceden girilmiş verilerin tarayıcı üstünde silinmesi için kullanılır. Başka bir deyişle form elemanlarına veri girilmişse, form elemanlarını sayfa yüklendiğindeki değerlerine döndürür.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p:txBody>
      </p:sp>
      <p:pic>
        <p:nvPicPr>
          <p:cNvPr id="3" name="Resim 2">
            <a:extLst>
              <a:ext uri="{FF2B5EF4-FFF2-40B4-BE49-F238E27FC236}">
                <a16:creationId xmlns:a16="http://schemas.microsoft.com/office/drawing/2014/main" id="{FB2ACAA5-B88E-4F9C-8549-1FB8E09A63C8}"/>
              </a:ext>
            </a:extLst>
          </p:cNvPr>
          <p:cNvPicPr>
            <a:picLocks noChangeAspect="1"/>
          </p:cNvPicPr>
          <p:nvPr/>
        </p:nvPicPr>
        <p:blipFill>
          <a:blip r:embed="rId2"/>
          <a:stretch>
            <a:fillRect/>
          </a:stretch>
        </p:blipFill>
        <p:spPr>
          <a:xfrm>
            <a:off x="618811" y="2868335"/>
            <a:ext cx="7637929" cy="1524000"/>
          </a:xfrm>
          <a:prstGeom prst="rect">
            <a:avLst/>
          </a:prstGeom>
        </p:spPr>
      </p:pic>
    </p:spTree>
    <p:extLst>
      <p:ext uri="{BB962C8B-B14F-4D97-AF65-F5344CB8AC3E}">
        <p14:creationId xmlns:p14="http://schemas.microsoft.com/office/powerpoint/2010/main" val="2431847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Tel (Telefon Numarası)</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telefon numarası girebilmesi için bir alan oluşturur. </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Tel elemanına </a:t>
            </a:r>
            <a:r>
              <a:rPr lang="tr-TR" dirty="0" err="1">
                <a:solidFill>
                  <a:srgbClr val="000000"/>
                </a:solidFill>
                <a:latin typeface="Arial" pitchFamily="34" charset="0"/>
              </a:rPr>
              <a:t>autocomplete</a:t>
            </a:r>
            <a:r>
              <a:rPr lang="tr-TR" dirty="0">
                <a:solidFill>
                  <a:srgbClr val="000000"/>
                </a:solidFill>
                <a:latin typeface="Arial" pitchFamily="34" charset="0"/>
              </a:rPr>
              <a:t>, </a:t>
            </a:r>
            <a:r>
              <a:rPr lang="tr-TR" dirty="0" err="1">
                <a:solidFill>
                  <a:srgbClr val="000000"/>
                </a:solidFill>
                <a:latin typeface="Arial" pitchFamily="34" charset="0"/>
              </a:rPr>
              <a:t>list</a:t>
            </a:r>
            <a:r>
              <a:rPr lang="tr-TR" dirty="0">
                <a:solidFill>
                  <a:srgbClr val="000000"/>
                </a:solidFill>
                <a:latin typeface="Arial" pitchFamily="34" charset="0"/>
              </a:rPr>
              <a:t>, </a:t>
            </a:r>
            <a:r>
              <a:rPr lang="tr-TR" dirty="0" err="1">
                <a:solidFill>
                  <a:srgbClr val="000000"/>
                </a:solidFill>
                <a:latin typeface="Arial" pitchFamily="34" charset="0"/>
              </a:rPr>
              <a:t>maxlength</a:t>
            </a:r>
            <a:r>
              <a:rPr lang="tr-TR" dirty="0">
                <a:solidFill>
                  <a:srgbClr val="000000"/>
                </a:solidFill>
                <a:latin typeface="Arial" pitchFamily="34" charset="0"/>
              </a:rPr>
              <a:t>, name, </a:t>
            </a:r>
            <a:r>
              <a:rPr lang="tr-TR" dirty="0" err="1">
                <a:solidFill>
                  <a:srgbClr val="000000"/>
                </a:solidFill>
                <a:latin typeface="Arial" pitchFamily="34" charset="0"/>
              </a:rPr>
              <a:t>pattern</a:t>
            </a:r>
            <a:r>
              <a:rPr lang="tr-TR" dirty="0">
                <a:solidFill>
                  <a:srgbClr val="000000"/>
                </a:solidFill>
                <a:latin typeface="Arial" pitchFamily="34" charset="0"/>
              </a:rPr>
              <a:t>, </a:t>
            </a:r>
            <a:r>
              <a:rPr lang="tr-TR" dirty="0" err="1">
                <a:solidFill>
                  <a:srgbClr val="000000"/>
                </a:solidFill>
                <a:latin typeface="Arial" pitchFamily="34" charset="0"/>
              </a:rPr>
              <a:t>placeholder</a:t>
            </a:r>
            <a:r>
              <a:rPr lang="tr-TR" dirty="0">
                <a:solidFill>
                  <a:srgbClr val="000000"/>
                </a:solidFill>
                <a:latin typeface="Arial" pitchFamily="34" charset="0"/>
              </a:rPr>
              <a:t>, </a:t>
            </a:r>
            <a:r>
              <a:rPr lang="tr-TR" dirty="0" err="1">
                <a:solidFill>
                  <a:srgbClr val="000000"/>
                </a:solidFill>
                <a:latin typeface="Arial" pitchFamily="34" charset="0"/>
              </a:rPr>
              <a:t>readonly</a:t>
            </a:r>
            <a:r>
              <a:rPr lang="tr-TR" dirty="0">
                <a:solidFill>
                  <a:srgbClr val="000000"/>
                </a:solidFill>
                <a:latin typeface="Arial" pitchFamily="34" charset="0"/>
              </a:rPr>
              <a:t>, </a:t>
            </a:r>
            <a:r>
              <a:rPr lang="tr-TR" dirty="0" err="1">
                <a:solidFill>
                  <a:srgbClr val="000000"/>
                </a:solidFill>
                <a:latin typeface="Arial" pitchFamily="34" charset="0"/>
              </a:rPr>
              <a:t>required</a:t>
            </a:r>
            <a:r>
              <a:rPr lang="tr-TR" dirty="0">
                <a:solidFill>
                  <a:srgbClr val="000000"/>
                </a:solidFill>
                <a:latin typeface="Arial" pitchFamily="34" charset="0"/>
              </a:rPr>
              <a:t>, size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Telefon numarasının belirli bir şekilde girilmesi isteniyorsa kullanıcıya bilgi verebilmek için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=”tel” name=”</a:t>
            </a:r>
            <a:r>
              <a:rPr lang="tr-TR" dirty="0" err="1">
                <a:solidFill>
                  <a:srgbClr val="000000"/>
                </a:solidFill>
                <a:latin typeface="Arial" pitchFamily="34" charset="0"/>
              </a:rPr>
              <a:t>telno</a:t>
            </a:r>
            <a:r>
              <a:rPr lang="tr-TR" dirty="0">
                <a:solidFill>
                  <a:srgbClr val="000000"/>
                </a:solidFill>
                <a:latin typeface="Arial" pitchFamily="34" charset="0"/>
              </a:rPr>
              <a:t>” </a:t>
            </a:r>
            <a:r>
              <a:rPr lang="tr-TR" dirty="0" err="1">
                <a:solidFill>
                  <a:srgbClr val="000000"/>
                </a:solidFill>
                <a:latin typeface="Arial" pitchFamily="34" charset="0"/>
              </a:rPr>
              <a:t>placeholder</a:t>
            </a:r>
            <a:r>
              <a:rPr lang="tr-TR" dirty="0">
                <a:solidFill>
                  <a:srgbClr val="000000"/>
                </a:solidFill>
                <a:latin typeface="Arial" pitchFamily="34" charset="0"/>
              </a:rPr>
              <a:t>=”0 5XX XXX XX XX”&gt; şeklinde düzenlenebilir.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Burada telefon numarasının Türkiye’deki numaralandırma biçimi gösterilmiştir.</a:t>
            </a:r>
          </a:p>
        </p:txBody>
      </p:sp>
      <p:pic>
        <p:nvPicPr>
          <p:cNvPr id="3" name="Resim 2">
            <a:extLst>
              <a:ext uri="{FF2B5EF4-FFF2-40B4-BE49-F238E27FC236}">
                <a16:creationId xmlns:a16="http://schemas.microsoft.com/office/drawing/2014/main" id="{6881AD06-23CE-4C38-962E-4BEA590DE292}"/>
              </a:ext>
            </a:extLst>
          </p:cNvPr>
          <p:cNvPicPr>
            <a:picLocks noChangeAspect="1"/>
          </p:cNvPicPr>
          <p:nvPr/>
        </p:nvPicPr>
        <p:blipFill>
          <a:blip r:embed="rId2"/>
          <a:stretch>
            <a:fillRect/>
          </a:stretch>
        </p:blipFill>
        <p:spPr>
          <a:xfrm>
            <a:off x="645951" y="1809308"/>
            <a:ext cx="7962829" cy="975837"/>
          </a:xfrm>
          <a:prstGeom prst="rect">
            <a:avLst/>
          </a:prstGeom>
        </p:spPr>
      </p:pic>
    </p:spTree>
    <p:extLst>
      <p:ext uri="{BB962C8B-B14F-4D97-AF65-F5344CB8AC3E}">
        <p14:creationId xmlns:p14="http://schemas.microsoft.com/office/powerpoint/2010/main" val="110762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Date (Tarih)</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tarih girebilmesi için bir alan oluşturur.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Date elemanına </a:t>
            </a:r>
            <a:r>
              <a:rPr lang="tr-TR" dirty="0" err="1">
                <a:solidFill>
                  <a:srgbClr val="000000"/>
                </a:solidFill>
                <a:latin typeface="Arial" pitchFamily="34" charset="0"/>
              </a:rPr>
              <a:t>autocomplete</a:t>
            </a:r>
            <a:r>
              <a:rPr lang="tr-TR" dirty="0">
                <a:solidFill>
                  <a:srgbClr val="000000"/>
                </a:solidFill>
                <a:latin typeface="Arial" pitchFamily="34" charset="0"/>
              </a:rPr>
              <a:t>, </a:t>
            </a:r>
            <a:r>
              <a:rPr lang="tr-TR" dirty="0" err="1">
                <a:solidFill>
                  <a:srgbClr val="000000"/>
                </a:solidFill>
                <a:latin typeface="Arial" pitchFamily="34" charset="0"/>
              </a:rPr>
              <a:t>list</a:t>
            </a:r>
            <a:r>
              <a:rPr lang="tr-TR" dirty="0">
                <a:solidFill>
                  <a:srgbClr val="000000"/>
                </a:solidFill>
                <a:latin typeface="Arial" pitchFamily="34" charset="0"/>
              </a:rPr>
              <a:t>, </a:t>
            </a:r>
            <a:r>
              <a:rPr lang="tr-TR" dirty="0" err="1">
                <a:solidFill>
                  <a:srgbClr val="000000"/>
                </a:solidFill>
                <a:latin typeface="Arial" pitchFamily="34" charset="0"/>
              </a:rPr>
              <a:t>max</a:t>
            </a:r>
            <a:r>
              <a:rPr lang="tr-TR" dirty="0">
                <a:solidFill>
                  <a:srgbClr val="000000"/>
                </a:solidFill>
                <a:latin typeface="Arial" pitchFamily="34" charset="0"/>
              </a:rPr>
              <a:t>, </a:t>
            </a:r>
            <a:r>
              <a:rPr lang="tr-TR" dirty="0" err="1">
                <a:solidFill>
                  <a:srgbClr val="000000"/>
                </a:solidFill>
                <a:latin typeface="Arial" pitchFamily="34" charset="0"/>
              </a:rPr>
              <a:t>min</a:t>
            </a:r>
            <a:r>
              <a:rPr lang="tr-TR" dirty="0">
                <a:solidFill>
                  <a:srgbClr val="000000"/>
                </a:solidFill>
                <a:latin typeface="Arial" pitchFamily="34" charset="0"/>
              </a:rPr>
              <a:t>, name, </a:t>
            </a:r>
            <a:r>
              <a:rPr lang="tr-TR" dirty="0" err="1">
                <a:solidFill>
                  <a:srgbClr val="000000"/>
                </a:solidFill>
                <a:latin typeface="Arial" pitchFamily="34" charset="0"/>
              </a:rPr>
              <a:t>readonly</a:t>
            </a:r>
            <a:r>
              <a:rPr lang="tr-TR" dirty="0">
                <a:solidFill>
                  <a:srgbClr val="000000"/>
                </a:solidFill>
                <a:latin typeface="Arial" pitchFamily="34" charset="0"/>
              </a:rPr>
              <a:t>, </a:t>
            </a:r>
            <a:r>
              <a:rPr lang="tr-TR" dirty="0" err="1">
                <a:solidFill>
                  <a:srgbClr val="000000"/>
                </a:solidFill>
                <a:latin typeface="Arial" pitchFamily="34" charset="0"/>
              </a:rPr>
              <a:t>required</a:t>
            </a:r>
            <a:r>
              <a:rPr lang="tr-TR" dirty="0">
                <a:solidFill>
                  <a:srgbClr val="000000"/>
                </a:solidFill>
                <a:latin typeface="Arial" pitchFamily="34" charset="0"/>
              </a:rPr>
              <a:t>, step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tarih alanına 1 Ocak 2000 tarihinden önceki tarihlerin girilmemesi isteniyorsa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a:t>
            </a:r>
            <a:r>
              <a:rPr lang="tr-TR" dirty="0" err="1">
                <a:solidFill>
                  <a:srgbClr val="000000"/>
                </a:solidFill>
                <a:latin typeface="Arial" pitchFamily="34" charset="0"/>
              </a:rPr>
              <a:t>date</a:t>
            </a:r>
            <a:r>
              <a:rPr lang="tr-TR" dirty="0">
                <a:solidFill>
                  <a:srgbClr val="000000"/>
                </a:solidFill>
                <a:latin typeface="Arial" pitchFamily="34" charset="0"/>
              </a:rPr>
              <a:t>” name=”</a:t>
            </a:r>
            <a:r>
              <a:rPr lang="tr-TR" dirty="0" err="1">
                <a:solidFill>
                  <a:srgbClr val="000000"/>
                </a:solidFill>
                <a:latin typeface="Arial" pitchFamily="34" charset="0"/>
              </a:rPr>
              <a:t>dogumgunu</a:t>
            </a:r>
            <a:r>
              <a:rPr lang="tr-TR" dirty="0">
                <a:solidFill>
                  <a:srgbClr val="000000"/>
                </a:solidFill>
                <a:latin typeface="Arial" pitchFamily="34" charset="0"/>
              </a:rPr>
              <a:t>” </a:t>
            </a:r>
            <a:r>
              <a:rPr lang="tr-TR" dirty="0" err="1">
                <a:solidFill>
                  <a:srgbClr val="000000"/>
                </a:solidFill>
                <a:latin typeface="Arial" pitchFamily="34" charset="0"/>
              </a:rPr>
              <a:t>min</a:t>
            </a:r>
            <a:r>
              <a:rPr lang="tr-TR" dirty="0">
                <a:solidFill>
                  <a:srgbClr val="000000"/>
                </a:solidFill>
                <a:latin typeface="Arial" pitchFamily="34" charset="0"/>
              </a:rPr>
              <a:t>=”2000-01-01”&gt; şeklinde </a:t>
            </a:r>
            <a:r>
              <a:rPr lang="tr-TR" dirty="0" err="1">
                <a:solidFill>
                  <a:srgbClr val="000000"/>
                </a:solidFill>
                <a:latin typeface="Arial" pitchFamily="34" charset="0"/>
              </a:rPr>
              <a:t>min</a:t>
            </a:r>
            <a:r>
              <a:rPr lang="tr-TR" dirty="0">
                <a:solidFill>
                  <a:srgbClr val="000000"/>
                </a:solidFill>
                <a:latin typeface="Arial" pitchFamily="34" charset="0"/>
              </a:rPr>
              <a:t> özelliği kullanılabilir.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171450" lvl="1">
              <a:spcBef>
                <a:spcPct val="20000"/>
              </a:spcBef>
              <a:buClr>
                <a:srgbClr val="0066CC"/>
              </a:buClr>
              <a:buSzPct val="75000"/>
            </a:pPr>
            <a:endParaRPr lang="tr-TR" dirty="0">
              <a:solidFill>
                <a:srgbClr val="000000"/>
              </a:solidFill>
              <a:latin typeface="Arial" pitchFamily="34" charset="0"/>
            </a:endParaRPr>
          </a:p>
        </p:txBody>
      </p:sp>
      <p:pic>
        <p:nvPicPr>
          <p:cNvPr id="5" name="Resim 4">
            <a:extLst>
              <a:ext uri="{FF2B5EF4-FFF2-40B4-BE49-F238E27FC236}">
                <a16:creationId xmlns:a16="http://schemas.microsoft.com/office/drawing/2014/main" id="{52D8B789-E373-432A-8C6F-B3DA5276FC23}"/>
              </a:ext>
            </a:extLst>
          </p:cNvPr>
          <p:cNvPicPr>
            <a:picLocks noChangeAspect="1"/>
          </p:cNvPicPr>
          <p:nvPr/>
        </p:nvPicPr>
        <p:blipFill>
          <a:blip r:embed="rId2"/>
          <a:stretch>
            <a:fillRect/>
          </a:stretch>
        </p:blipFill>
        <p:spPr>
          <a:xfrm>
            <a:off x="372569" y="2035236"/>
            <a:ext cx="8131361" cy="1043524"/>
          </a:xfrm>
          <a:prstGeom prst="rect">
            <a:avLst/>
          </a:prstGeom>
        </p:spPr>
      </p:pic>
    </p:spTree>
    <p:extLst>
      <p:ext uri="{BB962C8B-B14F-4D97-AF65-F5344CB8AC3E}">
        <p14:creationId xmlns:p14="http://schemas.microsoft.com/office/powerpoint/2010/main" val="617626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Button (Düğme)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Button </a:t>
            </a:r>
            <a:r>
              <a:rPr lang="tr-TR" dirty="0" err="1">
                <a:solidFill>
                  <a:srgbClr val="000000"/>
                </a:solidFill>
                <a:latin typeface="Arial" pitchFamily="34" charset="0"/>
              </a:rPr>
              <a:t>öntanımlı</a:t>
            </a:r>
            <a:r>
              <a:rPr lang="tr-TR" dirty="0">
                <a:solidFill>
                  <a:srgbClr val="000000"/>
                </a:solidFill>
                <a:latin typeface="Arial" pitchFamily="34" charset="0"/>
              </a:rPr>
              <a:t> olmayan düğmeler oluşturur. Başka deyişle gerçekleştirecekleri eylem sayfa tasarımcısı tarafından belirlenir. Örneğin oluşturulan düğme sayfada bir </a:t>
            </a:r>
            <a:r>
              <a:rPr lang="tr-TR" dirty="0" err="1">
                <a:solidFill>
                  <a:srgbClr val="000000"/>
                </a:solidFill>
                <a:latin typeface="Arial" pitchFamily="34" charset="0"/>
              </a:rPr>
              <a:t>javascript</a:t>
            </a:r>
            <a:r>
              <a:rPr lang="tr-TR" dirty="0">
                <a:solidFill>
                  <a:srgbClr val="000000"/>
                </a:solidFill>
                <a:latin typeface="Arial" pitchFamily="34" charset="0"/>
              </a:rPr>
              <a:t> kodunu etkinleştirebilir.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5.30’daki kodların ikinci satırında </a:t>
            </a:r>
            <a:r>
              <a:rPr lang="tr-TR" dirty="0" err="1">
                <a:solidFill>
                  <a:srgbClr val="000000"/>
                </a:solidFill>
                <a:latin typeface="Arial" pitchFamily="34" charset="0"/>
              </a:rPr>
              <a:t>type</a:t>
            </a:r>
            <a:r>
              <a:rPr lang="tr-TR" dirty="0">
                <a:solidFill>
                  <a:srgbClr val="000000"/>
                </a:solidFill>
                <a:latin typeface="Arial" pitchFamily="34" charset="0"/>
              </a:rPr>
              <a:t> özelliğinin </a:t>
            </a:r>
            <a:r>
              <a:rPr lang="tr-TR" dirty="0" err="1">
                <a:solidFill>
                  <a:srgbClr val="000000"/>
                </a:solidFill>
                <a:latin typeface="Arial" pitchFamily="34" charset="0"/>
              </a:rPr>
              <a:t>button</a:t>
            </a:r>
            <a:r>
              <a:rPr lang="tr-TR" dirty="0">
                <a:solidFill>
                  <a:srgbClr val="000000"/>
                </a:solidFill>
                <a:latin typeface="Arial" pitchFamily="34" charset="0"/>
              </a:rPr>
              <a:t> değeriyle, </a:t>
            </a:r>
            <a:r>
              <a:rPr lang="tr-TR" dirty="0" err="1">
                <a:solidFill>
                  <a:srgbClr val="000000"/>
                </a:solidFill>
                <a:latin typeface="Arial" pitchFamily="34" charset="0"/>
              </a:rPr>
              <a:t>button</a:t>
            </a:r>
            <a:r>
              <a:rPr lang="tr-TR" dirty="0">
                <a:solidFill>
                  <a:srgbClr val="000000"/>
                </a:solidFill>
                <a:latin typeface="Arial" pitchFamily="34" charset="0"/>
              </a:rPr>
              <a:t> tipinde düğme oluşturulmaktadır.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Value değeri düğme üstünde görünen ifadeyi belirlemektedir. </a:t>
            </a:r>
            <a:r>
              <a:rPr lang="tr-TR" dirty="0" err="1">
                <a:solidFill>
                  <a:srgbClr val="000000"/>
                </a:solidFill>
                <a:latin typeface="Arial" pitchFamily="34" charset="0"/>
              </a:rPr>
              <a:t>Onclick</a:t>
            </a:r>
            <a:r>
              <a:rPr lang="tr-TR" dirty="0">
                <a:solidFill>
                  <a:srgbClr val="000000"/>
                </a:solidFill>
                <a:latin typeface="Arial" pitchFamily="34" charset="0"/>
              </a:rPr>
              <a:t> ise altıncı ve dokuzuncu satırlar arasında yer alan mesaj isimli </a:t>
            </a:r>
            <a:r>
              <a:rPr lang="tr-TR" dirty="0" err="1">
                <a:solidFill>
                  <a:srgbClr val="000000"/>
                </a:solidFill>
                <a:latin typeface="Arial" pitchFamily="34" charset="0"/>
              </a:rPr>
              <a:t>javascript</a:t>
            </a:r>
            <a:r>
              <a:rPr lang="tr-TR" dirty="0">
                <a:solidFill>
                  <a:srgbClr val="000000"/>
                </a:solidFill>
                <a:latin typeface="Arial" pitchFamily="34" charset="0"/>
              </a:rPr>
              <a:t> kodunu çalıştırmaktadır.</a:t>
            </a:r>
          </a:p>
        </p:txBody>
      </p:sp>
      <p:pic>
        <p:nvPicPr>
          <p:cNvPr id="4" name="Resim 3">
            <a:extLst>
              <a:ext uri="{FF2B5EF4-FFF2-40B4-BE49-F238E27FC236}">
                <a16:creationId xmlns:a16="http://schemas.microsoft.com/office/drawing/2014/main" id="{6C1A32A1-2FDF-43E0-8ED6-AD79F8421D61}"/>
              </a:ext>
            </a:extLst>
          </p:cNvPr>
          <p:cNvPicPr>
            <a:picLocks noChangeAspect="1"/>
          </p:cNvPicPr>
          <p:nvPr/>
        </p:nvPicPr>
        <p:blipFill>
          <a:blip r:embed="rId2"/>
          <a:stretch>
            <a:fillRect/>
          </a:stretch>
        </p:blipFill>
        <p:spPr>
          <a:xfrm>
            <a:off x="662565" y="2671482"/>
            <a:ext cx="6275294" cy="1515035"/>
          </a:xfrm>
          <a:prstGeom prst="rect">
            <a:avLst/>
          </a:prstGeom>
        </p:spPr>
      </p:pic>
    </p:spTree>
    <p:extLst>
      <p:ext uri="{BB962C8B-B14F-4D97-AF65-F5344CB8AC3E}">
        <p14:creationId xmlns:p14="http://schemas.microsoft.com/office/powerpoint/2010/main" val="4120994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File (Dosya Yükleme)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File, kullanıcının tarayıcıda dosya/dosyalar seçebilmesi için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Seçim yapıldıktan sonra forma ait </a:t>
            </a:r>
            <a:r>
              <a:rPr lang="tr-TR" dirty="0" err="1">
                <a:solidFill>
                  <a:srgbClr val="000000"/>
                </a:solidFill>
                <a:latin typeface="Arial" pitchFamily="34" charset="0"/>
              </a:rPr>
              <a:t>submit</a:t>
            </a:r>
            <a:r>
              <a:rPr lang="tr-TR" dirty="0">
                <a:solidFill>
                  <a:srgbClr val="000000"/>
                </a:solidFill>
                <a:latin typeface="Arial" pitchFamily="34" charset="0"/>
              </a:rPr>
              <a:t> düğmesiyle dosya sunucuya gönderilebilir.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File elemanına </a:t>
            </a:r>
            <a:r>
              <a:rPr lang="tr-TR" dirty="0" err="1">
                <a:solidFill>
                  <a:srgbClr val="000000"/>
                </a:solidFill>
                <a:latin typeface="Arial" pitchFamily="34" charset="0"/>
              </a:rPr>
              <a:t>accept</a:t>
            </a:r>
            <a:r>
              <a:rPr lang="tr-TR" dirty="0">
                <a:solidFill>
                  <a:srgbClr val="000000"/>
                </a:solidFill>
                <a:latin typeface="Arial" pitchFamily="34" charset="0"/>
              </a:rPr>
              <a:t>, </a:t>
            </a:r>
            <a:r>
              <a:rPr lang="tr-TR" dirty="0" err="1">
                <a:solidFill>
                  <a:srgbClr val="000000"/>
                </a:solidFill>
                <a:latin typeface="Arial" pitchFamily="34" charset="0"/>
              </a:rPr>
              <a:t>multiple</a:t>
            </a:r>
            <a:r>
              <a:rPr lang="tr-TR" dirty="0">
                <a:solidFill>
                  <a:srgbClr val="000000"/>
                </a:solidFill>
                <a:latin typeface="Arial" pitchFamily="34" charset="0"/>
              </a:rPr>
              <a:t>, name, </a:t>
            </a:r>
            <a:r>
              <a:rPr lang="tr-TR" dirty="0" err="1">
                <a:solidFill>
                  <a:srgbClr val="000000"/>
                </a:solidFill>
                <a:latin typeface="Arial" pitchFamily="34" charset="0"/>
              </a:rPr>
              <a:t>required</a:t>
            </a:r>
            <a:r>
              <a:rPr lang="tr-TR" dirty="0">
                <a:solidFill>
                  <a:srgbClr val="000000"/>
                </a:solidFill>
                <a:latin typeface="Arial" pitchFamily="34" charset="0"/>
              </a:rPr>
              <a:t>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birden fazla dosyanın seçilebilmesi isteniyorsa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=”file” name=”resim” </a:t>
            </a:r>
            <a:r>
              <a:rPr lang="tr-TR" dirty="0" err="1">
                <a:solidFill>
                  <a:srgbClr val="000000"/>
                </a:solidFill>
                <a:latin typeface="Arial" pitchFamily="34" charset="0"/>
              </a:rPr>
              <a:t>multiple</a:t>
            </a:r>
            <a:r>
              <a:rPr lang="tr-TR" dirty="0">
                <a:solidFill>
                  <a:srgbClr val="000000"/>
                </a:solidFill>
                <a:latin typeface="Arial" pitchFamily="34" charset="0"/>
              </a:rPr>
              <a:t>&gt; şeklinde </a:t>
            </a:r>
            <a:r>
              <a:rPr lang="tr-TR" dirty="0" err="1">
                <a:solidFill>
                  <a:srgbClr val="000000"/>
                </a:solidFill>
                <a:latin typeface="Arial" pitchFamily="34" charset="0"/>
              </a:rPr>
              <a:t>multiple</a:t>
            </a:r>
            <a:r>
              <a:rPr lang="tr-TR" dirty="0">
                <a:solidFill>
                  <a:srgbClr val="000000"/>
                </a:solidFill>
                <a:latin typeface="Arial" pitchFamily="34" charset="0"/>
              </a:rPr>
              <a:t> özelliği eklenebilir.</a:t>
            </a:r>
          </a:p>
        </p:txBody>
      </p:sp>
      <p:pic>
        <p:nvPicPr>
          <p:cNvPr id="3" name="Resim 2">
            <a:extLst>
              <a:ext uri="{FF2B5EF4-FFF2-40B4-BE49-F238E27FC236}">
                <a16:creationId xmlns:a16="http://schemas.microsoft.com/office/drawing/2014/main" id="{26776504-C3AD-4D97-86FF-CFD96CE0C814}"/>
              </a:ext>
            </a:extLst>
          </p:cNvPr>
          <p:cNvPicPr>
            <a:picLocks noChangeAspect="1"/>
          </p:cNvPicPr>
          <p:nvPr/>
        </p:nvPicPr>
        <p:blipFill>
          <a:blip r:embed="rId2"/>
          <a:stretch>
            <a:fillRect/>
          </a:stretch>
        </p:blipFill>
        <p:spPr>
          <a:xfrm>
            <a:off x="547917" y="2586317"/>
            <a:ext cx="8499926" cy="1264229"/>
          </a:xfrm>
          <a:prstGeom prst="rect">
            <a:avLst/>
          </a:prstGeom>
        </p:spPr>
      </p:pic>
    </p:spTree>
    <p:extLst>
      <p:ext uri="{BB962C8B-B14F-4D97-AF65-F5344CB8AC3E}">
        <p14:creationId xmlns:p14="http://schemas.microsoft.com/office/powerpoint/2010/main" val="2307417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Hidden (Gizli)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Hidden, WEB sayfasındaki formlarda gerekli ancak kullanıcının görmemesi gereken ya da görmesinin bir anlam taşımadığı verileri gizlemek için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Formda yer alan gizli veriler de sunucuya gönderilir. Bu elemanı kullanabilmek için </a:t>
            </a:r>
            <a:r>
              <a:rPr lang="tr-TR" dirty="0" err="1">
                <a:solidFill>
                  <a:srgbClr val="000000"/>
                </a:solidFill>
                <a:latin typeface="Arial" pitchFamily="34" charset="0"/>
              </a:rPr>
              <a:t>javascript</a:t>
            </a:r>
            <a:r>
              <a:rPr lang="tr-TR" dirty="0">
                <a:solidFill>
                  <a:srgbClr val="000000"/>
                </a:solidFill>
                <a:latin typeface="Arial" pitchFamily="34" charset="0"/>
              </a:rPr>
              <a:t> ve WEB programlamasındaki dillerden yararlanılmaktadır.</a:t>
            </a:r>
          </a:p>
        </p:txBody>
      </p:sp>
      <p:pic>
        <p:nvPicPr>
          <p:cNvPr id="3" name="Resim 2">
            <a:extLst>
              <a:ext uri="{FF2B5EF4-FFF2-40B4-BE49-F238E27FC236}">
                <a16:creationId xmlns:a16="http://schemas.microsoft.com/office/drawing/2014/main" id="{EA6E2BFB-C69B-4F1A-8AC8-4CA8769605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586" y="3209689"/>
            <a:ext cx="5420481" cy="1495634"/>
          </a:xfrm>
          <a:prstGeom prst="rect">
            <a:avLst/>
          </a:prstGeom>
        </p:spPr>
      </p:pic>
    </p:spTree>
    <p:extLst>
      <p:ext uri="{BB962C8B-B14F-4D97-AF65-F5344CB8AC3E}">
        <p14:creationId xmlns:p14="http://schemas.microsoft.com/office/powerpoint/2010/main" val="3694730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Hidden (Gizli)</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5.34’teki kodların üçüncü satırında </a:t>
            </a:r>
            <a:r>
              <a:rPr lang="tr-TR" dirty="0" err="1">
                <a:solidFill>
                  <a:srgbClr val="000000"/>
                </a:solidFill>
                <a:latin typeface="Arial" pitchFamily="34" charset="0"/>
              </a:rPr>
              <a:t>ulke</a:t>
            </a:r>
            <a:r>
              <a:rPr lang="tr-TR" dirty="0">
                <a:solidFill>
                  <a:srgbClr val="000000"/>
                </a:solidFill>
                <a:latin typeface="Arial" pitchFamily="34" charset="0"/>
              </a:rPr>
              <a:t> isminde bir gizli eleman oluşturulmaktadır.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Hidden için yazılmış örnek kodların tarayıcı görüntüsü Resim 5.35’teki gibidir.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örnekte kullanıcının tuttuğu takımı girebilmesi için bir form hazırlanmıştır.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formda, kullanıcının ülkesini kendisinin girebileceği bir alan yoktur.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Bunun yerine ülke bilgisi, IP ya da tarayıcı bilgileri kullanılarak otomatik olarak form verisine eklenebilir.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 gönder düğmesine bastığında hem tuttuğu takım hem de yaşadığı ülke sunucuya gönderilebilir.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Hidden elemanına name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a:t>
            </a:r>
          </a:p>
        </p:txBody>
      </p:sp>
    </p:spTree>
    <p:extLst>
      <p:ext uri="{BB962C8B-B14F-4D97-AF65-F5344CB8AC3E}">
        <p14:creationId xmlns:p14="http://schemas.microsoft.com/office/powerpoint/2010/main" val="4084142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Color (Renk)</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Color kullanıcının bir renk seçebilmesi için kullanılır. Seçilen renk, rengin sayısal ifadesi olarak sunucuya gönderilir.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Color elemanına </a:t>
            </a:r>
            <a:r>
              <a:rPr lang="tr-TR" dirty="0" err="1">
                <a:solidFill>
                  <a:srgbClr val="000000"/>
                </a:solidFill>
                <a:latin typeface="Arial" pitchFamily="34" charset="0"/>
              </a:rPr>
              <a:t>autocomplete</a:t>
            </a:r>
            <a:r>
              <a:rPr lang="tr-TR" dirty="0">
                <a:solidFill>
                  <a:srgbClr val="000000"/>
                </a:solidFill>
                <a:latin typeface="Arial" pitchFamily="34" charset="0"/>
              </a:rPr>
              <a:t>, </a:t>
            </a:r>
            <a:r>
              <a:rPr lang="tr-TR" dirty="0" err="1">
                <a:solidFill>
                  <a:srgbClr val="000000"/>
                </a:solidFill>
                <a:latin typeface="Arial" pitchFamily="34" charset="0"/>
              </a:rPr>
              <a:t>list</a:t>
            </a:r>
            <a:r>
              <a:rPr lang="tr-TR" dirty="0">
                <a:solidFill>
                  <a:srgbClr val="000000"/>
                </a:solidFill>
                <a:latin typeface="Arial" pitchFamily="34" charset="0"/>
              </a:rPr>
              <a:t>, name ve </a:t>
            </a:r>
            <a:r>
              <a:rPr lang="tr-TR" dirty="0" err="1">
                <a:solidFill>
                  <a:srgbClr val="000000"/>
                </a:solidFill>
                <a:latin typeface="Arial" pitchFamily="34" charset="0"/>
              </a:rPr>
              <a:t>value</a:t>
            </a:r>
            <a:r>
              <a:rPr lang="tr-TR" dirty="0">
                <a:solidFill>
                  <a:srgbClr val="000000"/>
                </a:solidFill>
                <a:latin typeface="Arial" pitchFamily="34" charset="0"/>
              </a:rPr>
              <a:t> özellikleri verilebilir.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resimde gönderilen renk seçim düğmesinin renginin kırmızı olması isteniyorsa &lt;</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type</a:t>
            </a:r>
            <a:r>
              <a:rPr lang="tr-TR" dirty="0">
                <a:solidFill>
                  <a:srgbClr val="000000"/>
                </a:solidFill>
                <a:latin typeface="Arial" pitchFamily="34" charset="0"/>
              </a:rPr>
              <a:t>=”</a:t>
            </a:r>
            <a:r>
              <a:rPr lang="tr-TR" dirty="0" err="1">
                <a:solidFill>
                  <a:srgbClr val="000000"/>
                </a:solidFill>
                <a:latin typeface="Arial" pitchFamily="34" charset="0"/>
              </a:rPr>
              <a:t>color</a:t>
            </a:r>
            <a:r>
              <a:rPr lang="tr-TR" dirty="0">
                <a:solidFill>
                  <a:srgbClr val="000000"/>
                </a:solidFill>
                <a:latin typeface="Arial" pitchFamily="34" charset="0"/>
              </a:rPr>
              <a:t>” name=”</a:t>
            </a:r>
            <a:r>
              <a:rPr lang="tr-TR" dirty="0" err="1">
                <a:solidFill>
                  <a:srgbClr val="000000"/>
                </a:solidFill>
                <a:latin typeface="Arial" pitchFamily="34" charset="0"/>
              </a:rPr>
              <a:t>pastarengi</a:t>
            </a:r>
            <a:r>
              <a:rPr lang="tr-TR" dirty="0">
                <a:solidFill>
                  <a:srgbClr val="000000"/>
                </a:solidFill>
                <a:latin typeface="Arial" pitchFamily="34" charset="0"/>
              </a:rPr>
              <a:t>” </a:t>
            </a:r>
            <a:r>
              <a:rPr lang="tr-TR" dirty="0" err="1">
                <a:solidFill>
                  <a:srgbClr val="000000"/>
                </a:solidFill>
                <a:latin typeface="Arial" pitchFamily="34" charset="0"/>
              </a:rPr>
              <a:t>value</a:t>
            </a:r>
            <a:r>
              <a:rPr lang="tr-TR" dirty="0">
                <a:solidFill>
                  <a:srgbClr val="000000"/>
                </a:solidFill>
                <a:latin typeface="Arial" pitchFamily="34" charset="0"/>
              </a:rPr>
              <a:t>=”#ff0000”&gt; şeklinde </a:t>
            </a:r>
            <a:r>
              <a:rPr lang="tr-TR" dirty="0" err="1">
                <a:solidFill>
                  <a:srgbClr val="000000"/>
                </a:solidFill>
                <a:latin typeface="Arial" pitchFamily="34" charset="0"/>
              </a:rPr>
              <a:t>value</a:t>
            </a:r>
            <a:r>
              <a:rPr lang="tr-TR" dirty="0">
                <a:solidFill>
                  <a:srgbClr val="000000"/>
                </a:solidFill>
                <a:latin typeface="Arial" pitchFamily="34" charset="0"/>
              </a:rPr>
              <a:t> özelliği kullanılabilir.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p:txBody>
      </p:sp>
      <p:pic>
        <p:nvPicPr>
          <p:cNvPr id="3" name="Resim 2">
            <a:extLst>
              <a:ext uri="{FF2B5EF4-FFF2-40B4-BE49-F238E27FC236}">
                <a16:creationId xmlns:a16="http://schemas.microsoft.com/office/drawing/2014/main" id="{1AED0637-E293-49CA-8825-3710E19DD687}"/>
              </a:ext>
            </a:extLst>
          </p:cNvPr>
          <p:cNvPicPr>
            <a:picLocks noChangeAspect="1"/>
          </p:cNvPicPr>
          <p:nvPr/>
        </p:nvPicPr>
        <p:blipFill>
          <a:blip r:embed="rId2"/>
          <a:stretch>
            <a:fillRect/>
          </a:stretch>
        </p:blipFill>
        <p:spPr>
          <a:xfrm>
            <a:off x="485574" y="1995017"/>
            <a:ext cx="8146100" cy="790127"/>
          </a:xfrm>
          <a:prstGeom prst="rect">
            <a:avLst/>
          </a:prstGeom>
        </p:spPr>
      </p:pic>
    </p:spTree>
    <p:extLst>
      <p:ext uri="{BB962C8B-B14F-4D97-AF65-F5344CB8AC3E}">
        <p14:creationId xmlns:p14="http://schemas.microsoft.com/office/powerpoint/2010/main" val="3852470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Number (Sayı)</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Kullanıcının değer belirleyebilmesi ya da girebilmesi için bir sayı alanı oluşturur. Bu alan içinde yukarı ve aşağı oklar bulunur. Böylelikle kullanıcı girdiği ya da sayfada beliren değeri yukarı veya aşağı değiştirebilir.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Min sayı alanındaki en küçük değeri, </a:t>
            </a:r>
            <a:r>
              <a:rPr lang="tr-TR" dirty="0" err="1">
                <a:solidFill>
                  <a:srgbClr val="000000"/>
                </a:solidFill>
                <a:latin typeface="Arial" pitchFamily="34" charset="0"/>
              </a:rPr>
              <a:t>max</a:t>
            </a:r>
            <a:r>
              <a:rPr lang="tr-TR" dirty="0">
                <a:solidFill>
                  <a:srgbClr val="000000"/>
                </a:solidFill>
                <a:latin typeface="Arial" pitchFamily="34" charset="0"/>
              </a:rPr>
              <a:t> en büyük değeri belirler. Value değeri sayfa açıldığında sayı alanında hangi sayının olacağını belirler.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örnekte 4 değeri verilmiştir. Step ise değerlerin kaçar kaçar artacağını ya da azalacağını belirler.</a:t>
            </a:r>
          </a:p>
        </p:txBody>
      </p:sp>
      <p:pic>
        <p:nvPicPr>
          <p:cNvPr id="3" name="Resim 2">
            <a:extLst>
              <a:ext uri="{FF2B5EF4-FFF2-40B4-BE49-F238E27FC236}">
                <a16:creationId xmlns:a16="http://schemas.microsoft.com/office/drawing/2014/main" id="{74E70A35-EF37-43AA-9F8D-5F96A1EE834A}"/>
              </a:ext>
            </a:extLst>
          </p:cNvPr>
          <p:cNvPicPr>
            <a:picLocks noChangeAspect="1"/>
          </p:cNvPicPr>
          <p:nvPr/>
        </p:nvPicPr>
        <p:blipFill>
          <a:blip r:embed="rId2"/>
          <a:stretch>
            <a:fillRect/>
          </a:stretch>
        </p:blipFill>
        <p:spPr>
          <a:xfrm>
            <a:off x="643813" y="2516615"/>
            <a:ext cx="7799749" cy="1006761"/>
          </a:xfrm>
          <a:prstGeom prst="rect">
            <a:avLst/>
          </a:prstGeom>
        </p:spPr>
      </p:pic>
    </p:spTree>
    <p:extLst>
      <p:ext uri="{BB962C8B-B14F-4D97-AF65-F5344CB8AC3E}">
        <p14:creationId xmlns:p14="http://schemas.microsoft.com/office/powerpoint/2010/main" val="1796550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Button (Düğme)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Button daha önceki </a:t>
            </a:r>
            <a:r>
              <a:rPr lang="tr-TR" dirty="0" err="1">
                <a:solidFill>
                  <a:srgbClr val="000000"/>
                </a:solidFill>
                <a:latin typeface="Arial" pitchFamily="34" charset="0"/>
              </a:rPr>
              <a:t>input</a:t>
            </a:r>
            <a:r>
              <a:rPr lang="tr-TR" dirty="0">
                <a:solidFill>
                  <a:srgbClr val="000000"/>
                </a:solidFill>
                <a:latin typeface="Arial" pitchFamily="34" charset="0"/>
              </a:rPr>
              <a:t> bölümünde bahsedilen, &lt;form&gt; etiketi dışında da kullanılabilen genel amaçlı düğme türleri yaratır. Button için kullanılabilecek özellikler Tablo 4’te özetlenmiştir.</a:t>
            </a:r>
          </a:p>
        </p:txBody>
      </p:sp>
      <p:pic>
        <p:nvPicPr>
          <p:cNvPr id="3" name="Resim 2">
            <a:extLst>
              <a:ext uri="{FF2B5EF4-FFF2-40B4-BE49-F238E27FC236}">
                <a16:creationId xmlns:a16="http://schemas.microsoft.com/office/drawing/2014/main" id="{1582B7FA-1789-40F9-964C-558AE536A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639" y="2412189"/>
            <a:ext cx="6792273" cy="4315427"/>
          </a:xfrm>
          <a:prstGeom prst="rect">
            <a:avLst/>
          </a:prstGeom>
        </p:spPr>
      </p:pic>
    </p:spTree>
    <p:extLst>
      <p:ext uri="{BB962C8B-B14F-4D97-AF65-F5344CB8AC3E}">
        <p14:creationId xmlns:p14="http://schemas.microsoft.com/office/powerpoint/2010/main" val="2716769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Button (Düğme)</a:t>
            </a:r>
            <a:endParaRPr lang="en-US" sz="3200" dirty="0"/>
          </a:p>
        </p:txBody>
      </p:sp>
      <p:sp>
        <p:nvSpPr>
          <p:cNvPr id="154627" name="Rectangle 3"/>
          <p:cNvSpPr>
            <a:spLocks noChangeArrowheads="1"/>
          </p:cNvSpPr>
          <p:nvPr/>
        </p:nvSpPr>
        <p:spPr bwMode="auto">
          <a:xfrm>
            <a:off x="0" y="8763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Button elemanının </a:t>
            </a:r>
            <a:r>
              <a:rPr lang="tr-TR" dirty="0" err="1">
                <a:solidFill>
                  <a:srgbClr val="000000"/>
                </a:solidFill>
                <a:latin typeface="Arial" pitchFamily="34" charset="0"/>
              </a:rPr>
              <a:t>type</a:t>
            </a:r>
            <a:r>
              <a:rPr lang="tr-TR" dirty="0">
                <a:solidFill>
                  <a:srgbClr val="000000"/>
                </a:solidFill>
                <a:latin typeface="Arial" pitchFamily="34" charset="0"/>
              </a:rPr>
              <a:t> özelliği, oluşturulacak olan düğmenin türünü belirlemektedir.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Submit, </a:t>
            </a:r>
            <a:r>
              <a:rPr lang="tr-TR" dirty="0" err="1">
                <a:solidFill>
                  <a:srgbClr val="000000"/>
                </a:solidFill>
                <a:latin typeface="Arial" pitchFamily="34" charset="0"/>
              </a:rPr>
              <a:t>reset</a:t>
            </a:r>
            <a:r>
              <a:rPr lang="tr-TR" dirty="0">
                <a:solidFill>
                  <a:srgbClr val="000000"/>
                </a:solidFill>
                <a:latin typeface="Arial" pitchFamily="34" charset="0"/>
              </a:rPr>
              <a:t> ve </a:t>
            </a:r>
            <a:r>
              <a:rPr lang="tr-TR" dirty="0" err="1">
                <a:solidFill>
                  <a:srgbClr val="000000"/>
                </a:solidFill>
                <a:latin typeface="Arial" pitchFamily="34" charset="0"/>
              </a:rPr>
              <a:t>button</a:t>
            </a:r>
            <a:r>
              <a:rPr lang="tr-TR" dirty="0">
                <a:solidFill>
                  <a:srgbClr val="000000"/>
                </a:solidFill>
                <a:latin typeface="Arial" pitchFamily="34" charset="0"/>
              </a:rPr>
              <a:t> olmak üzere üç çeşit </a:t>
            </a:r>
            <a:r>
              <a:rPr lang="tr-TR" dirty="0" err="1">
                <a:solidFill>
                  <a:srgbClr val="000000"/>
                </a:solidFill>
                <a:latin typeface="Arial" pitchFamily="34" charset="0"/>
              </a:rPr>
              <a:t>button</a:t>
            </a:r>
            <a:r>
              <a:rPr lang="tr-TR" dirty="0">
                <a:solidFill>
                  <a:srgbClr val="000000"/>
                </a:solidFill>
                <a:latin typeface="Arial" pitchFamily="34" charset="0"/>
              </a:rPr>
              <a:t> vardır. Tablo 4’te görüldüğü gibi </a:t>
            </a:r>
            <a:r>
              <a:rPr lang="tr-TR" dirty="0" err="1">
                <a:solidFill>
                  <a:srgbClr val="000000"/>
                </a:solidFill>
                <a:latin typeface="Arial" pitchFamily="34" charset="0"/>
              </a:rPr>
              <a:t>formaction</a:t>
            </a:r>
            <a:r>
              <a:rPr lang="tr-TR" dirty="0">
                <a:solidFill>
                  <a:srgbClr val="000000"/>
                </a:solidFill>
                <a:latin typeface="Arial" pitchFamily="34" charset="0"/>
              </a:rPr>
              <a:t>, </a:t>
            </a:r>
            <a:r>
              <a:rPr lang="tr-TR" dirty="0" err="1">
                <a:solidFill>
                  <a:srgbClr val="000000"/>
                </a:solidFill>
                <a:latin typeface="Arial" pitchFamily="34" charset="0"/>
              </a:rPr>
              <a:t>formenctype</a:t>
            </a:r>
            <a:r>
              <a:rPr lang="tr-TR" dirty="0">
                <a:solidFill>
                  <a:srgbClr val="000000"/>
                </a:solidFill>
                <a:latin typeface="Arial" pitchFamily="34" charset="0"/>
              </a:rPr>
              <a:t>, </a:t>
            </a:r>
            <a:r>
              <a:rPr lang="tr-TR" dirty="0" err="1">
                <a:solidFill>
                  <a:srgbClr val="000000"/>
                </a:solidFill>
                <a:latin typeface="Arial" pitchFamily="34" charset="0"/>
              </a:rPr>
              <a:t>formmethod</a:t>
            </a:r>
            <a:r>
              <a:rPr lang="tr-TR" dirty="0">
                <a:solidFill>
                  <a:srgbClr val="000000"/>
                </a:solidFill>
                <a:latin typeface="Arial" pitchFamily="34" charset="0"/>
              </a:rPr>
              <a:t>, </a:t>
            </a:r>
            <a:r>
              <a:rPr lang="tr-TR" dirty="0" err="1">
                <a:solidFill>
                  <a:srgbClr val="000000"/>
                </a:solidFill>
                <a:latin typeface="Arial" pitchFamily="34" charset="0"/>
              </a:rPr>
              <a:t>formvalidate</a:t>
            </a:r>
            <a:r>
              <a:rPr lang="tr-TR" dirty="0">
                <a:solidFill>
                  <a:srgbClr val="000000"/>
                </a:solidFill>
                <a:latin typeface="Arial" pitchFamily="34" charset="0"/>
              </a:rPr>
              <a:t> ve </a:t>
            </a:r>
            <a:r>
              <a:rPr lang="tr-TR" dirty="0" err="1">
                <a:solidFill>
                  <a:srgbClr val="000000"/>
                </a:solidFill>
                <a:latin typeface="Arial" pitchFamily="34" charset="0"/>
              </a:rPr>
              <a:t>formtarget</a:t>
            </a:r>
            <a:r>
              <a:rPr lang="tr-TR" dirty="0">
                <a:solidFill>
                  <a:srgbClr val="000000"/>
                </a:solidFill>
                <a:latin typeface="Arial" pitchFamily="34" charset="0"/>
              </a:rPr>
              <a:t> özellikleri sadece </a:t>
            </a:r>
            <a:r>
              <a:rPr lang="tr-TR" dirty="0" err="1">
                <a:solidFill>
                  <a:srgbClr val="000000"/>
                </a:solidFill>
                <a:latin typeface="Arial" pitchFamily="34" charset="0"/>
              </a:rPr>
              <a:t>submit</a:t>
            </a:r>
            <a:r>
              <a:rPr lang="tr-TR" dirty="0">
                <a:solidFill>
                  <a:srgbClr val="000000"/>
                </a:solidFill>
                <a:latin typeface="Arial" pitchFamily="34" charset="0"/>
              </a:rPr>
              <a:t> tipi için kullanılabilir.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Button elemanının </a:t>
            </a:r>
            <a:r>
              <a:rPr lang="tr-TR" dirty="0" err="1">
                <a:solidFill>
                  <a:srgbClr val="000000"/>
                </a:solidFill>
                <a:latin typeface="Arial" pitchFamily="34" charset="0"/>
              </a:rPr>
              <a:t>input</a:t>
            </a:r>
            <a:r>
              <a:rPr lang="tr-TR" dirty="0">
                <a:solidFill>
                  <a:srgbClr val="000000"/>
                </a:solidFill>
                <a:latin typeface="Arial" pitchFamily="34" charset="0"/>
              </a:rPr>
              <a:t> ile yaratılan </a:t>
            </a:r>
            <a:r>
              <a:rPr lang="tr-TR" dirty="0" err="1">
                <a:solidFill>
                  <a:srgbClr val="000000"/>
                </a:solidFill>
                <a:latin typeface="Arial" pitchFamily="34" charset="0"/>
              </a:rPr>
              <a:t>button</a:t>
            </a:r>
            <a:r>
              <a:rPr lang="tr-TR" dirty="0">
                <a:solidFill>
                  <a:srgbClr val="000000"/>
                </a:solidFill>
                <a:latin typeface="Arial" pitchFamily="34" charset="0"/>
              </a:rPr>
              <a:t> ile işlevleri aynıdır. Ancak </a:t>
            </a:r>
            <a:r>
              <a:rPr lang="tr-TR" dirty="0" err="1">
                <a:solidFill>
                  <a:srgbClr val="000000"/>
                </a:solidFill>
                <a:latin typeface="Arial" pitchFamily="34" charset="0"/>
              </a:rPr>
              <a:t>input</a:t>
            </a:r>
            <a:r>
              <a:rPr lang="tr-TR" dirty="0">
                <a:solidFill>
                  <a:srgbClr val="000000"/>
                </a:solidFill>
                <a:latin typeface="Arial" pitchFamily="34" charset="0"/>
              </a:rPr>
              <a:t> </a:t>
            </a:r>
            <a:r>
              <a:rPr lang="tr-TR" dirty="0" err="1">
                <a:solidFill>
                  <a:srgbClr val="000000"/>
                </a:solidFill>
                <a:latin typeface="Arial" pitchFamily="34" charset="0"/>
              </a:rPr>
              <a:t>buttondan</a:t>
            </a:r>
            <a:r>
              <a:rPr lang="tr-TR" dirty="0">
                <a:solidFill>
                  <a:srgbClr val="000000"/>
                </a:solidFill>
                <a:latin typeface="Arial" pitchFamily="34" charset="0"/>
              </a:rPr>
              <a:t> farklı olarak &lt;</a:t>
            </a:r>
            <a:r>
              <a:rPr lang="tr-TR" dirty="0" err="1">
                <a:solidFill>
                  <a:srgbClr val="000000"/>
                </a:solidFill>
                <a:latin typeface="Arial" pitchFamily="34" charset="0"/>
              </a:rPr>
              <a:t>button</a:t>
            </a:r>
            <a:r>
              <a:rPr lang="tr-TR" dirty="0">
                <a:solidFill>
                  <a:srgbClr val="000000"/>
                </a:solidFill>
                <a:latin typeface="Arial" pitchFamily="34" charset="0"/>
              </a:rPr>
              <a:t> özellikler&gt;&lt;/</a:t>
            </a:r>
            <a:r>
              <a:rPr lang="tr-TR" dirty="0" err="1">
                <a:solidFill>
                  <a:srgbClr val="000000"/>
                </a:solidFill>
                <a:latin typeface="Arial" pitchFamily="34" charset="0"/>
              </a:rPr>
              <a:t>button</a:t>
            </a:r>
            <a:r>
              <a:rPr lang="tr-TR" dirty="0">
                <a:solidFill>
                  <a:srgbClr val="000000"/>
                </a:solidFill>
                <a:latin typeface="Arial" pitchFamily="34" charset="0"/>
              </a:rPr>
              <a:t>&gt; şeklinde kullanılır ve HTML kapama etiketi &lt;/&gt; ile sonlandırılmaları gerekir.</a:t>
            </a:r>
          </a:p>
        </p:txBody>
      </p:sp>
    </p:spTree>
    <p:extLst>
      <p:ext uri="{BB962C8B-B14F-4D97-AF65-F5344CB8AC3E}">
        <p14:creationId xmlns:p14="http://schemas.microsoft.com/office/powerpoint/2010/main" val="280017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Button (Düğme)</a:t>
            </a:r>
            <a:endParaRPr lang="en-US" sz="3200" dirty="0"/>
          </a:p>
        </p:txBody>
      </p:sp>
      <p:sp>
        <p:nvSpPr>
          <p:cNvPr id="154627" name="Rectangle 3"/>
          <p:cNvSpPr>
            <a:spLocks noChangeArrowheads="1"/>
          </p:cNvSpPr>
          <p:nvPr/>
        </p:nvSpPr>
        <p:spPr bwMode="auto">
          <a:xfrm>
            <a:off x="0" y="876300"/>
            <a:ext cx="9144000"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Bununla birlikte </a:t>
            </a:r>
            <a:r>
              <a:rPr lang="tr-TR" dirty="0" err="1">
                <a:solidFill>
                  <a:srgbClr val="000000"/>
                </a:solidFill>
                <a:latin typeface="Arial" pitchFamily="34" charset="0"/>
              </a:rPr>
              <a:t>button</a:t>
            </a:r>
            <a:r>
              <a:rPr lang="tr-TR" dirty="0">
                <a:solidFill>
                  <a:srgbClr val="000000"/>
                </a:solidFill>
                <a:latin typeface="Arial" pitchFamily="34" charset="0"/>
              </a:rPr>
              <a:t> elemanıyla yaratılan düğmelerin en büyük özelliği resim ve metinlerle şekillendirilebilmeleridir.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Özellikle CSS (</a:t>
            </a:r>
            <a:r>
              <a:rPr lang="tr-TR" dirty="0" err="1">
                <a:solidFill>
                  <a:srgbClr val="000000"/>
                </a:solidFill>
                <a:latin typeface="Arial" pitchFamily="34" charset="0"/>
              </a:rPr>
              <a:t>Cascading</a:t>
            </a:r>
            <a:r>
              <a:rPr lang="tr-TR" dirty="0">
                <a:solidFill>
                  <a:srgbClr val="000000"/>
                </a:solidFill>
                <a:latin typeface="Arial" pitchFamily="34" charset="0"/>
              </a:rPr>
              <a:t> Style </a:t>
            </a:r>
            <a:r>
              <a:rPr lang="tr-TR" dirty="0" err="1">
                <a:solidFill>
                  <a:srgbClr val="000000"/>
                </a:solidFill>
                <a:latin typeface="Arial" pitchFamily="34" charset="0"/>
              </a:rPr>
              <a:t>Sheet</a:t>
            </a:r>
            <a:r>
              <a:rPr lang="tr-TR" dirty="0">
                <a:solidFill>
                  <a:srgbClr val="000000"/>
                </a:solidFill>
                <a:latin typeface="Arial" pitchFamily="34" charset="0"/>
              </a:rPr>
              <a:t>) ile biçimlendirilme konusunda oldukça kullanışlıdır.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5.44’te </a:t>
            </a:r>
            <a:r>
              <a:rPr lang="tr-TR" dirty="0" err="1">
                <a:solidFill>
                  <a:srgbClr val="000000"/>
                </a:solidFill>
                <a:latin typeface="Arial" pitchFamily="34" charset="0"/>
              </a:rPr>
              <a:t>submit</a:t>
            </a:r>
            <a:r>
              <a:rPr lang="tr-TR" dirty="0">
                <a:solidFill>
                  <a:srgbClr val="000000"/>
                </a:solidFill>
                <a:latin typeface="Arial" pitchFamily="34" charset="0"/>
              </a:rPr>
              <a:t>, </a:t>
            </a:r>
            <a:r>
              <a:rPr lang="tr-TR" dirty="0" err="1">
                <a:solidFill>
                  <a:srgbClr val="000000"/>
                </a:solidFill>
                <a:latin typeface="Arial" pitchFamily="34" charset="0"/>
              </a:rPr>
              <a:t>reset</a:t>
            </a:r>
            <a:r>
              <a:rPr lang="tr-TR" dirty="0">
                <a:solidFill>
                  <a:srgbClr val="000000"/>
                </a:solidFill>
                <a:latin typeface="Arial" pitchFamily="34" charset="0"/>
              </a:rPr>
              <a:t> ve </a:t>
            </a:r>
            <a:r>
              <a:rPr lang="tr-TR" dirty="0" err="1">
                <a:solidFill>
                  <a:srgbClr val="000000"/>
                </a:solidFill>
                <a:latin typeface="Arial" pitchFamily="34" charset="0"/>
              </a:rPr>
              <a:t>button</a:t>
            </a:r>
            <a:r>
              <a:rPr lang="tr-TR" dirty="0">
                <a:solidFill>
                  <a:srgbClr val="000000"/>
                </a:solidFill>
                <a:latin typeface="Arial" pitchFamily="34" charset="0"/>
              </a:rPr>
              <a:t> türünde hazırlanmış </a:t>
            </a:r>
            <a:r>
              <a:rPr lang="tr-TR" dirty="0" err="1">
                <a:solidFill>
                  <a:srgbClr val="000000"/>
                </a:solidFill>
                <a:latin typeface="Arial" pitchFamily="34" charset="0"/>
              </a:rPr>
              <a:t>button</a:t>
            </a:r>
            <a:r>
              <a:rPr lang="tr-TR" dirty="0">
                <a:solidFill>
                  <a:srgbClr val="000000"/>
                </a:solidFill>
                <a:latin typeface="Arial" pitchFamily="34" charset="0"/>
              </a:rPr>
              <a:t> elemanlarına ait örnek yer almaktadır.</a:t>
            </a:r>
          </a:p>
        </p:txBody>
      </p:sp>
      <p:pic>
        <p:nvPicPr>
          <p:cNvPr id="3" name="Resim 2">
            <a:extLst>
              <a:ext uri="{FF2B5EF4-FFF2-40B4-BE49-F238E27FC236}">
                <a16:creationId xmlns:a16="http://schemas.microsoft.com/office/drawing/2014/main" id="{48EC6F26-EF4E-424C-B513-3CFC27CB1DCC}"/>
              </a:ext>
            </a:extLst>
          </p:cNvPr>
          <p:cNvPicPr>
            <a:picLocks noChangeAspect="1"/>
          </p:cNvPicPr>
          <p:nvPr/>
        </p:nvPicPr>
        <p:blipFill>
          <a:blip r:embed="rId2"/>
          <a:stretch>
            <a:fillRect/>
          </a:stretch>
        </p:blipFill>
        <p:spPr>
          <a:xfrm>
            <a:off x="1628944" y="3320314"/>
            <a:ext cx="5701553" cy="3254188"/>
          </a:xfrm>
          <a:prstGeom prst="rect">
            <a:avLst/>
          </a:prstGeom>
        </p:spPr>
      </p:pic>
    </p:spTree>
    <p:extLst>
      <p:ext uri="{BB962C8B-B14F-4D97-AF65-F5344CB8AC3E}">
        <p14:creationId xmlns:p14="http://schemas.microsoft.com/office/powerpoint/2010/main" val="2144437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Fieldset ve </a:t>
            </a:r>
            <a:r>
              <a:rPr lang="tr-TR" sz="3200" dirty="0" err="1"/>
              <a:t>Legend</a:t>
            </a:r>
            <a:r>
              <a:rPr lang="tr-TR" sz="3200" dirty="0"/>
              <a:t> (</a:t>
            </a:r>
            <a:r>
              <a:rPr lang="tr-TR" sz="3200" dirty="0" err="1"/>
              <a:t>Gruplayıcı</a:t>
            </a:r>
            <a:r>
              <a:rPr lang="tr-TR" sz="3200" dirty="0"/>
              <a:t> ve Başlık)</a:t>
            </a:r>
            <a:endParaRPr lang="en-US" sz="3200" dirty="0"/>
          </a:p>
        </p:txBody>
      </p:sp>
      <p:sp>
        <p:nvSpPr>
          <p:cNvPr id="154627" name="Rectangle 3"/>
          <p:cNvSpPr>
            <a:spLocks noChangeArrowheads="1"/>
          </p:cNvSpPr>
          <p:nvPr/>
        </p:nvSpPr>
        <p:spPr bwMode="auto">
          <a:xfrm>
            <a:off x="0" y="876300"/>
            <a:ext cx="9144000" cy="214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Fieldset form elemanlarını görsel açıdan gruplamak için kullanılır. Fieldset içindeki elemanlar bir kutu içinde gözükürler. </a:t>
            </a:r>
            <a:r>
              <a:rPr lang="tr-TR" dirty="0" err="1">
                <a:solidFill>
                  <a:srgbClr val="000000"/>
                </a:solidFill>
                <a:latin typeface="Arial" pitchFamily="34" charset="0"/>
              </a:rPr>
              <a:t>Legend</a:t>
            </a:r>
            <a:r>
              <a:rPr lang="tr-TR" dirty="0">
                <a:solidFill>
                  <a:srgbClr val="000000"/>
                </a:solidFill>
                <a:latin typeface="Arial" pitchFamily="34" charset="0"/>
              </a:rPr>
              <a:t> ise gruplara başlık vermek için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5.46’da </a:t>
            </a:r>
            <a:r>
              <a:rPr lang="tr-TR" dirty="0" err="1">
                <a:solidFill>
                  <a:srgbClr val="000000"/>
                </a:solidFill>
                <a:latin typeface="Arial" pitchFamily="34" charset="0"/>
              </a:rPr>
              <a:t>fieldset</a:t>
            </a:r>
            <a:r>
              <a:rPr lang="tr-TR" dirty="0">
                <a:solidFill>
                  <a:srgbClr val="000000"/>
                </a:solidFill>
                <a:latin typeface="Arial" pitchFamily="34" charset="0"/>
              </a:rPr>
              <a:t> ve </a:t>
            </a:r>
            <a:r>
              <a:rPr lang="tr-TR" dirty="0" err="1">
                <a:solidFill>
                  <a:srgbClr val="000000"/>
                </a:solidFill>
                <a:latin typeface="Arial" pitchFamily="34" charset="0"/>
              </a:rPr>
              <a:t>legend</a:t>
            </a:r>
            <a:r>
              <a:rPr lang="tr-TR" dirty="0">
                <a:solidFill>
                  <a:srgbClr val="000000"/>
                </a:solidFill>
                <a:latin typeface="Arial" pitchFamily="34" charset="0"/>
              </a:rPr>
              <a:t> için örnek kodlar yer almaktadır.</a:t>
            </a:r>
          </a:p>
        </p:txBody>
      </p:sp>
      <p:pic>
        <p:nvPicPr>
          <p:cNvPr id="3" name="Resim 2">
            <a:extLst>
              <a:ext uri="{FF2B5EF4-FFF2-40B4-BE49-F238E27FC236}">
                <a16:creationId xmlns:a16="http://schemas.microsoft.com/office/drawing/2014/main" id="{125FA45B-0F9B-43C4-B938-F3F01A5D3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253" y="3429000"/>
            <a:ext cx="8017801" cy="2552700"/>
          </a:xfrm>
          <a:prstGeom prst="rect">
            <a:avLst/>
          </a:prstGeom>
        </p:spPr>
      </p:pic>
    </p:spTree>
    <p:extLst>
      <p:ext uri="{BB962C8B-B14F-4D97-AF65-F5344CB8AC3E}">
        <p14:creationId xmlns:p14="http://schemas.microsoft.com/office/powerpoint/2010/main" val="2275597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Select, </a:t>
            </a:r>
            <a:r>
              <a:rPr lang="tr-TR" sz="3200" dirty="0" err="1"/>
              <a:t>Optgroup</a:t>
            </a:r>
            <a:r>
              <a:rPr lang="tr-TR" sz="3200" dirty="0"/>
              <a:t>, Option (Açılır Liste, Gruplama Başlığı, Seçenek)</a:t>
            </a:r>
            <a:endParaRPr lang="en-US" sz="3200" dirty="0"/>
          </a:p>
        </p:txBody>
      </p:sp>
      <p:sp>
        <p:nvSpPr>
          <p:cNvPr id="154627" name="Rectangle 3"/>
          <p:cNvSpPr>
            <a:spLocks noChangeArrowheads="1"/>
          </p:cNvSpPr>
          <p:nvPr/>
        </p:nvSpPr>
        <p:spPr bwMode="auto">
          <a:xfrm>
            <a:off x="0" y="876300"/>
            <a:ext cx="9144000" cy="1397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Select açılır liste oluşturmak, </a:t>
            </a:r>
            <a:r>
              <a:rPr lang="tr-TR" dirty="0" err="1">
                <a:solidFill>
                  <a:srgbClr val="000000"/>
                </a:solidFill>
                <a:latin typeface="Arial" pitchFamily="34" charset="0"/>
              </a:rPr>
              <a:t>option</a:t>
            </a:r>
            <a:r>
              <a:rPr lang="tr-TR" dirty="0">
                <a:solidFill>
                  <a:srgbClr val="000000"/>
                </a:solidFill>
                <a:latin typeface="Arial" pitchFamily="34" charset="0"/>
              </a:rPr>
              <a:t> açılır liste elemanlarını belirlemek, </a:t>
            </a:r>
            <a:r>
              <a:rPr lang="tr-TR" dirty="0" err="1">
                <a:solidFill>
                  <a:srgbClr val="000000"/>
                </a:solidFill>
                <a:latin typeface="Arial" pitchFamily="34" charset="0"/>
              </a:rPr>
              <a:t>optgroup</a:t>
            </a:r>
            <a:r>
              <a:rPr lang="tr-TR" dirty="0">
                <a:solidFill>
                  <a:srgbClr val="000000"/>
                </a:solidFill>
                <a:latin typeface="Arial" pitchFamily="34" charset="0"/>
              </a:rPr>
              <a:t> ise gerekli durumlarda bu elemanları gruplandırmak için kullanılır. </a:t>
            </a:r>
          </a:p>
        </p:txBody>
      </p:sp>
      <p:pic>
        <p:nvPicPr>
          <p:cNvPr id="4" name="Resim 3">
            <a:extLst>
              <a:ext uri="{FF2B5EF4-FFF2-40B4-BE49-F238E27FC236}">
                <a16:creationId xmlns:a16="http://schemas.microsoft.com/office/drawing/2014/main" id="{8BEEA2EA-93B6-40A8-B693-6C90E63B4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5344" y="2485537"/>
            <a:ext cx="4467849" cy="3496163"/>
          </a:xfrm>
          <a:prstGeom prst="rect">
            <a:avLst/>
          </a:prstGeom>
        </p:spPr>
      </p:pic>
    </p:spTree>
    <p:extLst>
      <p:ext uri="{BB962C8B-B14F-4D97-AF65-F5344CB8AC3E}">
        <p14:creationId xmlns:p14="http://schemas.microsoft.com/office/powerpoint/2010/main" val="2827679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Textarea (Metin Alanı)</a:t>
            </a:r>
            <a:endParaRPr lang="en-US" sz="3200" dirty="0"/>
          </a:p>
        </p:txBody>
      </p:sp>
      <p:sp>
        <p:nvSpPr>
          <p:cNvPr id="154627" name="Rectangle 3"/>
          <p:cNvSpPr>
            <a:spLocks noChangeArrowheads="1"/>
          </p:cNvSpPr>
          <p:nvPr/>
        </p:nvSpPr>
        <p:spPr bwMode="auto">
          <a:xfrm>
            <a:off x="0" y="876300"/>
            <a:ext cx="9144000" cy="1397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Textarea kullanıcının yazı yazabileceği çok satırlı metin kutuları oluşturur. Satır sayısı </a:t>
            </a:r>
            <a:r>
              <a:rPr lang="tr-TR" dirty="0" err="1">
                <a:solidFill>
                  <a:srgbClr val="000000"/>
                </a:solidFill>
                <a:latin typeface="Arial" pitchFamily="34" charset="0"/>
              </a:rPr>
              <a:t>rows</a:t>
            </a:r>
            <a:r>
              <a:rPr lang="tr-TR" dirty="0">
                <a:solidFill>
                  <a:srgbClr val="000000"/>
                </a:solidFill>
                <a:latin typeface="Arial" pitchFamily="34" charset="0"/>
              </a:rPr>
              <a:t> değişkeniyle belirlenir.</a:t>
            </a:r>
          </a:p>
        </p:txBody>
      </p:sp>
      <p:pic>
        <p:nvPicPr>
          <p:cNvPr id="3" name="Resim 2">
            <a:extLst>
              <a:ext uri="{FF2B5EF4-FFF2-40B4-BE49-F238E27FC236}">
                <a16:creationId xmlns:a16="http://schemas.microsoft.com/office/drawing/2014/main" id="{7B1AA150-459A-4555-96E5-36B61C76C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100" y="2273417"/>
            <a:ext cx="4744112" cy="1981477"/>
          </a:xfrm>
          <a:prstGeom prst="rect">
            <a:avLst/>
          </a:prstGeom>
        </p:spPr>
      </p:pic>
    </p:spTree>
    <p:extLst>
      <p:ext uri="{BB962C8B-B14F-4D97-AF65-F5344CB8AC3E}">
        <p14:creationId xmlns:p14="http://schemas.microsoft.com/office/powerpoint/2010/main" val="2241583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Label Elemanı</a:t>
            </a:r>
            <a:endParaRPr lang="en-US" sz="3200" dirty="0"/>
          </a:p>
        </p:txBody>
      </p:sp>
      <p:sp>
        <p:nvSpPr>
          <p:cNvPr id="154627" name="Rectangle 3"/>
          <p:cNvSpPr>
            <a:spLocks noChangeArrowheads="1"/>
          </p:cNvSpPr>
          <p:nvPr/>
        </p:nvSpPr>
        <p:spPr bwMode="auto">
          <a:xfrm>
            <a:off x="0" y="876300"/>
            <a:ext cx="9144000" cy="1397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Label elemanı diğer elemanları etiketlemek için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Sadece ilişkilendirildiği form elemanıyla bir bütün olarak, o form elemanının özelliğini kazanır.</a:t>
            </a:r>
          </a:p>
        </p:txBody>
      </p:sp>
      <p:pic>
        <p:nvPicPr>
          <p:cNvPr id="4" name="Resim 3">
            <a:extLst>
              <a:ext uri="{FF2B5EF4-FFF2-40B4-BE49-F238E27FC236}">
                <a16:creationId xmlns:a16="http://schemas.microsoft.com/office/drawing/2014/main" id="{43D7478C-E7E0-4696-9B0B-729D4F647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508" y="2601774"/>
            <a:ext cx="6925642" cy="1771897"/>
          </a:xfrm>
          <a:prstGeom prst="rect">
            <a:avLst/>
          </a:prstGeom>
        </p:spPr>
      </p:pic>
    </p:spTree>
    <p:extLst>
      <p:ext uri="{BB962C8B-B14F-4D97-AF65-F5344CB8AC3E}">
        <p14:creationId xmlns:p14="http://schemas.microsoft.com/office/powerpoint/2010/main" val="129955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Label Elemanı</a:t>
            </a:r>
            <a:endParaRPr lang="en-US" sz="3200" dirty="0"/>
          </a:p>
        </p:txBody>
      </p:sp>
      <p:sp>
        <p:nvSpPr>
          <p:cNvPr id="154627" name="Rectangle 3"/>
          <p:cNvSpPr>
            <a:spLocks noChangeArrowheads="1"/>
          </p:cNvSpPr>
          <p:nvPr/>
        </p:nvSpPr>
        <p:spPr bwMode="auto">
          <a:xfrm>
            <a:off x="0" y="876300"/>
            <a:ext cx="9144000" cy="598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Resim 5.54’te üçüncü satırda </a:t>
            </a:r>
            <a:r>
              <a:rPr lang="tr-TR" dirty="0" err="1">
                <a:solidFill>
                  <a:srgbClr val="000000"/>
                </a:solidFill>
                <a:latin typeface="Arial" pitchFamily="34" charset="0"/>
              </a:rPr>
              <a:t>arac</a:t>
            </a:r>
            <a:r>
              <a:rPr lang="tr-TR" dirty="0">
                <a:solidFill>
                  <a:srgbClr val="000000"/>
                </a:solidFill>
                <a:latin typeface="Arial" pitchFamily="34" charset="0"/>
              </a:rPr>
              <a:t> isimli radyo düğmelerinden ilki için, kimliği (</a:t>
            </a:r>
            <a:r>
              <a:rPr lang="tr-TR" dirty="0" err="1">
                <a:solidFill>
                  <a:srgbClr val="000000"/>
                </a:solidFill>
                <a:latin typeface="Arial" pitchFamily="34" charset="0"/>
              </a:rPr>
              <a:t>id’si</a:t>
            </a:r>
            <a:r>
              <a:rPr lang="tr-TR" dirty="0">
                <a:solidFill>
                  <a:srgbClr val="000000"/>
                </a:solidFill>
                <a:latin typeface="Arial" pitchFamily="34" charset="0"/>
              </a:rPr>
              <a:t>) binek olan seçenek oluşturulmuştur. İkinci satırda ise bu radyo düğmesi için taksi etiketi (</a:t>
            </a:r>
            <a:r>
              <a:rPr lang="tr-TR" dirty="0" err="1">
                <a:solidFill>
                  <a:srgbClr val="000000"/>
                </a:solidFill>
                <a:latin typeface="Arial" pitchFamily="34" charset="0"/>
              </a:rPr>
              <a:t>label</a:t>
            </a:r>
            <a:r>
              <a:rPr lang="tr-TR" dirty="0">
                <a:solidFill>
                  <a:srgbClr val="000000"/>
                </a:solidFill>
                <a:latin typeface="Arial" pitchFamily="34" charset="0"/>
              </a:rPr>
              <a:t>) oluşturulmuştur.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Dikkat edilirse kimliği binek olan radyo seçeneğinin </a:t>
            </a:r>
            <a:r>
              <a:rPr lang="tr-TR" dirty="0" err="1">
                <a:solidFill>
                  <a:srgbClr val="000000"/>
                </a:solidFill>
                <a:latin typeface="Arial" pitchFamily="34" charset="0"/>
              </a:rPr>
              <a:t>id</a:t>
            </a:r>
            <a:r>
              <a:rPr lang="tr-TR" dirty="0">
                <a:solidFill>
                  <a:srgbClr val="000000"/>
                </a:solidFill>
                <a:latin typeface="Arial" pitchFamily="34" charset="0"/>
              </a:rPr>
              <a:t> değeri ile </a:t>
            </a:r>
            <a:r>
              <a:rPr lang="tr-TR" dirty="0" err="1">
                <a:solidFill>
                  <a:srgbClr val="000000"/>
                </a:solidFill>
                <a:latin typeface="Arial" pitchFamily="34" charset="0"/>
              </a:rPr>
              <a:t>label</a:t>
            </a:r>
            <a:r>
              <a:rPr lang="tr-TR" dirty="0">
                <a:solidFill>
                  <a:srgbClr val="000000"/>
                </a:solidFill>
                <a:latin typeface="Arial" pitchFamily="34" charset="0"/>
              </a:rPr>
              <a:t> etiketinin </a:t>
            </a:r>
            <a:r>
              <a:rPr lang="tr-TR" dirty="0" err="1">
                <a:solidFill>
                  <a:srgbClr val="000000"/>
                </a:solidFill>
                <a:latin typeface="Arial" pitchFamily="34" charset="0"/>
              </a:rPr>
              <a:t>for</a:t>
            </a:r>
            <a:r>
              <a:rPr lang="tr-TR" dirty="0">
                <a:solidFill>
                  <a:srgbClr val="000000"/>
                </a:solidFill>
                <a:latin typeface="Arial" pitchFamily="34" charset="0"/>
              </a:rPr>
              <a:t> değeri aynıdır.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durum binek kimliği taşıyan radyo düğmesinin başına, taksi yazısının (etiketinin) gelmesini sağlamıştır.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Böylelikle yazı ve düğme bir bütün olmuştur. Ancak beşinci satırda yer alan </a:t>
            </a:r>
            <a:r>
              <a:rPr lang="tr-TR" dirty="0" err="1">
                <a:solidFill>
                  <a:srgbClr val="000000"/>
                </a:solidFill>
                <a:latin typeface="Arial" pitchFamily="34" charset="0"/>
              </a:rPr>
              <a:t>arac</a:t>
            </a:r>
            <a:r>
              <a:rPr lang="tr-TR" dirty="0">
                <a:solidFill>
                  <a:srgbClr val="000000"/>
                </a:solidFill>
                <a:latin typeface="Arial" pitchFamily="34" charset="0"/>
              </a:rPr>
              <a:t> isimli radyo düğmelerinden ikincisi için oluşturulan ticari düğmesi için aynı durum söz konusu değildir.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Ticari düğmesinin başında yer alan ticari ibaresi sadece bir metindir ve bir etiket değildir. Farklı özellikler taşıyan bu radyo düğmeleri için kullanıcı açısından uygulamada fazla fark yoktur.</a:t>
            </a:r>
          </a:p>
        </p:txBody>
      </p:sp>
    </p:spTree>
    <p:extLst>
      <p:ext uri="{BB962C8B-B14F-4D97-AF65-F5344CB8AC3E}">
        <p14:creationId xmlns:p14="http://schemas.microsoft.com/office/powerpoint/2010/main" val="2296405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Label Elemanı</a:t>
            </a:r>
            <a:endParaRPr lang="en-US" sz="3200" dirty="0"/>
          </a:p>
        </p:txBody>
      </p:sp>
      <p:sp>
        <p:nvSpPr>
          <p:cNvPr id="154627" name="Rectangle 3"/>
          <p:cNvSpPr>
            <a:spLocks noChangeArrowheads="1"/>
          </p:cNvSpPr>
          <p:nvPr/>
        </p:nvSpPr>
        <p:spPr bwMode="auto">
          <a:xfrm>
            <a:off x="0" y="876300"/>
            <a:ext cx="9144000" cy="597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Tek fark taksi yazısına tıklandığında radyo düğmesinin işaretlenebilmesidir.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Ancak ticari yazısına tıklandığında, yazı ile düğme ilişkilendirilmediği için düğme işaretlenemez.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Label elemanına verilebilecek bir özellik yoktur.</a:t>
            </a:r>
          </a:p>
        </p:txBody>
      </p:sp>
    </p:spTree>
    <p:extLst>
      <p:ext uri="{BB962C8B-B14F-4D97-AF65-F5344CB8AC3E}">
        <p14:creationId xmlns:p14="http://schemas.microsoft.com/office/powerpoint/2010/main" val="1045988787"/>
      </p:ext>
    </p:extLst>
  </p:cSld>
  <p:clrMapOvr>
    <a:masterClrMapping/>
  </p:clrMapOvr>
</p:sld>
</file>

<file path=ppt/theme/theme1.xml><?xml version="1.0" encoding="utf-8"?>
<a:theme xmlns:a="http://schemas.openxmlformats.org/drawingml/2006/main" name="1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181339</TotalTime>
  <Words>2313</Words>
  <Application>Microsoft Office PowerPoint</Application>
  <PresentationFormat>Ekran Gösterisi (4:3)</PresentationFormat>
  <Paragraphs>216</Paragraphs>
  <Slides>38</Slides>
  <Notes>0</Notes>
  <HiddenSlides>0</HiddenSlides>
  <MMClips>0</MMClips>
  <ScaleCrop>false</ScaleCrop>
  <HeadingPairs>
    <vt:vector size="6" baseType="variant">
      <vt:variant>
        <vt:lpstr>Kullanılan Yazı Tipleri</vt:lpstr>
      </vt:variant>
      <vt:variant>
        <vt:i4>3</vt:i4>
      </vt:variant>
      <vt:variant>
        <vt:lpstr>Tema</vt:lpstr>
      </vt:variant>
      <vt:variant>
        <vt:i4>6</vt:i4>
      </vt:variant>
      <vt:variant>
        <vt:lpstr>Slayt Başlıkları</vt:lpstr>
      </vt:variant>
      <vt:variant>
        <vt:i4>38</vt:i4>
      </vt:variant>
    </vt:vector>
  </HeadingPairs>
  <TitlesOfParts>
    <vt:vector size="47" baseType="lpstr">
      <vt:lpstr>Arial</vt:lpstr>
      <vt:lpstr>Times New Roman</vt:lpstr>
      <vt:lpstr>Wingdings</vt:lpstr>
      <vt:lpstr>1_UMd_Draft4-8Oct</vt:lpstr>
      <vt:lpstr>2_UMd_Draft4-8Oct</vt:lpstr>
      <vt:lpstr>3_UMd_Draft4-8Oct</vt:lpstr>
      <vt:lpstr>4_UMd_Draft4-8Oct</vt:lpstr>
      <vt:lpstr>5_UMd_Draft4-8Oct</vt:lpstr>
      <vt:lpstr>15_UMd_Draft4-8Oct</vt:lpstr>
      <vt:lpstr>PowerPoint Sunusu</vt:lpstr>
      <vt:lpstr>Giriş</vt:lpstr>
      <vt:lpstr>Giriş</vt:lpstr>
      <vt:lpstr>Giriş</vt:lpstr>
      <vt:lpstr>Form Özellikleri</vt:lpstr>
      <vt:lpstr>Form Özellikleri</vt:lpstr>
      <vt:lpstr>Form Özellikleri</vt:lpstr>
      <vt:lpstr>Form Özellikleri</vt:lpstr>
      <vt:lpstr>Form Özellikleri</vt:lpstr>
      <vt:lpstr>Form Özellikleri</vt:lpstr>
      <vt:lpstr>Form Özellikleri</vt:lpstr>
      <vt:lpstr>Form Elemanları</vt:lpstr>
      <vt:lpstr>Input (Giriş)</vt:lpstr>
      <vt:lpstr>Text (Metin Kutusu)</vt:lpstr>
      <vt:lpstr>Password (Şifre)</vt:lpstr>
      <vt:lpstr>Email (E-posta)</vt:lpstr>
      <vt:lpstr>Checkbox (Onay Kutusu)</vt:lpstr>
      <vt:lpstr>Radio (Radyo Düğmesi)</vt:lpstr>
      <vt:lpstr>Submit (Gönder Düğmesi)</vt:lpstr>
      <vt:lpstr>Image (Resimli Düğme)</vt:lpstr>
      <vt:lpstr>Reset (Sıfırlama Düğmesi)</vt:lpstr>
      <vt:lpstr>Tel (Telefon Numarası)</vt:lpstr>
      <vt:lpstr>Date (Tarih)</vt:lpstr>
      <vt:lpstr>Button (Düğme)</vt:lpstr>
      <vt:lpstr>File (Dosya Yükleme)</vt:lpstr>
      <vt:lpstr>Hidden (Gizli)</vt:lpstr>
      <vt:lpstr>Hidden (Gizli)</vt:lpstr>
      <vt:lpstr>Color (Renk)</vt:lpstr>
      <vt:lpstr>Number (Sayı)</vt:lpstr>
      <vt:lpstr>Button (Düğme)</vt:lpstr>
      <vt:lpstr>Button (Düğme)</vt:lpstr>
      <vt:lpstr>Button (Düğme)</vt:lpstr>
      <vt:lpstr>Fieldset ve Legend (Gruplayıcı ve Başlık)</vt:lpstr>
      <vt:lpstr>Select, Optgroup, Option (Açılır Liste, Gruplama Başlığı, Seçenek)</vt:lpstr>
      <vt:lpstr>Textarea (Metin Alanı)</vt:lpstr>
      <vt:lpstr>Label Elemanı</vt:lpstr>
      <vt:lpstr>Label Elemanı</vt:lpstr>
      <vt:lpstr>Label Elemanı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JK/KR, modified by C.Xu/E.Attalla</dc:creator>
  <cp:lastModifiedBy>Zihni KAYA</cp:lastModifiedBy>
  <cp:revision>1307</cp:revision>
  <cp:lastPrinted>2013-04-21T19:31:14Z</cp:lastPrinted>
  <dcterms:created xsi:type="dcterms:W3CDTF">1999-10-08T19:08:27Z</dcterms:created>
  <dcterms:modified xsi:type="dcterms:W3CDTF">2026-02-18T12:45:13Z</dcterms:modified>
</cp:coreProperties>
</file>