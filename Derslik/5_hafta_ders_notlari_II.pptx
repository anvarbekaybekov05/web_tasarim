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29"/>
  </p:notesMasterIdLst>
  <p:handoutMasterIdLst>
    <p:handoutMasterId r:id="rId30"/>
  </p:handoutMasterIdLst>
  <p:sldIdLst>
    <p:sldId id="824" r:id="rId7"/>
    <p:sldId id="787" r:id="rId8"/>
    <p:sldId id="788" r:id="rId9"/>
    <p:sldId id="789" r:id="rId10"/>
    <p:sldId id="790" r:id="rId11"/>
    <p:sldId id="807" r:id="rId12"/>
    <p:sldId id="791" r:id="rId13"/>
    <p:sldId id="792" r:id="rId14"/>
    <p:sldId id="793" r:id="rId15"/>
    <p:sldId id="794" r:id="rId16"/>
    <p:sldId id="795" r:id="rId17"/>
    <p:sldId id="796" r:id="rId18"/>
    <p:sldId id="797" r:id="rId19"/>
    <p:sldId id="798" r:id="rId20"/>
    <p:sldId id="799" r:id="rId21"/>
    <p:sldId id="800" r:id="rId22"/>
    <p:sldId id="806" r:id="rId23"/>
    <p:sldId id="801" r:id="rId24"/>
    <p:sldId id="802" r:id="rId25"/>
    <p:sldId id="803" r:id="rId26"/>
    <p:sldId id="804" r:id="rId27"/>
    <p:sldId id="805" r:id="rId28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Tasarım ve Programlama</a:t>
            </a: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altLang="tr-TR" sz="32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Metin Fonksiyonları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9C63A1D-0907-4A02-A70F-DA401177A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27725"/>
            <a:ext cx="91440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r-TR" altLang="tr-TR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Dr. </a:t>
            </a:r>
            <a:r>
              <a:rPr lang="tr-TR" altLang="tr-TR" b="1" dirty="0" err="1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Öğr</a:t>
            </a:r>
            <a:r>
              <a:rPr lang="tr-TR" altLang="tr-TR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. Üyesi</a:t>
            </a:r>
            <a:r>
              <a:rPr kumimoji="0" lang="tr-TR" altLang="tr-TR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. Zihni KAYA</a:t>
            </a:r>
            <a:endParaRPr kumimoji="0" lang="en-US" altLang="tr-TR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tr-TR" sz="2000" b="1" dirty="0">
              <a:solidFill>
                <a:srgbClr val="336699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Uygulamal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ı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Bilimler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Fakültesi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Yönetim Bilişim </a:t>
            </a:r>
            <a:r>
              <a:rPr lang="tr-TR" altLang="tr-TR" sz="2000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istemleri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zihnikaya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@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aydin.edu.tr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tr-TR" sz="2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tr-TR" sz="2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A95D6CDF-BED1-4B82-A5D5-5C5AD07AAF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60" y="5399328"/>
            <a:ext cx="3520063" cy="113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metnin kaç karakterden oluştuğunu görmek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strlen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 kullanın.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strlen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"Merhaba dünya!"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çıktısı 14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4800" dirty="0"/>
          </a:p>
        </p:txBody>
      </p:sp>
    </p:spTree>
    <p:extLst>
      <p:ext uri="{BB962C8B-B14F-4D97-AF65-F5344CB8AC3E}">
        <p14:creationId xmlns:p14="http://schemas.microsoft.com/office/powerpoint/2010/main" val="127889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metnin kaç kelimeden oluştuğunu görmek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str_word_count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 kullanın.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str_word_count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"Merhaba dünya!"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çıktısı 2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6000" dirty="0"/>
          </a:p>
        </p:txBody>
      </p:sp>
    </p:spTree>
    <p:extLst>
      <p:ext uri="{BB962C8B-B14F-4D97-AF65-F5344CB8AC3E}">
        <p14:creationId xmlns:p14="http://schemas.microsoft.com/office/powerpoint/2010/main" val="1311473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metnin tam tersini elde etmek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strrev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 kullanın.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strrev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"Selam"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çıktısı </a:t>
            </a:r>
            <a:r>
              <a:rPr lang="tr-TR" b="0" i="0" u="none" strike="noStrike" baseline="0" dirty="0" err="1">
                <a:solidFill>
                  <a:srgbClr val="008000"/>
                </a:solidFill>
                <a:latin typeface="Courier New" panose="02070309020205020404" pitchFamily="49" charset="0"/>
              </a:rPr>
              <a:t>maleS</a:t>
            </a:r>
            <a:endParaRPr lang="tr-TR" b="0" i="0" u="none" strike="noStrike" baseline="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7200" dirty="0"/>
          </a:p>
        </p:txBody>
      </p:sp>
    </p:spTree>
    <p:extLst>
      <p:ext uri="{BB962C8B-B14F-4D97-AF65-F5344CB8AC3E}">
        <p14:creationId xmlns:p14="http://schemas.microsoft.com/office/powerpoint/2010/main" val="46955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Metnin içinde özel bir metin aramak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strpos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 kullanın.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İlk karakterin pozisyonunun 1’den değil 0’dan başlayarak sayıldığına dikkat edin.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3239480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strpos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"Merhaba 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dünya!"</a:t>
            </a:r>
            <a:r>
              <a:rPr lang="tr-TR" b="0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"dünya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çıktısı 8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8800" dirty="0"/>
          </a:p>
        </p:txBody>
      </p:sp>
    </p:spTree>
    <p:extLst>
      <p:ext uri="{BB962C8B-B14F-4D97-AF65-F5344CB8AC3E}">
        <p14:creationId xmlns:p14="http://schemas.microsoft.com/office/powerpoint/2010/main" val="220956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Dizede bir özel metnin son geçtiği konumu bulmak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strrpos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>
                <a:solidFill>
                  <a:srgbClr val="000000"/>
                </a:solidFill>
                <a:latin typeface="Arial" pitchFamily="34" charset="0"/>
              </a:rPr>
              <a:t>fonksiyonunu kullanın.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3239480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strrpos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"I love php, I love php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too!"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"php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tr-TR" sz="8800" dirty="0"/>
          </a:p>
        </p:txBody>
      </p:sp>
    </p:spTree>
    <p:extLst>
      <p:ext uri="{BB962C8B-B14F-4D97-AF65-F5344CB8AC3E}">
        <p14:creationId xmlns:p14="http://schemas.microsoft.com/office/powerpoint/2010/main" val="4270379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strtoupper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stringi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büyük harfe çevirerek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734811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b="1" i="0" u="none" strike="noStrike" baseline="0" dirty="0">
                <a:latin typeface="Courier New" panose="02070309020205020404" pitchFamily="49" charset="0"/>
              </a:rPr>
              <a:t>$x = </a:t>
            </a:r>
            <a:r>
              <a:rPr lang="tr-TR" b="1" i="0" u="none" strike="noStrike" baseline="0" dirty="0">
                <a:latin typeface="Courier New" panose="02070309020205020404" pitchFamily="49" charset="0"/>
              </a:rPr>
              <a:t>"Merhaba dünya</a:t>
            </a:r>
            <a:r>
              <a:rPr lang="en-US" b="1" i="0" u="none" strike="noStrike" baseline="0" dirty="0">
                <a:latin typeface="Courier New" panose="02070309020205020404" pitchFamily="49" charset="0"/>
              </a:rPr>
              <a:t>!";</a:t>
            </a:r>
          </a:p>
          <a:p>
            <a:r>
              <a:rPr lang="en-US" b="1" i="0" u="none" strike="noStrike" baseline="0" dirty="0">
                <a:latin typeface="Courier New" panose="02070309020205020404" pitchFamily="49" charset="0"/>
              </a:rPr>
              <a:t>echo </a:t>
            </a:r>
            <a:r>
              <a:rPr lang="en-US" b="1" i="0" u="none" strike="noStrike" baseline="0" dirty="0" err="1">
                <a:latin typeface="Courier New" panose="02070309020205020404" pitchFamily="49" charset="0"/>
              </a:rPr>
              <a:t>strtoupper</a:t>
            </a:r>
            <a:r>
              <a:rPr lang="en-US" b="1" i="0" u="none" strike="noStrike" baseline="0" dirty="0">
                <a:latin typeface="Courier New" panose="02070309020205020404" pitchFamily="49" charset="0"/>
              </a:rPr>
              <a:t>($x);</a:t>
            </a:r>
            <a:endParaRPr lang="tr-TR" b="1" i="0" u="none" strike="noStrike" baseline="0" dirty="0"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8800" dirty="0"/>
          </a:p>
        </p:txBody>
      </p:sp>
    </p:spTree>
    <p:extLst>
      <p:ext uri="{BB962C8B-B14F-4D97-AF65-F5344CB8AC3E}">
        <p14:creationId xmlns:p14="http://schemas.microsoft.com/office/powerpoint/2010/main" val="4210421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strtolower() fonksiyonu,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stringi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küçük harfe çevirerek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734811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b="1" i="0" u="none" strike="noStrike" baseline="0" dirty="0">
                <a:latin typeface="Courier New" panose="02070309020205020404" pitchFamily="49" charset="0"/>
              </a:rPr>
              <a:t>$x = </a:t>
            </a:r>
            <a:r>
              <a:rPr lang="tr-TR" b="1" i="0" u="none" strike="noStrike" baseline="0" dirty="0">
                <a:latin typeface="Courier New" panose="02070309020205020404" pitchFamily="49" charset="0"/>
              </a:rPr>
              <a:t>"Merhaba dünya</a:t>
            </a:r>
            <a:r>
              <a:rPr lang="en-US" b="1" i="0" u="none" strike="noStrike" baseline="0" dirty="0">
                <a:latin typeface="Courier New" panose="02070309020205020404" pitchFamily="49" charset="0"/>
              </a:rPr>
              <a:t>!";</a:t>
            </a:r>
          </a:p>
          <a:p>
            <a:r>
              <a:rPr lang="en-US" b="1" i="0" u="none" strike="noStrike" baseline="0" dirty="0">
                <a:latin typeface="Courier New" panose="02070309020205020404" pitchFamily="49" charset="0"/>
              </a:rPr>
              <a:t>echo </a:t>
            </a:r>
            <a:r>
              <a:rPr lang="en-US" b="1" i="0" u="none" strike="noStrike" baseline="0" dirty="0" err="1">
                <a:latin typeface="Courier New" panose="02070309020205020404" pitchFamily="49" charset="0"/>
              </a:rPr>
              <a:t>strtolower</a:t>
            </a:r>
            <a:r>
              <a:rPr lang="en-US" b="1" i="0" u="none" strike="noStrike" baseline="0" dirty="0">
                <a:latin typeface="Courier New" panose="02070309020205020404" pitchFamily="49" charset="0"/>
              </a:rPr>
              <a:t>($x);</a:t>
            </a:r>
            <a:endParaRPr lang="tr-TR" b="1" i="0" u="none" strike="noStrike" baseline="0" dirty="0"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8800" dirty="0"/>
          </a:p>
        </p:txBody>
      </p:sp>
    </p:spTree>
    <p:extLst>
      <p:ext uri="{BB962C8B-B14F-4D97-AF65-F5344CB8AC3E}">
        <p14:creationId xmlns:p14="http://schemas.microsoft.com/office/powerpoint/2010/main" val="1856533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Metin içindeki bir ifadenin yerine başkasını yerleştirmek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str_replace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 kullanın.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734811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cho 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str_replace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dünya"</a:t>
            </a:r>
            <a:r>
              <a:rPr lang="tr-TR" b="0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"Çocuk"</a:t>
            </a:r>
            <a:r>
              <a:rPr lang="tr-TR" b="0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"Merhaba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dünya!"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çıktısı Merhaba Çocuk!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1500" dirty="0"/>
          </a:p>
        </p:txBody>
      </p:sp>
    </p:spTree>
    <p:extLst>
      <p:ext uri="{BB962C8B-B14F-4D97-AF65-F5344CB8AC3E}">
        <p14:creationId xmlns:p14="http://schemas.microsoft.com/office/powerpoint/2010/main" val="284453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Boşluk, metnin önündeki ve/veya arkasındaki alandır ve çok sık bu boşluğu kaldırmak istersiniz.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734811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b="1" i="0" u="none" strike="noStrike" baseline="0" dirty="0">
                <a:latin typeface="Courier New" panose="02070309020205020404" pitchFamily="49" charset="0"/>
              </a:rPr>
              <a:t>$x = </a:t>
            </a:r>
            <a:r>
              <a:rPr lang="tr-TR" b="1" i="0" u="none" strike="noStrike" baseline="0" dirty="0">
                <a:latin typeface="Courier New" panose="02070309020205020404" pitchFamily="49" charset="0"/>
              </a:rPr>
              <a:t>" Merhaba dünya</a:t>
            </a:r>
            <a:r>
              <a:rPr lang="en-US" b="1" i="0" u="none" strike="noStrike" baseline="0" dirty="0">
                <a:latin typeface="Courier New" panose="02070309020205020404" pitchFamily="49" charset="0"/>
              </a:rPr>
              <a:t>!</a:t>
            </a:r>
            <a:r>
              <a:rPr lang="tr-TR" b="1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b="1" i="0" u="none" strike="noStrike" baseline="0" dirty="0">
                <a:latin typeface="Courier New" panose="02070309020205020404" pitchFamily="49" charset="0"/>
              </a:rPr>
              <a:t>";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echo </a:t>
            </a:r>
            <a:r>
              <a:rPr lang="tr-TR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trim</a:t>
            </a:r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($x);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1500" dirty="0"/>
          </a:p>
        </p:txBody>
      </p:sp>
    </p:spTree>
    <p:extLst>
      <p:ext uri="{BB962C8B-B14F-4D97-AF65-F5344CB8AC3E}">
        <p14:creationId xmlns:p14="http://schemas.microsoft.com/office/powerpoint/2010/main" val="3009570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explode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fonksiyonu,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string'i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diziye ayırır.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explode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fonksiyonunun ilk parametresi "ayırıcıyı" temsil eder. "Ayırıcı",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string'in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nereden bölüneceğini belirtir.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734811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"Merhaba Dünya!"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explode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print_r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/*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( [0] =&gt; Merhaba [1] =&gt; Dünya! 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64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İki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stringi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birleştirmek için . operatörünü kullanabilirsiniz.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734811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&lt;?</a:t>
            </a:r>
            <a:r>
              <a:rPr kumimoji="0" lang="es-E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php</a:t>
            </a:r>
            <a:endParaRPr kumimoji="0" lang="es-ES" altLang="tr-TR" sz="2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$x = "</a:t>
            </a:r>
            <a:r>
              <a:rPr kumimoji="0" lang="es-E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Hello</a:t>
            </a:r>
            <a:r>
              <a:rPr kumimoji="0" lang="es-E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$y = "</a:t>
            </a:r>
            <a:r>
              <a:rPr kumimoji="0" lang="es-E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World</a:t>
            </a:r>
            <a:r>
              <a:rPr kumimoji="0" lang="es-E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$z = $x . $y;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$z;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?&gt;</a:t>
            </a:r>
            <a:endParaRPr kumimoji="0" lang="tr-TR" altLang="tr-TR" sz="4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69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substr() fonksiyonunu kullanarak bir karakter aralığını döndürebilirsiniz.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Dilimlemeyi indeks 6'dan başlatın ve 5 pozisyon sonra bitirin.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734811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$x = "Hello World!";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substr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($x, 6, 5);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dirty="0">
                <a:latin typeface="Consolas" panose="020B0609020204030204" pitchFamily="49" charset="0"/>
              </a:rPr>
              <a:t>Çıktı: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dirty="0">
                <a:latin typeface="Consolas" panose="020B0609020204030204" pitchFamily="49" charset="0"/>
              </a:rPr>
              <a:t>World</a:t>
            </a:r>
          </a:p>
        </p:txBody>
      </p:sp>
    </p:spTree>
    <p:extLst>
      <p:ext uri="{BB962C8B-B14F-4D97-AF65-F5344CB8AC3E}">
        <p14:creationId xmlns:p14="http://schemas.microsoft.com/office/powerpoint/2010/main" val="3829926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Uzunluk parametresini belirtmezseniz, aralık sona kadar devam edecektir.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734811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$x = "Hello World!";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substr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($x, 6);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dirty="0">
                <a:latin typeface="Consolas" panose="020B0609020204030204" pitchFamily="49" charset="0"/>
              </a:rPr>
              <a:t>Çıktı: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dirty="0">
                <a:latin typeface="Consolas" panose="020B0609020204030204" pitchFamily="49" charset="0"/>
              </a:rPr>
              <a:t>World!</a:t>
            </a:r>
          </a:p>
        </p:txBody>
      </p:sp>
    </p:spTree>
    <p:extLst>
      <p:ext uri="{BB962C8B-B14F-4D97-AF65-F5344CB8AC3E}">
        <p14:creationId xmlns:p14="http://schemas.microsoft.com/office/powerpoint/2010/main" val="1591784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Dizinin sonundan dilimi başlatmak için negatif indeksleri kullanın.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"World" kelimesindeki "o" harfinden (indeks -5) başlayarak 3 karakter alın.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734811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$x = "Hello World!";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substr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($x, -5, 3);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dirty="0">
                <a:latin typeface="Consolas" panose="020B0609020204030204" pitchFamily="49" charset="0"/>
              </a:rPr>
              <a:t>//çıktı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orl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4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035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Dizgenin sonundan itibaren kaç karakterin çıkarılacağını belirtmek için negatif uzunluk kullanın.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how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are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you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?" dizgesinden, 5. indeksten başlayarak sondan 3. karaktere kadar devam eden karakterleri alın (indeks -3).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Sonuç olarak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ow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are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y" elde edilmelidir.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3087149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$x = "Hi, how are you?";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substr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($x, 5, -3);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dirty="0">
                <a:latin typeface="Consolas" panose="020B0609020204030204" pitchFamily="49" charset="0"/>
              </a:rPr>
              <a:t>//çıktı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ow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are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4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86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Metin Fonksiyonları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str_repeat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fonksiyonu bir metni tekrarlamak için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 selam kelimesini 5 kez tekrarlar.</a:t>
            </a:r>
          </a:p>
          <a:p>
            <a:pPr marL="171450" lvl="1">
              <a:spcBef>
                <a:spcPct val="20000"/>
              </a:spcBef>
              <a:buClr>
                <a:srgbClr val="0066CC"/>
              </a:buClr>
              <a:buSzPct val="75000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3087149"/>
            <a:ext cx="8305101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&lt;?php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str_repeat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("</a:t>
            </a:r>
            <a:r>
              <a:rPr lang="tr-TR" altLang="tr-TR" dirty="0">
                <a:latin typeface="Consolas" panose="020B0609020204030204" pitchFamily="49" charset="0"/>
              </a:rPr>
              <a:t>selam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",</a:t>
            </a:r>
            <a:r>
              <a:rPr lang="tr-TR" altLang="tr-TR" dirty="0">
                <a:latin typeface="Consolas" panose="020B0609020204030204" pitchFamily="49" charset="0"/>
              </a:rPr>
              <a:t>5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?&gt;</a:t>
            </a:r>
            <a:endParaRPr kumimoji="0" lang="tr-TR" altLang="tr-TR" sz="4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368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Kaçış (Escape) Operatörleri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dizede yasal olmayan karakterleri eklemek için bir kaçış karakteri kullanın.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kaçış karakteri, eklemek istediğiniz karakterin önüne gelen ters bölü işaretidir.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3087149"/>
            <a:ext cx="8305101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&lt;?php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</a:t>
            </a:r>
            <a:r>
              <a:rPr lang="tr-TR" altLang="tr-TR" dirty="0">
                <a:latin typeface="Consolas" panose="020B0609020204030204" pitchFamily="49" charset="0"/>
              </a:rPr>
              <a:t>'2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0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yıldır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\'PHP\'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kullanıyorum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'.;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?&gt;</a:t>
            </a:r>
            <a:endParaRPr kumimoji="0" lang="tr-TR" altLang="tr-TR" sz="4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376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Kaçış (Escape) Operatörleri</a:t>
            </a:r>
            <a:endParaRPr lang="en-US" sz="3200" dirty="0"/>
          </a:p>
        </p:txBody>
      </p:sp>
      <p:graphicFrame>
        <p:nvGraphicFramePr>
          <p:cNvPr id="3" name="Tablo 4">
            <a:extLst>
              <a:ext uri="{FF2B5EF4-FFF2-40B4-BE49-F238E27FC236}">
                <a16:creationId xmlns:a16="http://schemas.microsoft.com/office/drawing/2014/main" id="{C5DE61CB-8575-4C37-A61E-95D18C699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579560"/>
              </p:ext>
            </p:extLst>
          </p:nvPr>
        </p:nvGraphicFramePr>
        <p:xfrm>
          <a:off x="46139" y="1097280"/>
          <a:ext cx="9051721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22">
                  <a:extLst>
                    <a:ext uri="{9D8B030D-6E8A-4147-A177-3AD203B41FA5}">
                      <a16:colId xmlns:a16="http://schemas.microsoft.com/office/drawing/2014/main" val="1809091130"/>
                    </a:ext>
                  </a:extLst>
                </a:gridCol>
                <a:gridCol w="3599927">
                  <a:extLst>
                    <a:ext uri="{9D8B030D-6E8A-4147-A177-3AD203B41FA5}">
                      <a16:colId xmlns:a16="http://schemas.microsoft.com/office/drawing/2014/main" val="911642123"/>
                    </a:ext>
                  </a:extLst>
                </a:gridCol>
                <a:gridCol w="3491972">
                  <a:extLst>
                    <a:ext uri="{9D8B030D-6E8A-4147-A177-3AD203B41FA5}">
                      <a16:colId xmlns:a16="http://schemas.microsoft.com/office/drawing/2014/main" val="7693467"/>
                    </a:ext>
                  </a:extLst>
                </a:gridCol>
              </a:tblGrid>
              <a:tr h="634806">
                <a:tc>
                  <a:txBody>
                    <a:bodyPr/>
                    <a:lstStyle/>
                    <a:p>
                      <a:r>
                        <a:rPr lang="tr-TR" dirty="0"/>
                        <a:t>Escape</a:t>
                      </a:r>
                    </a:p>
                    <a:p>
                      <a:r>
                        <a:rPr lang="tr-TR" dirty="0"/>
                        <a:t>Operatörü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Açıklama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örnek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738398"/>
                  </a:ext>
                </a:extLst>
              </a:tr>
              <a:tr h="634806">
                <a:tc>
                  <a:txBody>
                    <a:bodyPr/>
                    <a:lstStyle/>
                    <a:p>
                      <a:r>
                        <a:rPr lang="tr-T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\’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Tek tırnak içindeki tek tırnakları etkisiz hale getirir.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’20 yıldır \’PHP\’ kullanıyorum’;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10468"/>
                  </a:ext>
                </a:extLst>
              </a:tr>
              <a:tr h="634806">
                <a:tc>
                  <a:txBody>
                    <a:bodyPr/>
                    <a:lstStyle/>
                    <a:p>
                      <a:r>
                        <a:rPr lang="tr-T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\”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Çift tırnak içindeki çift tırnakları etkisiz hale getirir.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“20 yıldır \”PHP\” kullanıyorum”;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41329"/>
                  </a:ext>
                </a:extLst>
              </a:tr>
              <a:tr h="634806">
                <a:tc>
                  <a:txBody>
                    <a:bodyPr/>
                    <a:lstStyle/>
                    <a:p>
                      <a:r>
                        <a:rPr lang="tr-T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\\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Tırnak içindeki test bölü işaretini etkisiz hale getirir.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 “C:\\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AppServ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\\www\\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dersler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”;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0634"/>
                  </a:ext>
                </a:extLst>
              </a:tr>
              <a:tr h="1450985">
                <a:tc>
                  <a:txBody>
                    <a:bodyPr/>
                    <a:lstStyle/>
                    <a:p>
                      <a:r>
                        <a:rPr lang="tr-T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\$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Çift tırnak içinde yazdırdığınız verinin içinde $ işareti var ise</a:t>
                      </a:r>
                      <a:br>
                        <a:rPr lang="tr-TR" dirty="0"/>
                      </a:b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bunu bir değişken zannedebilir bunun için önüne ter bölü işareti konulur.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 “Ben \$100 aldım.”;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367745"/>
                  </a:ext>
                </a:extLst>
              </a:tr>
              <a:tr h="634806">
                <a:tc>
                  <a:txBody>
                    <a:bodyPr/>
                    <a:lstStyle/>
                    <a:p>
                      <a:r>
                        <a:rPr lang="tr-T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\n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 satıra geçmek için kullanılır.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Rüzgar Kaya\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nKastamonu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2017“;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949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296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85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ürün kataloğunda, uzun ürün açıklamalarını belli bir karakter sayısından sonra kesip "Devamını Oku..." şeklinde gösterme.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65689"/>
            <a:ext cx="8305101" cy="433965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&lt;?php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function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aciklamaKisalt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metin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karakterSayisi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= 50)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if (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strlen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metin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 &lt;=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karakterSayisi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    return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metin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}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kisalt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substr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metin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0,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karakterSayisi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sonBosluk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strrpos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kisalt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' '); // Son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boşluk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karakterini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bul</a:t>
            </a:r>
            <a:endParaRPr kumimoji="0" lang="en-US" altLang="tr-TR" sz="23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return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substr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kisalt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0,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sonBosluk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 . '...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Devamını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Oku';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4665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86561" y="1132515"/>
            <a:ext cx="8305101" cy="415498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&lt;?php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//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Kullanım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Örneği</a:t>
            </a:r>
            <a:endParaRPr kumimoji="0" lang="en-US" altLang="tr-TR" sz="2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$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urunAciklama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= "Bu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ürün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yüksek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kalite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standartlarına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uygun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olarak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üretilmiştir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Dayanıklı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ve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uzun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ömürlüdür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.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Özellikle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mutfakta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kullanıma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uygundur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.";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tr-TR" sz="2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aciklamaKisalt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urunAciklama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60);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//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Çıktı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: Bu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ürün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yüksek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kalite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standartlarına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uygun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olarak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... </a:t>
            </a:r>
            <a:r>
              <a:rPr kumimoji="0" lang="en-US" altLang="tr-TR" sz="2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Devamını</a:t>
            </a: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Oku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?&gt;</a:t>
            </a:r>
            <a:endParaRPr kumimoji="0" lang="tr-TR" altLang="tr-TR" sz="4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700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21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e-ticaret sitesinde, kullanıcıların gizliliğini korumak için e-posta adresleri gizlenmelidir. Örneğin, "example@gmail.com" adresini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exa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***@gmail.com" olarak göstermek.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65689"/>
            <a:ext cx="8305101" cy="433965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&lt;?php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function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gizleEposta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($email)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list($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kullaniciAdi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$domain) = explode('@', $email);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ilkKisim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substr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kullaniciAdi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 0, 3);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yildizlar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str_repeat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('*',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strlen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kullaniciAdi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 - 3);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return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ilkKisim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. $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yildizlar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. '@' . $domain;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gizleEposta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("example@gmail.com");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// </a:t>
            </a:r>
            <a:r>
              <a:rPr kumimoji="0" lang="en-US" altLang="tr-TR" sz="23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Çıktı</a:t>
            </a: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: exa***@gmail.com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tr-TR" sz="23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762637131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276520</TotalTime>
  <Words>1064</Words>
  <Application>Microsoft Office PowerPoint</Application>
  <PresentationFormat>Ekran Gösterisi (4:3)</PresentationFormat>
  <Paragraphs>166</Paragraphs>
  <Slides>22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22</vt:i4>
      </vt:variant>
    </vt:vector>
  </HeadingPairs>
  <TitlesOfParts>
    <vt:vector size="33" baseType="lpstr">
      <vt:lpstr>Arial</vt:lpstr>
      <vt:lpstr>Consolas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Metin Fonksiyonları</vt:lpstr>
      <vt:lpstr>Kaçış (Escape) Operatörleri</vt:lpstr>
      <vt:lpstr>Kaçış (Escape) Operatörleri</vt:lpstr>
      <vt:lpstr>Örnek</vt:lpstr>
      <vt:lpstr>Örnek</vt:lpstr>
      <vt:lpstr>Örnek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1594</cp:revision>
  <cp:lastPrinted>2013-04-21T19:31:14Z</cp:lastPrinted>
  <dcterms:created xsi:type="dcterms:W3CDTF">1999-10-08T19:08:27Z</dcterms:created>
  <dcterms:modified xsi:type="dcterms:W3CDTF">2026-03-02T10:07:30Z</dcterms:modified>
</cp:coreProperties>
</file>