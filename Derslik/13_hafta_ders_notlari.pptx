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36"/>
  </p:notesMasterIdLst>
  <p:handoutMasterIdLst>
    <p:handoutMasterId r:id="rId37"/>
  </p:handoutMasterIdLst>
  <p:sldIdLst>
    <p:sldId id="770" r:id="rId7"/>
    <p:sldId id="789" r:id="rId8"/>
    <p:sldId id="799" r:id="rId9"/>
    <p:sldId id="798" r:id="rId10"/>
    <p:sldId id="800" r:id="rId11"/>
    <p:sldId id="801" r:id="rId12"/>
    <p:sldId id="802" r:id="rId13"/>
    <p:sldId id="803" r:id="rId14"/>
    <p:sldId id="804" r:id="rId15"/>
    <p:sldId id="805" r:id="rId16"/>
    <p:sldId id="806" r:id="rId17"/>
    <p:sldId id="807" r:id="rId18"/>
    <p:sldId id="808" r:id="rId19"/>
    <p:sldId id="809" r:id="rId20"/>
    <p:sldId id="810" r:id="rId21"/>
    <p:sldId id="811" r:id="rId22"/>
    <p:sldId id="812" r:id="rId23"/>
    <p:sldId id="813" r:id="rId24"/>
    <p:sldId id="814" r:id="rId25"/>
    <p:sldId id="815" r:id="rId26"/>
    <p:sldId id="816" r:id="rId27"/>
    <p:sldId id="817" r:id="rId28"/>
    <p:sldId id="818" r:id="rId29"/>
    <p:sldId id="819" r:id="rId30"/>
    <p:sldId id="820" r:id="rId31"/>
    <p:sldId id="821" r:id="rId32"/>
    <p:sldId id="822" r:id="rId33"/>
    <p:sldId id="823" r:id="rId34"/>
    <p:sldId id="824" r:id="rId3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Programlama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kumimoji="0" lang="tr-TR" alt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Nesne Yönelimli Programlama 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Nesne Yönelimli Programlama Nedir?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1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OOP, Nesne Yönelimli Programlama (Object-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Oriented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Programming) anlamına gelir.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Prosedürel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programlama, veriler üzerinde işlem yapan prosedürler veya fonksiyonlar yazmakla ilgilidir.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Buna karşılık nesne yönelimli programlama, hem veriyi hem de bu veriler üzerinde işlem yapan fonksiyonları içeren nesneler oluşturmakla ilgilenir.</a:t>
            </a:r>
          </a:p>
        </p:txBody>
      </p:sp>
    </p:spTree>
    <p:extLst>
      <p:ext uri="{BB962C8B-B14F-4D97-AF65-F5344CB8AC3E}">
        <p14:creationId xmlns:p14="http://schemas.microsoft.com/office/powerpoint/2010/main" val="91253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Nesne Yönelimli Programlama Nedir?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01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Nesne yönelimli programlamanın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prosedürel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programlamaya göre birkaç avantajı vardır: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OOP, daha hızlı ve kolay çalıştırılır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OOP, programlar için net bir yapı sağlar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OOP, PHP kodunun DRY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Don't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Repeat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Yourself - Kendini Tekrarlama) ilkesine uygun olmasına yardımcı olur ve kodun bakımını, değiştirilmesini ve hata ayıklamasını kolaylaştırır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OOP, daha az kodla ve daha kısa geliştirme süresiyle tamamen yeniden kullanılabilir uygulamalar oluşturmayı mümkün kılar.</a:t>
            </a:r>
          </a:p>
        </p:txBody>
      </p:sp>
    </p:spTree>
    <p:extLst>
      <p:ext uri="{BB962C8B-B14F-4D97-AF65-F5344CB8AC3E}">
        <p14:creationId xmlns:p14="http://schemas.microsoft.com/office/powerpoint/2010/main" val="3916477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Sınıf Tanımla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983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sınıf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anahtar kelimesi kullanılarak tanımlanır. Bu kelimenin ardından sınıfın adı ve bir çift süslü parantez ({}) gelir.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Sınıfa ait tüm özellikler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properties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ve metotlar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methods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bu süslü parantezlerin içine yazılır.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78172" y="3029178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code goes here...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26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Sınıf Tanımla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983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Aşağıda, iki özelliği ($name ve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ve iki metodu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set_name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get_name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()) olan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Fruit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adında bir sınıf tanımlıyoruz.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metodlar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$name özelliğini ayarlamak (set) ve almak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get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için kullanılır.</a:t>
            </a:r>
          </a:p>
        </p:txBody>
      </p:sp>
    </p:spTree>
    <p:extLst>
      <p:ext uri="{BB962C8B-B14F-4D97-AF65-F5344CB8AC3E}">
        <p14:creationId xmlns:p14="http://schemas.microsoft.com/office/powerpoint/2010/main" val="21660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Sınıf Tanımla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sınıfta, değişkenlere özellik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property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), fonksiyonlara ise metot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method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denir!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753299"/>
            <a:ext cx="8305101" cy="504753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3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2300" dirty="0"/>
            </a:br>
            <a:r>
              <a:rPr lang="en-US" sz="23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3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Properties</a:t>
            </a:r>
            <a:br>
              <a:rPr lang="en-US" sz="23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3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3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$color;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3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Methods</a:t>
            </a:r>
            <a:br>
              <a:rPr lang="en-US" sz="23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3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3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($name) {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$this-&gt;name = $name;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3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3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3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$this-&gt;name;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300" dirty="0"/>
            </a:br>
            <a:r>
              <a:rPr lang="en-US" sz="2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300" dirty="0"/>
            </a:br>
            <a:r>
              <a:rPr lang="en-US" sz="23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3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405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Nesne Tanımla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83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Sınıflar, nesneler olmadan bir anlam ifade etmez! Bir sınıftan birden fazla nesne oluşturabiliriz. Her nesne, sınıfta tanımlı tüm özelliklere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metodlara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sahip olur, ancak bu özelliklerin değerleri farklı olabilir.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sınıfın nesneleri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anahtar kelimesi kullanılarak oluşturulur.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örnekte,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apple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$banana,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Fruit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sınıfının örnekleridir (nesneleridir).</a:t>
            </a:r>
          </a:p>
        </p:txBody>
      </p:sp>
    </p:spTree>
    <p:extLst>
      <p:ext uri="{BB962C8B-B14F-4D97-AF65-F5344CB8AC3E}">
        <p14:creationId xmlns:p14="http://schemas.microsoft.com/office/powerpoint/2010/main" val="234664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Sınıf Tanımla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285225" y="856357"/>
            <a:ext cx="8305101" cy="59400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sz="2000" dirty="0"/>
            </a:b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($name)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-&gt;name = $name;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-&gt;name;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$banana = </a:t>
            </a: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'Apple'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$banana-&gt;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'Banana'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sz="2000" dirty="0"/>
            </a:b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tr-T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tr-T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2000" dirty="0"/>
            </a:br>
            <a:r>
              <a:rPr lang="tr-T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$banana-&gt;</a:t>
            </a:r>
            <a:r>
              <a:rPr lang="tr-T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tr-T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2000" dirty="0"/>
            </a:br>
            <a:r>
              <a:rPr lang="tr-T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26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Nesne Tanımla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Aşağıdaki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örnekte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Fruit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sınıfına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$color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özelliğini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ayarlamak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almak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için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iki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metot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daha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ekliyoruz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753299"/>
            <a:ext cx="8305101" cy="501675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1600" dirty="0"/>
            </a:b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Properties</a:t>
            </a:r>
            <a:b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$color;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Methods</a:t>
            </a:r>
            <a:b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($name)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$this-&gt;name = $name;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$this-&gt;name;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set_color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($color)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$this-&gt;color = $color;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get_color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$this-&gt;color;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3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329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Nesne Tanımla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318781" y="1375795"/>
            <a:ext cx="8305101" cy="224676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Fruit();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$apple-&gt;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'Apple'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$apple-&gt;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set_color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$apple-&gt;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"Color: 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$apple-&gt;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get_color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2000" dirty="0"/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31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</a:t>
            </a:r>
            <a:r>
              <a:rPr lang="tr-TR" sz="3200" dirty="0" err="1"/>
              <a:t>this</a:t>
            </a:r>
            <a:r>
              <a:rPr lang="tr-TR" sz="3200" dirty="0"/>
              <a:t> Anahtar Kelimesi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$this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anahtar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kelimesi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mevcut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nesneyi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ifade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eder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yalnızca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metotlar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içinde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kullanılabilir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.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753299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Fruit();</a:t>
            </a:r>
            <a:br>
              <a:rPr lang="en-US" sz="2000" dirty="0"/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36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AEC7FA0-7CF8-4770-A52B-E11F5444F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39680"/>
            <a:ext cx="9144000" cy="1664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Peki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, $name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özelliğinin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(property)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değerini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nerede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değiştirebiliriz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?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Bunun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iki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yolu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vardır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: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88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</a:t>
            </a:r>
            <a:r>
              <a:rPr lang="tr-TR" sz="3200" dirty="0" err="1"/>
              <a:t>this</a:t>
            </a:r>
            <a:r>
              <a:rPr lang="tr-TR" sz="3200" dirty="0"/>
              <a:t> Anahtar Kelimesi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1.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Sınıfın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içinde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bir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set_name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()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metodu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ekleyerek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ve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$this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kullanarak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):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753299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($name)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$this-&gt;name = 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Fruit();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$apple-&gt;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$apple-&gt;name;</a:t>
            </a:r>
            <a:br>
              <a:rPr lang="en-US" sz="2000" dirty="0"/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44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87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$</a:t>
            </a:r>
            <a:r>
              <a:rPr lang="tr-TR" sz="3200" dirty="0" err="1"/>
              <a:t>this</a:t>
            </a:r>
            <a:r>
              <a:rPr lang="tr-TR" sz="3200" dirty="0"/>
              <a:t> Anahtar Kelimesi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2.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Sınıfın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dışında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özelliğin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değerini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doğrudan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</a:rPr>
              <a:t>değiştirerek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):</a:t>
            </a: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753299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$apple-&gt;name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$apple-&gt;name;</a:t>
            </a:r>
            <a:br>
              <a:rPr lang="en-US" dirty="0"/>
            </a:br>
            <a:r>
              <a:rPr lang="en-US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6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44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instanceof</a:t>
            </a:r>
            <a:r>
              <a:rPr lang="tr-TR" sz="3200" dirty="0"/>
              <a:t> Anahtar Kelimesi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nesnenin belirli bir sınıfa ait olup olmadığını kontrol etmek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instanceof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anahtar kelimesini kullanabilirsiniz.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419449" y="1946246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dirty="0"/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dirty="0"/>
            </a:b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var_dump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tr-TR" dirty="0"/>
            </a:br>
            <a:r>
              <a:rPr lang="tr-TR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6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211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Yapıcılar (</a:t>
            </a:r>
            <a:r>
              <a:rPr lang="tr-TR" sz="3200" dirty="0" err="1"/>
              <a:t>constructor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yapıcı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constructor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), bir nesne oluşturulduğunda o nesnenin özelliklerini başlatmanıza olanak tanır.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bir __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construct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oluşturursanız, PHP bu fonksiyonu otomatik olarak çağırır; yani sınıftan bir nesne oluşturduğunuzda bu fonksiyon çalışır.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Dikkat edin,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construct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fonksiyonu iki alt çizgi (__) ile başlar!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6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Yapıcılar (</a:t>
            </a:r>
            <a:r>
              <a:rPr lang="tr-TR" sz="3200" dirty="0" err="1"/>
              <a:t>constructor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7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görüldüğü gibi,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constructor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kullanmak bizi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set_name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metodunu çağırmaktan kurtarır ve böylece yazmamız gereken kod miktarını azaltır.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352338" y="2045157"/>
            <a:ext cx="8305101" cy="47089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$color;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__construct($name)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$this-&gt;name = 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$this-&gt;name;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$apple-&gt;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2000" dirty="0"/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54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Yapıcılar (</a:t>
            </a:r>
            <a:r>
              <a:rPr lang="tr-TR" sz="3200" dirty="0" err="1"/>
              <a:t>constructor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14981C-2C1E-4124-BF68-A023BD9F8612}"/>
              </a:ext>
            </a:extLst>
          </p:cNvPr>
          <p:cNvSpPr txBox="1"/>
          <p:nvPr/>
        </p:nvSpPr>
        <p:spPr>
          <a:xfrm>
            <a:off x="318782" y="1021700"/>
            <a:ext cx="8305101" cy="55092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1600" dirty="0"/>
            </a:b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$color;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__construct($name, $color)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$this-&gt;name = $name;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$this-&gt;color = $color;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$this-&gt;name;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get_color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$this-&gt;color;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dirty="0"/>
            </a:b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$apple-&gt;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get_name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600" dirty="0"/>
            </a:b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dirty="0"/>
            </a:b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$apple-&gt;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get_color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600" dirty="0"/>
            </a:br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54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891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Yıkıcı (</a:t>
            </a:r>
            <a:r>
              <a:rPr lang="tr-TR" sz="3200" dirty="0" err="1"/>
              <a:t>destructor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3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Yıkıcı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destructor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), bir nesne yok edildiğinde ya da betik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script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durdurulduğunda veya sona erdiğinde çağrılır.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Eğer bir __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destruct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oluşturursanız, PHP bu fonksiyonu betiğin sonunda otomatik olarak çağırır.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Dikkat edin,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destruct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fonksiyonu da iki alt çizgi (__) ile başlar!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43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Yıkıcı (</a:t>
            </a:r>
            <a:r>
              <a:rPr lang="tr-TR" sz="3200" dirty="0" err="1"/>
              <a:t>destructor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3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örnekte, sınıftan bir nesne oluşturduğunuzda otomatik olarak çalışan bir __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construct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ve betiğin sonunda otomatik olarak çalışan bir __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destruct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yer almaktadır.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B0EE8BC-EE2A-4B2B-B931-AB30DFB8309F}"/>
              </a:ext>
            </a:extLst>
          </p:cNvPr>
          <p:cNvSpPr txBox="1"/>
          <p:nvPr/>
        </p:nvSpPr>
        <p:spPr>
          <a:xfrm>
            <a:off x="419449" y="2456795"/>
            <a:ext cx="8305101" cy="440120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$color;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__construct($name)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$this-&gt;name = 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__destruct()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"The fruit is {$this-&gt;name}."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000" dirty="0"/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66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800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Yıkıcı (</a:t>
            </a:r>
            <a:r>
              <a:rPr lang="tr-TR" sz="3200" dirty="0" err="1"/>
              <a:t>destructor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B0EE8BC-EE2A-4B2B-B931-AB30DFB8309F}"/>
              </a:ext>
            </a:extLst>
          </p:cNvPr>
          <p:cNvSpPr txBox="1"/>
          <p:nvPr/>
        </p:nvSpPr>
        <p:spPr>
          <a:xfrm>
            <a:off x="419449" y="1131335"/>
            <a:ext cx="8305101" cy="532453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sz="2000" dirty="0"/>
            </a:b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$color;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__construct($name, $color)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$this-&gt;name = $name;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$this-&gt;color = $color;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__destruct() {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"The fruit is {$this-&gt;name} and the color is {$this-&gt;color}."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$apple = 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Fruit(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000" dirty="0"/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80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252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Erişim Belirleyiciler (Access </a:t>
            </a:r>
            <a:r>
              <a:rPr lang="tr-TR" sz="3200" dirty="0" err="1"/>
              <a:t>Modifiers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3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örnekte, üç özelliğe (name,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weight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üç farklı erişim belirleyici ekledik.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Burada, name özelliğini ayarlamaya çalışırsanız sorun olmaz (çünkü name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yani genel erişime açıktır ve her yerden erişilebilir).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weight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özelliklerini ayarlamaya çalışırsanız ölümcül bir hata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fatal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error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oluşur. Çünkü: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protected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(korumalı) — sadece sınıf içinde veya o sınıftan türeyen alt sınıflarda erişilebilir.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weight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özelliği ise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private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(özel) — sadece tanımlandığı sınıfın içinde erişilebilir.</a:t>
            </a:r>
          </a:p>
        </p:txBody>
      </p:sp>
    </p:spTree>
    <p:extLst>
      <p:ext uri="{BB962C8B-B14F-4D97-AF65-F5344CB8AC3E}">
        <p14:creationId xmlns:p14="http://schemas.microsoft.com/office/powerpoint/2010/main" val="2801832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Erişim Belirleyiciler (Access </a:t>
            </a:r>
            <a:r>
              <a:rPr lang="tr-TR" sz="3200" dirty="0" err="1"/>
              <a:t>Modifiers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BA8462-ED0C-4AF1-BFC7-2D937E070349}"/>
              </a:ext>
            </a:extLst>
          </p:cNvPr>
          <p:cNvSpPr txBox="1"/>
          <p:nvPr/>
        </p:nvSpPr>
        <p:spPr>
          <a:xfrm>
            <a:off x="419449" y="1131335"/>
            <a:ext cx="8305101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dirty="0"/>
            </a:br>
            <a:r>
              <a:rPr lang="tr-TR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tr-TR" dirty="0"/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tr-TR" dirty="0"/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dirty="0"/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dirty="0"/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dirty="0"/>
            </a:br>
            <a:br>
              <a:rPr lang="tr-TR" dirty="0"/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 = </a:t>
            </a:r>
            <a:r>
              <a:rPr lang="tr-TR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dirty="0"/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$mango-&gt;name = </a:t>
            </a:r>
            <a:r>
              <a:rPr lang="tr-TR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'Mango'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tr-TR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OK</a:t>
            </a:r>
            <a:br>
              <a:rPr lang="tr-TR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$mango-&gt;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tr-TR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tr-TR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tr-TR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</a:t>
            </a:r>
            <a:br>
              <a:rPr lang="tr-TR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$mango-&gt;</a:t>
            </a:r>
            <a:r>
              <a:rPr lang="tr-TR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tr-TR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'300'</a:t>
            </a:r>
            <a:r>
              <a:rPr lang="tr-T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tr-TR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</a:t>
            </a:r>
            <a:br>
              <a:rPr lang="tr-TR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115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440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Erişim Belirleyiciler (Access </a:t>
            </a:r>
            <a:r>
              <a:rPr lang="tr-TR" sz="3200" dirty="0" err="1"/>
              <a:t>Modifiers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3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sonraki örnekte, iki fonksiyona erişim belirleyiciler ekledik.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Burada,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set_color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veya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set_weight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fonksiyonlarını çağırmaya çalışırsanız, ölümcül bir hata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fatal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error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oluşur. Çünkü bu iki fonksiyon sırasıyla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protected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(korumalı)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private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(özel) olarak tanımlanmıştır.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hata, tüm özellikler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(genel) olsa bile meydana gelir; çünkü erişim kısıtlaması fonksiyonların kendisindedir.</a:t>
            </a:r>
          </a:p>
        </p:txBody>
      </p:sp>
    </p:spTree>
    <p:extLst>
      <p:ext uri="{BB962C8B-B14F-4D97-AF65-F5344CB8AC3E}">
        <p14:creationId xmlns:p14="http://schemas.microsoft.com/office/powerpoint/2010/main" val="921132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Erişim Belirleyiciler (Access </a:t>
            </a:r>
            <a:r>
              <a:rPr lang="tr-TR" sz="3200" dirty="0" err="1"/>
              <a:t>Modifiers</a:t>
            </a:r>
            <a:r>
              <a:rPr lang="tr-TR" sz="3200" dirty="0"/>
              <a:t>)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BA8462-ED0C-4AF1-BFC7-2D937E070349}"/>
              </a:ext>
            </a:extLst>
          </p:cNvPr>
          <p:cNvSpPr txBox="1"/>
          <p:nvPr/>
        </p:nvSpPr>
        <p:spPr>
          <a:xfrm>
            <a:off x="419449" y="1131335"/>
            <a:ext cx="8305101" cy="563231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1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tr-TR" sz="18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tr-TR" sz="1800" dirty="0"/>
            </a:b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$name;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($n) {  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 </a:t>
            </a:r>
            <a:r>
              <a:rPr lang="tr-T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tr-T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-&gt;name = $n;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set_color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($n) { 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 </a:t>
            </a:r>
            <a:r>
              <a:rPr lang="tr-T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function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$n;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set_weight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($n) { 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 </a:t>
            </a:r>
            <a:r>
              <a:rPr lang="tr-T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function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$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$n;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 = </a:t>
            </a:r>
            <a:r>
              <a:rPr lang="tr-T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tr-TR" sz="1800" dirty="0"/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set_name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'Mango'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OK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set_color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tr-T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$mango-&gt;</a:t>
            </a:r>
            <a:r>
              <a:rPr lang="tr-T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set_weight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'300'</a:t>
            </a:r>
            <a:r>
              <a:rPr lang="tr-T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ERROR</a:t>
            </a:r>
            <a:br>
              <a:rPr lang="tr-T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tr-TR" sz="1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8800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487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Nesne Tabanlı "Kütüphane Sistemi" Örneği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BA8462-ED0C-4AF1-BFC7-2D937E070349}"/>
              </a:ext>
            </a:extLst>
          </p:cNvPr>
          <p:cNvSpPr txBox="1"/>
          <p:nvPr/>
        </p:nvSpPr>
        <p:spPr>
          <a:xfrm>
            <a:off x="419449" y="1131335"/>
            <a:ext cx="8305101" cy="535531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?php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//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Kitap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sınıfı</a:t>
            </a:r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class Book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private $title;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private $author;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private $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isAvailable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= true;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public function __construct($title, $author)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$this-&gt;title = $title;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$this-&gt;author = $author;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}</a:t>
            </a:r>
            <a:endParaRPr lang="tr-TR" sz="1800" b="0" i="0" dirty="0"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public function </a:t>
            </a:r>
            <a:r>
              <a:rPr lang="en-US" sz="1800" dirty="0" err="1">
                <a:latin typeface="Consolas" panose="020B0609020204030204" pitchFamily="49" charset="0"/>
              </a:rPr>
              <a:t>borrowBook</a:t>
            </a:r>
            <a:r>
              <a:rPr lang="en-US" sz="1800" dirty="0"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       if ($this-&gt;</a:t>
            </a:r>
            <a:r>
              <a:rPr lang="en-US" sz="1800" dirty="0" err="1">
                <a:latin typeface="Consolas" panose="020B0609020204030204" pitchFamily="49" charset="0"/>
              </a:rPr>
              <a:t>isAvailable</a:t>
            </a:r>
            <a:r>
              <a:rPr lang="en-US" sz="1800" dirty="0"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           $this-&gt;</a:t>
            </a:r>
            <a:r>
              <a:rPr lang="en-US" sz="1800" dirty="0" err="1">
                <a:latin typeface="Consolas" panose="020B0609020204030204" pitchFamily="49" charset="0"/>
              </a:rPr>
              <a:t>isAvailable</a:t>
            </a:r>
            <a:r>
              <a:rPr lang="en-US" sz="1800" dirty="0">
                <a:latin typeface="Consolas" panose="020B0609020204030204" pitchFamily="49" charset="0"/>
              </a:rPr>
              <a:t> = false;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           echo "{$this-&gt;title} </a:t>
            </a:r>
            <a:r>
              <a:rPr lang="en-US" sz="1800" dirty="0" err="1">
                <a:latin typeface="Consolas" panose="020B0609020204030204" pitchFamily="49" charset="0"/>
              </a:rPr>
              <a:t>ödünç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alındı</a:t>
            </a:r>
            <a:r>
              <a:rPr lang="en-US" sz="1800" dirty="0">
                <a:latin typeface="Consolas" panose="020B0609020204030204" pitchFamily="49" charset="0"/>
              </a:rPr>
              <a:t>.&lt;</a:t>
            </a:r>
            <a:r>
              <a:rPr lang="en-US" sz="1800" dirty="0" err="1">
                <a:latin typeface="Consolas" panose="020B0609020204030204" pitchFamily="49" charset="0"/>
              </a:rPr>
              <a:t>br</a:t>
            </a:r>
            <a:r>
              <a:rPr lang="en-US" sz="1800" dirty="0">
                <a:latin typeface="Consolas" panose="020B0609020204030204" pitchFamily="49" charset="0"/>
              </a:rPr>
              <a:t>&gt;";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       } else {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           echo "{$this-&gt;title} </a:t>
            </a:r>
            <a:r>
              <a:rPr lang="en-US" sz="1800" dirty="0" err="1">
                <a:latin typeface="Consolas" panose="020B0609020204030204" pitchFamily="49" charset="0"/>
              </a:rPr>
              <a:t>şu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anda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mevcut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değil</a:t>
            </a:r>
            <a:r>
              <a:rPr lang="en-US" sz="1800" dirty="0">
                <a:latin typeface="Consolas" panose="020B0609020204030204" pitchFamily="49" charset="0"/>
              </a:rPr>
              <a:t>.&lt;</a:t>
            </a:r>
            <a:r>
              <a:rPr lang="en-US" sz="1800" dirty="0" err="1">
                <a:latin typeface="Consolas" panose="020B0609020204030204" pitchFamily="49" charset="0"/>
              </a:rPr>
              <a:t>br</a:t>
            </a:r>
            <a:r>
              <a:rPr lang="en-US" sz="1800" dirty="0">
                <a:latin typeface="Consolas" panose="020B0609020204030204" pitchFamily="49" charset="0"/>
              </a:rPr>
              <a:t>&gt;";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       }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733998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Nesne Tabanlı "Kütüphane Sistemi" Örneği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BA8462-ED0C-4AF1-BFC7-2D937E070349}"/>
              </a:ext>
            </a:extLst>
          </p:cNvPr>
          <p:cNvSpPr txBox="1"/>
          <p:nvPr/>
        </p:nvSpPr>
        <p:spPr>
          <a:xfrm>
            <a:off x="419449" y="1131335"/>
            <a:ext cx="8305101" cy="31393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public function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returnBook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$this-&gt;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isAvailable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= true;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echo "{$this-&gt;title}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iade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edildi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.&lt;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br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&gt;";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}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public function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getInfo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$status = $this-&gt;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isAvailable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? "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Mevcut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" : "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Ödünçte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";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return "{$this-&gt;title} - {$this-&gt;author} ({$status})&lt;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br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&gt;";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29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Nesne Tabanlı "Kütüphane Sistemi" Örneği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BA8462-ED0C-4AF1-BFC7-2D937E070349}"/>
              </a:ext>
            </a:extLst>
          </p:cNvPr>
          <p:cNvSpPr txBox="1"/>
          <p:nvPr/>
        </p:nvSpPr>
        <p:spPr>
          <a:xfrm>
            <a:off x="419449" y="1131335"/>
            <a:ext cx="8305101" cy="397031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//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Kütüphane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sınıfı</a:t>
            </a:r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class Library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private $books = [];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public function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addBook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(Book $book)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$this-&gt;books[] = $book;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}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public function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showBooks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foreach ($this-&gt;books as $book) {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    echo $book-&gt;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getInfo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    }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606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Nesne Tabanlı "Kütüphane Sistemi" Örneği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BA8462-ED0C-4AF1-BFC7-2D937E070349}"/>
              </a:ext>
            </a:extLst>
          </p:cNvPr>
          <p:cNvSpPr txBox="1"/>
          <p:nvPr/>
        </p:nvSpPr>
        <p:spPr>
          <a:xfrm>
            <a:off x="419449" y="1131335"/>
            <a:ext cx="8305101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//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Kullanım</a:t>
            </a:r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$book1 = new Book("1984", "George Orwell");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$book2 = new Book("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Hayvan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Çiftliği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", "George Orwell");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$library = new Library();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$library-&gt;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addBook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($book1);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$library-&gt;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addBook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($book2);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$library-&gt;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showBooks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$book1-&gt;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borrowBook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$book1-&gt;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borrowBook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(); //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tekrar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deneme</a:t>
            </a:r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$book1-&gt;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returnBook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sz="1800" b="0" i="0" dirty="0">
              <a:effectLst/>
              <a:latin typeface="Consolas" panose="020B0609020204030204" pitchFamily="49" charset="0"/>
            </a:endParaRPr>
          </a:p>
          <a:p>
            <a:r>
              <a:rPr lang="en-US" sz="1800" b="0" i="0" dirty="0">
                <a:effectLst/>
                <a:latin typeface="Consolas" panose="020B0609020204030204" pitchFamily="49" charset="0"/>
              </a:rPr>
              <a:t>$library-&gt;</a:t>
            </a:r>
            <a:r>
              <a:rPr lang="en-US" sz="1800" b="0" i="0" dirty="0" err="1">
                <a:effectLst/>
                <a:latin typeface="Consolas" panose="020B0609020204030204" pitchFamily="49" charset="0"/>
              </a:rPr>
              <a:t>showBooks</a:t>
            </a:r>
            <a:r>
              <a:rPr lang="en-US" sz="1800" b="0" i="0" dirty="0">
                <a:effectLst/>
                <a:latin typeface="Consolas" panose="020B0609020204030204" pitchFamily="49" charset="0"/>
              </a:rPr>
              <a:t>();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230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PHP Nesne Tabanlı "Kütüphane Sistemi" Örneği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3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Book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sınıfı bir kitabı temsil ediyor ve kitap ödünç alınabiliyor veya iade edilebiliyor.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Library sınıfı birden fazla kitap barındırıyor.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private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erişim belirleyicisiyle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kapsülleme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sağlandı.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__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construct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ile nesne oluşturulurken başlangıç değerleri tanımlandı.</a:t>
            </a:r>
          </a:p>
        </p:txBody>
      </p:sp>
    </p:spTree>
    <p:extLst>
      <p:ext uri="{BB962C8B-B14F-4D97-AF65-F5344CB8AC3E}">
        <p14:creationId xmlns:p14="http://schemas.microsoft.com/office/powerpoint/2010/main" val="1693835014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347999</TotalTime>
  <Words>2465</Words>
  <Application>Microsoft Office PowerPoint</Application>
  <PresentationFormat>Ekran Gösterisi (4:3)</PresentationFormat>
  <Paragraphs>158</Paragraphs>
  <Slides>29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29</vt:i4>
      </vt:variant>
    </vt:vector>
  </HeadingPairs>
  <TitlesOfParts>
    <vt:vector size="40" baseType="lpstr">
      <vt:lpstr>Arial</vt:lpstr>
      <vt:lpstr>Consolas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Nesne Yönelimli Programlama Nedir?</vt:lpstr>
      <vt:lpstr>Nesne Yönelimli Programlama Nedir?</vt:lpstr>
      <vt:lpstr>Sınıf Tanımla</vt:lpstr>
      <vt:lpstr>Sınıf Tanımla</vt:lpstr>
      <vt:lpstr>Sınıf Tanımla</vt:lpstr>
      <vt:lpstr>Nesne Tanımla</vt:lpstr>
      <vt:lpstr>Sınıf Tanımla</vt:lpstr>
      <vt:lpstr>Nesne Tanımla</vt:lpstr>
      <vt:lpstr>Nesne Tanımla</vt:lpstr>
      <vt:lpstr>$this Anahtar Kelimesi</vt:lpstr>
      <vt:lpstr>$this Anahtar Kelimesi</vt:lpstr>
      <vt:lpstr>$this Anahtar Kelimesi</vt:lpstr>
      <vt:lpstr>instanceof Anahtar Kelimesi</vt:lpstr>
      <vt:lpstr>Yapıcılar (constructor)</vt:lpstr>
      <vt:lpstr>Yapıcılar (constructor)</vt:lpstr>
      <vt:lpstr>Yapıcılar (constructor)</vt:lpstr>
      <vt:lpstr>Yıkıcı (destructor)</vt:lpstr>
      <vt:lpstr>Yıkıcı (destructor)</vt:lpstr>
      <vt:lpstr>Yıkıcı (destructor)</vt:lpstr>
      <vt:lpstr>Erişim Belirleyiciler (Access Modifiers)</vt:lpstr>
      <vt:lpstr>Erişim Belirleyiciler (Access Modifiers)</vt:lpstr>
      <vt:lpstr>Erişim Belirleyiciler (Access Modifiers)</vt:lpstr>
      <vt:lpstr>Erişim Belirleyiciler (Access Modifiers)</vt:lpstr>
      <vt:lpstr>PHP Nesne Tabanlı "Kütüphane Sistemi" Örneği</vt:lpstr>
      <vt:lpstr>PHP Nesne Tabanlı "Kütüphane Sistemi" Örneği</vt:lpstr>
      <vt:lpstr>PHP Nesne Tabanlı "Kütüphane Sistemi" Örneği</vt:lpstr>
      <vt:lpstr>PHP Nesne Tabanlı "Kütüphane Sistemi" Örneği</vt:lpstr>
      <vt:lpstr>PHP Nesne Tabanlı "Kütüphane Sistemi" Örneği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1947</cp:revision>
  <cp:lastPrinted>2013-04-21T19:31:14Z</cp:lastPrinted>
  <dcterms:created xsi:type="dcterms:W3CDTF">1999-10-08T19:08:27Z</dcterms:created>
  <dcterms:modified xsi:type="dcterms:W3CDTF">2026-04-13T04:54:45Z</dcterms:modified>
</cp:coreProperties>
</file>