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5.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1"/>
    <p:sldMasterId id="2147483664" r:id="rId2"/>
    <p:sldMasterId id="2147483787" r:id="rId3"/>
    <p:sldMasterId id="2147483800" r:id="rId4"/>
    <p:sldMasterId id="2147483813" r:id="rId5"/>
    <p:sldMasterId id="2147483826" r:id="rId6"/>
  </p:sldMasterIdLst>
  <p:notesMasterIdLst>
    <p:notesMasterId r:id="rId62"/>
  </p:notesMasterIdLst>
  <p:handoutMasterIdLst>
    <p:handoutMasterId r:id="rId63"/>
  </p:handoutMasterIdLst>
  <p:sldIdLst>
    <p:sldId id="770" r:id="rId7"/>
    <p:sldId id="828" r:id="rId8"/>
    <p:sldId id="825" r:id="rId9"/>
    <p:sldId id="829" r:id="rId10"/>
    <p:sldId id="830" r:id="rId11"/>
    <p:sldId id="831" r:id="rId12"/>
    <p:sldId id="832" r:id="rId13"/>
    <p:sldId id="833" r:id="rId14"/>
    <p:sldId id="834" r:id="rId15"/>
    <p:sldId id="813" r:id="rId16"/>
    <p:sldId id="814" r:id="rId17"/>
    <p:sldId id="815" r:id="rId18"/>
    <p:sldId id="816" r:id="rId19"/>
    <p:sldId id="817" r:id="rId20"/>
    <p:sldId id="818" r:id="rId21"/>
    <p:sldId id="819" r:id="rId22"/>
    <p:sldId id="820" r:id="rId23"/>
    <p:sldId id="821" r:id="rId24"/>
    <p:sldId id="822" r:id="rId25"/>
    <p:sldId id="757" r:id="rId26"/>
    <p:sldId id="771" r:id="rId27"/>
    <p:sldId id="772" r:id="rId28"/>
    <p:sldId id="773" r:id="rId29"/>
    <p:sldId id="774" r:id="rId30"/>
    <p:sldId id="775" r:id="rId31"/>
    <p:sldId id="776" r:id="rId32"/>
    <p:sldId id="777" r:id="rId33"/>
    <p:sldId id="778" r:id="rId34"/>
    <p:sldId id="782" r:id="rId35"/>
    <p:sldId id="783" r:id="rId36"/>
    <p:sldId id="786" r:id="rId37"/>
    <p:sldId id="787" r:id="rId38"/>
    <p:sldId id="788" r:id="rId39"/>
    <p:sldId id="789" r:id="rId40"/>
    <p:sldId id="791" r:id="rId41"/>
    <p:sldId id="792" r:id="rId42"/>
    <p:sldId id="793" r:id="rId43"/>
    <p:sldId id="794" r:id="rId44"/>
    <p:sldId id="795" r:id="rId45"/>
    <p:sldId id="796" r:id="rId46"/>
    <p:sldId id="797" r:id="rId47"/>
    <p:sldId id="798" r:id="rId48"/>
    <p:sldId id="799" r:id="rId49"/>
    <p:sldId id="800" r:id="rId50"/>
    <p:sldId id="801" r:id="rId51"/>
    <p:sldId id="802" r:id="rId52"/>
    <p:sldId id="803" r:id="rId53"/>
    <p:sldId id="804" r:id="rId54"/>
    <p:sldId id="805" r:id="rId55"/>
    <p:sldId id="806" r:id="rId56"/>
    <p:sldId id="807" r:id="rId57"/>
    <p:sldId id="808" r:id="rId58"/>
    <p:sldId id="809" r:id="rId59"/>
    <p:sldId id="810" r:id="rId60"/>
    <p:sldId id="811" r:id="rId61"/>
  </p:sldIdLst>
  <p:sldSz cx="9144000" cy="6858000" type="screen4x3"/>
  <p:notesSz cx="7099300" cy="10234613"/>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kaya" initials="z" lastIdx="4" clrIdx="0">
    <p:extLst>
      <p:ext uri="{19B8F6BF-5375-455C-9EA6-DF929625EA0E}">
        <p15:presenceInfo xmlns:p15="http://schemas.microsoft.com/office/powerpoint/2012/main" userId="zkay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33CCCC"/>
    <a:srgbClr val="CCFFCC"/>
    <a:srgbClr val="FFFFCC"/>
    <a:srgbClr val="CCFFFF"/>
    <a:srgbClr val="FFFF00"/>
    <a:srgbClr val="DDDDDD"/>
    <a:srgbClr val="FFCCFF"/>
    <a:srgbClr val="FF99CC"/>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Açık Stil 2 - Vurgu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1786" autoAdjust="0"/>
  </p:normalViewPr>
  <p:slideViewPr>
    <p:cSldViewPr snapToGrid="0">
      <p:cViewPr varScale="1">
        <p:scale>
          <a:sx n="114" d="100"/>
          <a:sy n="114" d="100"/>
        </p:scale>
        <p:origin x="150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77" d="100"/>
          <a:sy n="77" d="100"/>
        </p:scale>
        <p:origin x="4008" y="12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commentAuthors" Target="commentAuthor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bwMode="auto">
          <a:xfrm>
            <a:off x="0" y="0"/>
            <a:ext cx="3076672" cy="5110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tr-TR"/>
          </a:p>
        </p:txBody>
      </p:sp>
      <p:sp>
        <p:nvSpPr>
          <p:cNvPr id="131075" name="Rectangle 3"/>
          <p:cNvSpPr>
            <a:spLocks noGrp="1" noChangeArrowheads="1"/>
          </p:cNvSpPr>
          <p:nvPr>
            <p:ph type="dt" sz="quarter" idx="1"/>
          </p:nvPr>
        </p:nvSpPr>
        <p:spPr bwMode="auto">
          <a:xfrm>
            <a:off x="4021088" y="0"/>
            <a:ext cx="3076672" cy="5110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tr-TR"/>
          </a:p>
        </p:txBody>
      </p:sp>
      <p:sp>
        <p:nvSpPr>
          <p:cNvPr id="131076" name="Rectangle 4"/>
          <p:cNvSpPr>
            <a:spLocks noGrp="1" noChangeArrowheads="1"/>
          </p:cNvSpPr>
          <p:nvPr>
            <p:ph type="ftr" sz="quarter" idx="2"/>
          </p:nvPr>
        </p:nvSpPr>
        <p:spPr bwMode="auto">
          <a:xfrm>
            <a:off x="0" y="9721868"/>
            <a:ext cx="3076672" cy="5110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tr-TR"/>
          </a:p>
        </p:txBody>
      </p:sp>
      <p:sp>
        <p:nvSpPr>
          <p:cNvPr id="131077" name="Rectangle 5"/>
          <p:cNvSpPr>
            <a:spLocks noGrp="1" noChangeArrowheads="1"/>
          </p:cNvSpPr>
          <p:nvPr>
            <p:ph type="sldNum" sz="quarter" idx="3"/>
          </p:nvPr>
        </p:nvSpPr>
        <p:spPr bwMode="auto">
          <a:xfrm>
            <a:off x="4021088" y="9721868"/>
            <a:ext cx="3076672" cy="5110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1E00D6C2-52E2-460C-9B58-3CD61A24B075}" type="slidenum">
              <a:rPr lang="en-US"/>
              <a:pPr/>
              <a:t>‹#›</a:t>
            </a:fld>
            <a:endParaRPr lang="en-US"/>
          </a:p>
        </p:txBody>
      </p:sp>
    </p:spTree>
    <p:extLst>
      <p:ext uri="{BB962C8B-B14F-4D97-AF65-F5344CB8AC3E}">
        <p14:creationId xmlns:p14="http://schemas.microsoft.com/office/powerpoint/2010/main" val="218466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672" cy="511054"/>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vl1pPr>
          </a:lstStyle>
          <a:p>
            <a:endParaRPr lang="tr-TR"/>
          </a:p>
        </p:txBody>
      </p:sp>
      <p:sp>
        <p:nvSpPr>
          <p:cNvPr id="3075" name="Rectangle 3"/>
          <p:cNvSpPr>
            <a:spLocks noGrp="1" noChangeArrowheads="1"/>
          </p:cNvSpPr>
          <p:nvPr>
            <p:ph type="dt" idx="1"/>
          </p:nvPr>
        </p:nvSpPr>
        <p:spPr bwMode="auto">
          <a:xfrm>
            <a:off x="4022629" y="0"/>
            <a:ext cx="3076671" cy="511054"/>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endParaRPr lang="tr-TR"/>
          </a:p>
        </p:txBody>
      </p:sp>
      <p:sp>
        <p:nvSpPr>
          <p:cNvPr id="89092" name="Rectangle 4"/>
          <p:cNvSpPr>
            <a:spLocks noGrp="1" noRot="1" noChangeAspect="1"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45957" y="4861781"/>
            <a:ext cx="5207386" cy="46045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723560"/>
            <a:ext cx="3076672" cy="511054"/>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vl1pPr>
          </a:lstStyle>
          <a:p>
            <a:endParaRPr lang="tr-TR"/>
          </a:p>
        </p:txBody>
      </p:sp>
      <p:sp>
        <p:nvSpPr>
          <p:cNvPr id="3079" name="Rectangle 7"/>
          <p:cNvSpPr>
            <a:spLocks noGrp="1" noChangeArrowheads="1"/>
          </p:cNvSpPr>
          <p:nvPr>
            <p:ph type="sldNum" sz="quarter" idx="5"/>
          </p:nvPr>
        </p:nvSpPr>
        <p:spPr bwMode="auto">
          <a:xfrm>
            <a:off x="4022629" y="9723560"/>
            <a:ext cx="3076671" cy="511054"/>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fld id="{94F9E22C-A560-44E3-9891-E6761E7FE4D2}" type="slidenum">
              <a:rPr lang="en-US"/>
              <a:pPr/>
              <a:t>‹#›</a:t>
            </a:fld>
            <a:endParaRPr lang="en-US"/>
          </a:p>
        </p:txBody>
      </p:sp>
    </p:spTree>
    <p:extLst>
      <p:ext uri="{BB962C8B-B14F-4D97-AF65-F5344CB8AC3E}">
        <p14:creationId xmlns:p14="http://schemas.microsoft.com/office/powerpoint/2010/main" val="15424214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6534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sldNum" sz="quarter" idx="10"/>
          </p:nvPr>
        </p:nvSpPr>
        <p:spPr>
          <a:xfrm>
            <a:off x="0" y="6694488"/>
            <a:ext cx="260350" cy="122237"/>
          </a:xfrm>
          <a:prstGeom prst="rect">
            <a:avLst/>
          </a:prstGeom>
        </p:spPr>
        <p:txBody>
          <a:bodyPr/>
          <a:lstStyle>
            <a:lvl1pPr eaLnBrk="0" hangingPunct="0">
              <a:lnSpc>
                <a:spcPct val="100000"/>
              </a:lnSpc>
              <a:spcAft>
                <a:spcPct val="0"/>
              </a:spcAft>
              <a:buFontTx/>
              <a:buNone/>
              <a:defRPr sz="2400">
                <a:solidFill>
                  <a:srgbClr val="000000"/>
                </a:solidFill>
                <a:latin typeface="Times New Roman" pitchFamily="18" charset="0"/>
                <a:ea typeface="+mn-ea"/>
                <a:sym typeface="Times" pitchFamily="60" charset="0"/>
              </a:defRPr>
            </a:lvl1pPr>
          </a:lstStyle>
          <a:p>
            <a:pPr>
              <a:defRPr/>
            </a:pPr>
            <a:fld id="{8BCA47C0-B7EB-403B-A39B-0D22BA9C779C}" type="slidenum">
              <a:rPr lang="en-US"/>
              <a:pPr>
                <a:defRPr/>
              </a:pPr>
              <a:t>‹#›</a:t>
            </a:fld>
            <a:endParaRPr lang="en-US"/>
          </a:p>
        </p:txBody>
      </p:sp>
    </p:spTree>
    <p:extLst>
      <p:ext uri="{BB962C8B-B14F-4D97-AF65-F5344CB8AC3E}">
        <p14:creationId xmlns:p14="http://schemas.microsoft.com/office/powerpoint/2010/main" val="1689086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xfrm>
            <a:off x="0" y="6694488"/>
            <a:ext cx="260350" cy="122237"/>
          </a:xfrm>
          <a:prstGeom prst="rect">
            <a:avLst/>
          </a:prstGeom>
        </p:spPr>
        <p:txBody>
          <a:bodyPr/>
          <a:lstStyle>
            <a:lvl1pPr eaLnBrk="0" hangingPunct="0">
              <a:lnSpc>
                <a:spcPct val="100000"/>
              </a:lnSpc>
              <a:spcAft>
                <a:spcPct val="0"/>
              </a:spcAft>
              <a:buFontTx/>
              <a:buNone/>
              <a:defRPr sz="2400">
                <a:solidFill>
                  <a:srgbClr val="000000"/>
                </a:solidFill>
                <a:latin typeface="Times New Roman" pitchFamily="18" charset="0"/>
                <a:ea typeface="+mn-ea"/>
                <a:sym typeface="Times" pitchFamily="60" charset="0"/>
              </a:defRPr>
            </a:lvl1pPr>
          </a:lstStyle>
          <a:p>
            <a:pPr>
              <a:defRPr/>
            </a:pPr>
            <a:fld id="{54BBEDAF-4CAD-4687-AECE-1E45E0407EEE}" type="slidenum">
              <a:rPr lang="en-US"/>
              <a:pPr>
                <a:defRPr/>
              </a:pPr>
              <a:t>‹#›</a:t>
            </a:fld>
            <a:endParaRPr lang="en-US"/>
          </a:p>
        </p:txBody>
      </p:sp>
    </p:spTree>
    <p:extLst>
      <p:ext uri="{BB962C8B-B14F-4D97-AF65-F5344CB8AC3E}">
        <p14:creationId xmlns:p14="http://schemas.microsoft.com/office/powerpoint/2010/main" val="2452710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85800" y="2286000"/>
            <a:ext cx="7772400" cy="1143000"/>
          </a:xfrm>
        </p:spPr>
        <p:txBody>
          <a:bodyPr/>
          <a:lstStyle>
            <a:lvl1pPr>
              <a:defRPr/>
            </a:lvl1pPr>
          </a:lstStyle>
          <a:p>
            <a:pPr lvl="0"/>
            <a:r>
              <a:rPr lang="en-US" noProof="0"/>
              <a:t>Click to edit Master title style</a:t>
            </a:r>
          </a:p>
        </p:txBody>
      </p:sp>
      <p:sp>
        <p:nvSpPr>
          <p:cNvPr id="4100" name="Rectangle 4"/>
          <p:cNvSpPr>
            <a:spLocks noGrp="1" noChangeArrowheads="1"/>
          </p:cNvSpPr>
          <p:nvPr>
            <p:ph type="subTitle" idx="1"/>
          </p:nvPr>
        </p:nvSpPr>
        <p:spPr>
          <a:xfrm>
            <a:off x="1371600" y="3886200"/>
            <a:ext cx="6400800" cy="519113"/>
          </a:xfrm>
        </p:spPr>
        <p:txBody>
          <a:bodyPr/>
          <a:lstStyle>
            <a:lvl1pPr marL="0" indent="0" algn="ctr">
              <a:buFont typeface="Wingdings" pitchFamily="2" charset="2"/>
              <a:buNone/>
              <a:defRPr/>
            </a:lvl1pPr>
          </a:lstStyle>
          <a:p>
            <a:pPr lvl="0"/>
            <a:r>
              <a:rPr lang="en-US" noProof="0"/>
              <a:t>Click to edit Master subtitle style</a:t>
            </a:r>
          </a:p>
        </p:txBody>
      </p:sp>
      <p:sp>
        <p:nvSpPr>
          <p:cNvPr id="4" name="Rectangle 2"/>
          <p:cNvSpPr>
            <a:spLocks noGrp="1" noChangeArrowheads="1"/>
          </p:cNvSpPr>
          <p:nvPr>
            <p:ph type="sldNum" sz="quarter" idx="10"/>
          </p:nvPr>
        </p:nvSpPr>
        <p:spPr>
          <a:xfrm>
            <a:off x="7239000" y="6719888"/>
            <a:ext cx="1905000" cy="139700"/>
          </a:xfrm>
          <a:prstGeom prst="rect">
            <a:avLst/>
          </a:prstGeom>
          <a:extLst>
            <a:ext uri="{91240B29-F687-4F45-9708-019B960494DF}">
              <a14:hiddenLine xmlns:a14="http://schemas.microsoft.com/office/drawing/2010/main" w="9525">
                <a:solidFill>
                  <a:schemeClr val="tx1"/>
                </a:solidFill>
                <a:miter lim="800000"/>
                <a:headEnd/>
                <a:tailEnd/>
              </a14:hiddenLine>
            </a:ext>
          </a:extLst>
        </p:spPr>
        <p:txBody>
          <a:bodyPr anchor="ctr"/>
          <a:lstStyle>
            <a:lvl1pPr>
              <a:lnSpc>
                <a:spcPct val="100000"/>
              </a:lnSpc>
              <a:spcBef>
                <a:spcPct val="0"/>
              </a:spcBef>
              <a:defRPr/>
            </a:lvl1pPr>
          </a:lstStyle>
          <a:p>
            <a:pPr>
              <a:spcAft>
                <a:spcPct val="50000"/>
              </a:spcAft>
              <a:buFontTx/>
              <a:buChar char="•"/>
              <a:defRPr/>
            </a:pPr>
            <a:fld id="{0F005141-3E15-4B0D-989A-F17E2C0B290D}" type="slidenum">
              <a:rPr lang="en-US" sz="2200">
                <a:solidFill>
                  <a:srgbClr val="000000"/>
                </a:solidFill>
                <a:latin typeface="Arial" charset="0"/>
              </a:rPr>
              <a:pPr>
                <a:spcAft>
                  <a:spcPct val="50000"/>
                </a:spcAft>
                <a:buFontTx/>
                <a:buChar char="•"/>
                <a:defRPr/>
              </a:pPr>
              <a:t>‹#›</a:t>
            </a:fld>
            <a:endParaRPr lang="en-US" sz="2200">
              <a:solidFill>
                <a:srgbClr val="000000"/>
              </a:solidFill>
              <a:latin typeface="Arial" charset="0"/>
            </a:endParaRPr>
          </a:p>
        </p:txBody>
      </p:sp>
      <p:sp>
        <p:nvSpPr>
          <p:cNvPr id="5" name="Footer Placeholder 4"/>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dirty="0">
              <a:solidFill>
                <a:srgbClr val="000000"/>
              </a:solidFill>
              <a:latin typeface="Arial" charset="0"/>
            </a:endParaRPr>
          </a:p>
        </p:txBody>
      </p:sp>
    </p:spTree>
    <p:extLst>
      <p:ext uri="{BB962C8B-B14F-4D97-AF65-F5344CB8AC3E}">
        <p14:creationId xmlns:p14="http://schemas.microsoft.com/office/powerpoint/2010/main" val="250562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52255F62-7E68-45B6-B8BB-EE0FA6E0AE28}"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9"/>
          <p:cNvSpPr txBox="1">
            <a:spLocks noChangeArrowheads="1"/>
          </p:cNvSpPr>
          <p:nvPr userDrawn="1"/>
        </p:nvSpPr>
        <p:spPr>
          <a:xfrm>
            <a:off x="0" y="6604000"/>
            <a:ext cx="9144000" cy="254000"/>
          </a:xfrm>
          <a:prstGeom prst="rect">
            <a:avLst/>
          </a:prstGeom>
        </p:spPr>
        <p:txBody>
          <a:bodyPr/>
          <a:lstStyle>
            <a:defPPr>
              <a:defRPr lang="en-US"/>
            </a:defPPr>
            <a:lvl1pPr algn="ctr" rtl="0" eaLnBrk="0" fontAlgn="base" hangingPunct="0">
              <a:lnSpc>
                <a:spcPct val="90000"/>
              </a:lnSpc>
              <a:spcBef>
                <a:spcPct val="0"/>
              </a:spcBef>
              <a:spcAft>
                <a:spcPct val="50000"/>
              </a:spcAft>
              <a:buNone/>
              <a:defRPr sz="1200" b="0" kern="1200">
                <a:solidFill>
                  <a:schemeClr val="tx1"/>
                </a:solidFill>
                <a:latin typeface="Arial" charset="0"/>
                <a:ea typeface="+mn-ea"/>
                <a:cs typeface="+mn-cs"/>
              </a:defRPr>
            </a:lvl1pPr>
            <a:lvl2pPr marL="4572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2pPr>
            <a:lvl3pPr marL="9144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3pPr>
            <a:lvl4pPr marL="13716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4pPr>
            <a:lvl5pPr marL="18288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5pPr>
            <a:lvl6pPr marL="2286000" algn="l" defTabSz="914400" rtl="0" eaLnBrk="1" latinLnBrk="0" hangingPunct="1">
              <a:defRPr sz="2200" b="1" kern="1200">
                <a:solidFill>
                  <a:schemeClr val="tx1"/>
                </a:solidFill>
                <a:latin typeface="Arial" pitchFamily="34" charset="0"/>
                <a:ea typeface="+mn-ea"/>
                <a:cs typeface="+mn-cs"/>
              </a:defRPr>
            </a:lvl6pPr>
            <a:lvl7pPr marL="2743200" algn="l" defTabSz="914400" rtl="0" eaLnBrk="1" latinLnBrk="0" hangingPunct="1">
              <a:defRPr sz="2200" b="1" kern="1200">
                <a:solidFill>
                  <a:schemeClr val="tx1"/>
                </a:solidFill>
                <a:latin typeface="Arial" pitchFamily="34" charset="0"/>
                <a:ea typeface="+mn-ea"/>
                <a:cs typeface="+mn-cs"/>
              </a:defRPr>
            </a:lvl7pPr>
            <a:lvl8pPr marL="3200400" algn="l" defTabSz="914400" rtl="0" eaLnBrk="1" latinLnBrk="0" hangingPunct="1">
              <a:defRPr sz="2200" b="1" kern="1200">
                <a:solidFill>
                  <a:schemeClr val="tx1"/>
                </a:solidFill>
                <a:latin typeface="Arial" pitchFamily="34" charset="0"/>
                <a:ea typeface="+mn-ea"/>
                <a:cs typeface="+mn-cs"/>
              </a:defRPr>
            </a:lvl8pPr>
            <a:lvl9pPr marL="3657600" algn="l" defTabSz="914400" rtl="0" eaLnBrk="1" latinLnBrk="0" hangingPunct="1">
              <a:defRPr sz="2200" b="1" kern="1200">
                <a:solidFill>
                  <a:schemeClr val="tx1"/>
                </a:solidFill>
                <a:latin typeface="Arial" pitchFamily="34" charset="0"/>
                <a:ea typeface="+mn-ea"/>
                <a:cs typeface="+mn-cs"/>
              </a:defRPr>
            </a:lvl9pPr>
          </a:lstStyle>
          <a:p>
            <a:pPr>
              <a:defRPr/>
            </a:pPr>
            <a:endParaRPr lang="en-US" sz="1400" dirty="0">
              <a:solidFill>
                <a:srgbClr val="336699"/>
              </a:solidFill>
            </a:endParaRPr>
          </a:p>
        </p:txBody>
      </p:sp>
    </p:spTree>
    <p:extLst>
      <p:ext uri="{BB962C8B-B14F-4D97-AF65-F5344CB8AC3E}">
        <p14:creationId xmlns:p14="http://schemas.microsoft.com/office/powerpoint/2010/main" val="3368260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787566AF-3F22-4EEC-ADED-0001FD731C9E}"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a:xfrm>
            <a:off x="722313" y="4406906"/>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4006148"/>
            <a:ext cx="7772400" cy="40075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945414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69953" y="1524003"/>
            <a:ext cx="3624263" cy="28629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524003"/>
            <a:ext cx="3624262" cy="28629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AECD2814-999E-4032-906C-2175D48D7071}"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2232319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343240"/>
            <a:ext cx="4040188" cy="8316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2124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343240"/>
            <a:ext cx="4041775" cy="8316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2124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F53B03B3-6070-425A-B684-6AF20A3CD5E1}"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
        <p:nvSpPr>
          <p:cNvPr id="8" name="Rectangle 199"/>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a:solidFill>
                <a:srgbClr val="000000"/>
              </a:solidFill>
              <a:latin typeface="Arial" charset="0"/>
            </a:endParaRPr>
          </a:p>
        </p:txBody>
      </p:sp>
    </p:spTree>
    <p:extLst>
      <p:ext uri="{BB962C8B-B14F-4D97-AF65-F5344CB8AC3E}">
        <p14:creationId xmlns:p14="http://schemas.microsoft.com/office/powerpoint/2010/main" val="1897136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9C0316F6-F3E1-4B87-BA86-E40838D53467}"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13760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CB335D22-03A4-4154-A105-3651724AD019}"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Tree>
    <p:extLst>
      <p:ext uri="{BB962C8B-B14F-4D97-AF65-F5344CB8AC3E}">
        <p14:creationId xmlns:p14="http://schemas.microsoft.com/office/powerpoint/2010/main" val="3138190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6"/>
            <a:ext cx="5111750" cy="27767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6"/>
            <a:ext cx="3008313"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AB0EDAF9-0480-4BA6-8E13-B61891626FB5}"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
        <p:nvSpPr>
          <p:cNvPr id="6" name="Rectangle 199"/>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a:solidFill>
                <a:srgbClr val="000000"/>
              </a:solidFill>
              <a:latin typeface="Arial" charset="0"/>
            </a:endParaRPr>
          </a:p>
        </p:txBody>
      </p:sp>
    </p:spTree>
    <p:extLst>
      <p:ext uri="{BB962C8B-B14F-4D97-AF65-F5344CB8AC3E}">
        <p14:creationId xmlns:p14="http://schemas.microsoft.com/office/powerpoint/2010/main" val="2434778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43"/>
            <a:ext cx="54864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7DD5AB4A-A33A-4525-8D78-3D63E3001279}"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
        <p:nvSpPr>
          <p:cNvPr id="6" name="Rectangle 199"/>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a:solidFill>
                <a:srgbClr val="000000"/>
              </a:solidFill>
              <a:latin typeface="Arial" charset="0"/>
            </a:endParaRPr>
          </a:p>
        </p:txBody>
      </p:sp>
    </p:spTree>
    <p:extLst>
      <p:ext uri="{BB962C8B-B14F-4D97-AF65-F5344CB8AC3E}">
        <p14:creationId xmlns:p14="http://schemas.microsoft.com/office/powerpoint/2010/main" val="31582768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D1CE32CB-7F51-480E-A104-8947DCC1C2AC}"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Content Placeholder 1"/>
          <p:cNvSpPr>
            <a:spLocks noGrp="1"/>
          </p:cNvSpPr>
          <p:nvPr>
            <p:ph/>
          </p:nvPr>
        </p:nvSpPr>
        <p:spPr>
          <a:xfrm>
            <a:off x="365125" y="-38100"/>
            <a:ext cx="7924800" cy="2001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7074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85800" y="2286000"/>
            <a:ext cx="7772400" cy="1143000"/>
          </a:xfrm>
        </p:spPr>
        <p:txBody>
          <a:bodyPr/>
          <a:lstStyle>
            <a:lvl1pPr>
              <a:defRPr/>
            </a:lvl1pPr>
          </a:lstStyle>
          <a:p>
            <a:pPr lvl="0"/>
            <a:r>
              <a:rPr lang="en-US" noProof="0"/>
              <a:t>Click to edit Master title style</a:t>
            </a:r>
          </a:p>
        </p:txBody>
      </p:sp>
      <p:sp>
        <p:nvSpPr>
          <p:cNvPr id="4100" name="Rectangle 4"/>
          <p:cNvSpPr>
            <a:spLocks noGrp="1" noChangeArrowheads="1"/>
          </p:cNvSpPr>
          <p:nvPr>
            <p:ph type="subTitle" idx="1"/>
          </p:nvPr>
        </p:nvSpPr>
        <p:spPr>
          <a:xfrm>
            <a:off x="1371600" y="3886200"/>
            <a:ext cx="6400800" cy="519113"/>
          </a:xfrm>
        </p:spPr>
        <p:txBody>
          <a:bodyPr/>
          <a:lstStyle>
            <a:lvl1pPr marL="0" indent="0" algn="ctr">
              <a:buFont typeface="Wingdings" pitchFamily="2" charset="2"/>
              <a:buNone/>
              <a:defRPr/>
            </a:lvl1pPr>
          </a:lstStyle>
          <a:p>
            <a:pPr lvl="0"/>
            <a:r>
              <a:rPr lang="en-US" noProof="0"/>
              <a:t>Click to edit Master subtitle style</a:t>
            </a:r>
          </a:p>
        </p:txBody>
      </p:sp>
      <p:sp>
        <p:nvSpPr>
          <p:cNvPr id="4" name="Rectangle 2"/>
          <p:cNvSpPr>
            <a:spLocks noGrp="1" noChangeArrowheads="1"/>
          </p:cNvSpPr>
          <p:nvPr>
            <p:ph type="sldNum" sz="quarter" idx="10"/>
          </p:nvPr>
        </p:nvSpPr>
        <p:spPr>
          <a:xfrm>
            <a:off x="7239000" y="6719888"/>
            <a:ext cx="1905000" cy="139700"/>
          </a:xfrm>
          <a:prstGeom prst="rect">
            <a:avLst/>
          </a:prstGeom>
          <a:extLst>
            <a:ext uri="{91240B29-F687-4F45-9708-019B960494DF}">
              <a14:hiddenLine xmlns:a14="http://schemas.microsoft.com/office/drawing/2010/main" w="9525">
                <a:solidFill>
                  <a:schemeClr val="tx1"/>
                </a:solidFill>
                <a:miter lim="800000"/>
                <a:headEnd/>
                <a:tailEnd/>
              </a14:hiddenLine>
            </a:ext>
          </a:extLst>
        </p:spPr>
        <p:txBody>
          <a:bodyPr anchor="ctr"/>
          <a:lstStyle>
            <a:lvl1pPr>
              <a:lnSpc>
                <a:spcPct val="100000"/>
              </a:lnSpc>
              <a:spcBef>
                <a:spcPct val="0"/>
              </a:spcBef>
              <a:defRPr/>
            </a:lvl1pPr>
          </a:lstStyle>
          <a:p>
            <a:pPr>
              <a:spcAft>
                <a:spcPct val="50000"/>
              </a:spcAft>
              <a:buFontTx/>
              <a:buChar char="•"/>
              <a:defRPr/>
            </a:pPr>
            <a:fld id="{18AB817D-8C5B-4BCE-B44B-882C88C9BF9B}" type="slidenum">
              <a:rPr lang="en-US" sz="2200">
                <a:solidFill>
                  <a:srgbClr val="000000"/>
                </a:solidFill>
                <a:latin typeface="Arial" charset="0"/>
              </a:rPr>
              <a:pPr>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1665546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852D630E-1F6A-4FB2-A386-9A349C5B3F66}"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89842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5073B400-6E83-48BF-87B6-725E47C03D88}"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
        <p:nvSpPr>
          <p:cNvPr id="4" name="Rectangle 199"/>
          <p:cNvSpPr txBox="1">
            <a:spLocks noChangeArrowheads="1"/>
          </p:cNvSpPr>
          <p:nvPr userDrawn="1"/>
        </p:nvSpPr>
        <p:spPr>
          <a:xfrm>
            <a:off x="0" y="6604000"/>
            <a:ext cx="9144000" cy="254000"/>
          </a:xfrm>
          <a:prstGeom prst="rect">
            <a:avLst/>
          </a:prstGeom>
        </p:spPr>
        <p:txBody>
          <a:bodyPr/>
          <a:lstStyle>
            <a:defPPr>
              <a:defRPr lang="en-US"/>
            </a:defPPr>
            <a:lvl1pPr algn="ctr" rtl="0" eaLnBrk="0" fontAlgn="base" hangingPunct="0">
              <a:lnSpc>
                <a:spcPct val="90000"/>
              </a:lnSpc>
              <a:spcBef>
                <a:spcPct val="0"/>
              </a:spcBef>
              <a:spcAft>
                <a:spcPct val="50000"/>
              </a:spcAft>
              <a:buNone/>
              <a:defRPr sz="1200" b="0" kern="1200">
                <a:solidFill>
                  <a:schemeClr val="tx1"/>
                </a:solidFill>
                <a:latin typeface="Arial" charset="0"/>
                <a:ea typeface="+mn-ea"/>
                <a:cs typeface="+mn-cs"/>
              </a:defRPr>
            </a:lvl1pPr>
            <a:lvl2pPr marL="4572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2pPr>
            <a:lvl3pPr marL="9144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3pPr>
            <a:lvl4pPr marL="13716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4pPr>
            <a:lvl5pPr marL="18288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5pPr>
            <a:lvl6pPr marL="2286000" algn="l" defTabSz="914400" rtl="0" eaLnBrk="1" latinLnBrk="0" hangingPunct="1">
              <a:defRPr sz="2200" b="1" kern="1200">
                <a:solidFill>
                  <a:schemeClr val="tx1"/>
                </a:solidFill>
                <a:latin typeface="Arial" pitchFamily="34" charset="0"/>
                <a:ea typeface="+mn-ea"/>
                <a:cs typeface="+mn-cs"/>
              </a:defRPr>
            </a:lvl6pPr>
            <a:lvl7pPr marL="2743200" algn="l" defTabSz="914400" rtl="0" eaLnBrk="1" latinLnBrk="0" hangingPunct="1">
              <a:defRPr sz="2200" b="1" kern="1200">
                <a:solidFill>
                  <a:schemeClr val="tx1"/>
                </a:solidFill>
                <a:latin typeface="Arial" pitchFamily="34" charset="0"/>
                <a:ea typeface="+mn-ea"/>
                <a:cs typeface="+mn-cs"/>
              </a:defRPr>
            </a:lvl7pPr>
            <a:lvl8pPr marL="3200400" algn="l" defTabSz="914400" rtl="0" eaLnBrk="1" latinLnBrk="0" hangingPunct="1">
              <a:defRPr sz="2200" b="1" kern="1200">
                <a:solidFill>
                  <a:schemeClr val="tx1"/>
                </a:solidFill>
                <a:latin typeface="Arial" pitchFamily="34" charset="0"/>
                <a:ea typeface="+mn-ea"/>
                <a:cs typeface="+mn-cs"/>
              </a:defRPr>
            </a:lvl8pPr>
            <a:lvl9pPr marL="3657600" algn="l" defTabSz="914400" rtl="0" eaLnBrk="1" latinLnBrk="0" hangingPunct="1">
              <a:defRPr sz="2200" b="1" kern="1200">
                <a:solidFill>
                  <a:schemeClr val="tx1"/>
                </a:solidFill>
                <a:latin typeface="Arial" pitchFamily="34" charset="0"/>
                <a:ea typeface="+mn-ea"/>
                <a:cs typeface="+mn-cs"/>
              </a:defRPr>
            </a:lvl9pPr>
          </a:lstStyle>
          <a:p>
            <a:pPr>
              <a:defRPr/>
            </a:pPr>
            <a:r>
              <a:rPr lang="en-US" sz="1400" dirty="0">
                <a:solidFill>
                  <a:srgbClr val="336699"/>
                </a:solidFill>
              </a:rPr>
              <a:t>ue.aydin.edu.tr</a:t>
            </a:r>
          </a:p>
        </p:txBody>
      </p:sp>
    </p:spTree>
    <p:extLst>
      <p:ext uri="{BB962C8B-B14F-4D97-AF65-F5344CB8AC3E}">
        <p14:creationId xmlns:p14="http://schemas.microsoft.com/office/powerpoint/2010/main" val="651165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41026968-BEFE-44F1-97B6-7E577FCA360F}"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Tree>
    <p:extLst>
      <p:ext uri="{BB962C8B-B14F-4D97-AF65-F5344CB8AC3E}">
        <p14:creationId xmlns:p14="http://schemas.microsoft.com/office/powerpoint/2010/main" val="585742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6"/>
            <a:ext cx="5111750" cy="27767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6"/>
            <a:ext cx="3008313"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07D3A64E-D33D-44D4-B6C2-F6248345F7F2}"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36133483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43"/>
            <a:ext cx="54864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42913ACF-11A0-4838-B2F0-D74E91052A91}"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7279978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01927" y="1524000"/>
            <a:ext cx="8372805" cy="19827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124045F6-0237-4FB2-9E43-F13F9F29C4D7}"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2297361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08725" y="-38100"/>
            <a:ext cx="1981200" cy="3544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631275" y="-38100"/>
            <a:ext cx="2525050" cy="3544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2DEE1EEE-97C2-4C42-B32D-7B7D93AEEBD3}"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4253064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815C9AE7-7D7A-439A-A584-208B138EA1A9}"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Content Placeholder 1"/>
          <p:cNvSpPr>
            <a:spLocks noGrp="1"/>
          </p:cNvSpPr>
          <p:nvPr>
            <p:ph/>
          </p:nvPr>
        </p:nvSpPr>
        <p:spPr>
          <a:xfrm>
            <a:off x="365125" y="-38100"/>
            <a:ext cx="7924800" cy="2001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23253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85800" y="2286000"/>
            <a:ext cx="7772400" cy="1143000"/>
          </a:xfrm>
        </p:spPr>
        <p:txBody>
          <a:bodyPr/>
          <a:lstStyle>
            <a:lvl1pPr>
              <a:defRPr/>
            </a:lvl1pPr>
          </a:lstStyle>
          <a:p>
            <a:pPr lvl="0"/>
            <a:r>
              <a:rPr lang="en-US" noProof="0"/>
              <a:t>Click to edit Master title style</a:t>
            </a:r>
          </a:p>
        </p:txBody>
      </p:sp>
      <p:sp>
        <p:nvSpPr>
          <p:cNvPr id="4100" name="Rectangle 4"/>
          <p:cNvSpPr>
            <a:spLocks noGrp="1" noChangeArrowheads="1"/>
          </p:cNvSpPr>
          <p:nvPr>
            <p:ph type="subTitle" idx="1"/>
          </p:nvPr>
        </p:nvSpPr>
        <p:spPr>
          <a:xfrm>
            <a:off x="1371600" y="3886200"/>
            <a:ext cx="6400800" cy="519113"/>
          </a:xfrm>
        </p:spPr>
        <p:txBody>
          <a:bodyPr/>
          <a:lstStyle>
            <a:lvl1pPr marL="0" indent="0" algn="ctr">
              <a:buFont typeface="Wingdings" pitchFamily="2" charset="2"/>
              <a:buNone/>
              <a:defRPr/>
            </a:lvl1pPr>
          </a:lstStyle>
          <a:p>
            <a:pPr lvl="0"/>
            <a:r>
              <a:rPr lang="en-US" noProof="0"/>
              <a:t>Click to edit Master subtitle style</a:t>
            </a:r>
          </a:p>
        </p:txBody>
      </p:sp>
      <p:sp>
        <p:nvSpPr>
          <p:cNvPr id="4" name="Rectangle 2"/>
          <p:cNvSpPr>
            <a:spLocks noGrp="1" noChangeArrowheads="1"/>
          </p:cNvSpPr>
          <p:nvPr>
            <p:ph type="sldNum" sz="quarter" idx="10"/>
          </p:nvPr>
        </p:nvSpPr>
        <p:spPr>
          <a:xfrm>
            <a:off x="7239000" y="6721475"/>
            <a:ext cx="1905000" cy="136525"/>
          </a:xfrm>
          <a:extLst>
            <a:ext uri="{91240B29-F687-4F45-9708-019B960494DF}">
              <a14:hiddenLine xmlns:a14="http://schemas.microsoft.com/office/drawing/2010/main" w="9525">
                <a:solidFill>
                  <a:schemeClr val="tx1"/>
                </a:solidFill>
                <a:miter lim="800000"/>
                <a:headEnd/>
                <a:tailEnd/>
              </a14:hiddenLine>
            </a:ext>
          </a:extLst>
        </p:spPr>
        <p:txBody>
          <a:bodyPr anchor="ctr"/>
          <a:lstStyle>
            <a:lvl1pPr>
              <a:lnSpc>
                <a:spcPct val="100000"/>
              </a:lnSpc>
              <a:spcBef>
                <a:spcPct val="0"/>
              </a:spcBef>
              <a:defRPr b="1"/>
            </a:lvl1pPr>
          </a:lstStyle>
          <a:p>
            <a:pPr>
              <a:defRPr/>
            </a:pPr>
            <a:fld id="{74034AEE-21EC-4108-831A-6EA98F8DFE1D}" type="slidenum">
              <a:rPr lang="en-US"/>
              <a:pPr>
                <a:defRPr/>
              </a:pPr>
              <a:t>‹#›</a:t>
            </a:fld>
            <a:endParaRPr lang="en-US"/>
          </a:p>
        </p:txBody>
      </p:sp>
    </p:spTree>
    <p:extLst>
      <p:ext uri="{BB962C8B-B14F-4D97-AF65-F5344CB8AC3E}">
        <p14:creationId xmlns:p14="http://schemas.microsoft.com/office/powerpoint/2010/main" val="16397086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pPr algn="r">
              <a:defRPr/>
            </a:pPr>
            <a:fld id="{66D4143D-D413-4B65-BE5B-68ED75509604}" type="slidenum">
              <a:rPr lang="en-US" altLang="tr-TR" sz="1400" smtClean="0">
                <a:solidFill>
                  <a:srgbClr val="000000"/>
                </a:solidFill>
                <a:latin typeface="Arial" panose="020B0604020202020204" pitchFamily="34" charset="0"/>
                <a:ea typeface="ヒラギノ明朝 ProN W3"/>
                <a:cs typeface="ヒラギノ明朝 ProN W3"/>
                <a:sym typeface="Times" panose="02020603050405020304" pitchFamily="18" charset="0"/>
              </a:rPr>
              <a:pPr algn="r">
                <a:defRPr/>
              </a:pPr>
              <a:t>‹#›</a:t>
            </a:fld>
            <a:endParaRPr lang="en-US" altLang="tr-TR" sz="1400" dirty="0">
              <a:solidFill>
                <a:srgbClr val="000000"/>
              </a:solidFill>
              <a:latin typeface="Arial" panose="020B0604020202020204" pitchFamily="34" charset="0"/>
              <a:ea typeface="ヒラギノ明朝 ProN W3"/>
              <a:cs typeface="ヒラギノ明朝 ProN W3"/>
              <a:sym typeface="Times" panose="02020603050405020304" pitchFamily="18" charset="0"/>
            </a:endParaRPr>
          </a:p>
        </p:txBody>
      </p:sp>
      <p:sp>
        <p:nvSpPr>
          <p:cNvPr id="4" name="Slayt Numarası Yer Tutucusu 3">
            <a:extLst>
              <a:ext uri="{FF2B5EF4-FFF2-40B4-BE49-F238E27FC236}">
                <a16:creationId xmlns:a16="http://schemas.microsoft.com/office/drawing/2014/main" id="{00F5F935-ABB1-4E93-AEFD-0D4486CAD23A}"/>
              </a:ext>
            </a:extLst>
          </p:cNvPr>
          <p:cNvSpPr>
            <a:spLocks noGrp="1"/>
          </p:cNvSpPr>
          <p:nvPr>
            <p:ph type="sldNum" sz="quarter" idx="10"/>
          </p:nvPr>
        </p:nvSpPr>
        <p:spPr/>
        <p:txBody>
          <a:bodyPr/>
          <a:lstStyle/>
          <a:p>
            <a:pPr>
              <a:lnSpc>
                <a:spcPct val="90000"/>
              </a:lnSpc>
              <a:defRPr/>
            </a:pPr>
            <a:fld id="{8BDC377B-EC9C-4253-A88C-5B0E49C4E108}" type="slidenum">
              <a:rPr lang="en-US" smtClean="0">
                <a:latin typeface="Arial" pitchFamily="34" charset="0"/>
              </a:rPr>
              <a:pPr>
                <a:lnSpc>
                  <a:spcPct val="90000"/>
                </a:lnSpc>
                <a:defRPr/>
              </a:pPr>
              <a:t>‹#›</a:t>
            </a:fld>
            <a:endParaRPr lang="en-US">
              <a:latin typeface="Arial" pitchFamily="34" charset="0"/>
            </a:endParaRPr>
          </a:p>
        </p:txBody>
      </p:sp>
    </p:spTree>
    <p:extLst>
      <p:ext uri="{BB962C8B-B14F-4D97-AF65-F5344CB8AC3E}">
        <p14:creationId xmlns:p14="http://schemas.microsoft.com/office/powerpoint/2010/main" val="20844218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6730516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869950" y="1524000"/>
            <a:ext cx="3624263" cy="1982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4646613" y="1524000"/>
            <a:ext cx="3624262" cy="1982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26329580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21185941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Tree>
    <p:extLst>
      <p:ext uri="{BB962C8B-B14F-4D97-AF65-F5344CB8AC3E}">
        <p14:creationId xmlns:p14="http://schemas.microsoft.com/office/powerpoint/2010/main" val="42709989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35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32075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993420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38426923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08725" y="-38100"/>
            <a:ext cx="1981200" cy="3544888"/>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365125" y="-38100"/>
            <a:ext cx="5791200" cy="3544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6314811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65125" y="-38100"/>
            <a:ext cx="7924800" cy="3544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38049963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33961167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Tree>
    <p:extLst>
      <p:ext uri="{BB962C8B-B14F-4D97-AF65-F5344CB8AC3E}">
        <p14:creationId xmlns:p14="http://schemas.microsoft.com/office/powerpoint/2010/main" val="38468748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93284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65125" y="-38100"/>
            <a:ext cx="7924800" cy="3544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10729246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theme" Target="../theme/theme3.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theme" Target="../theme/theme4.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slideLayout" Target="../slideLayouts/slideLayout36.xml"/><Relationship Id="rId1" Type="http://schemas.openxmlformats.org/officeDocument/2006/relationships/slideLayout" Target="../slideLayouts/slideLayout35.xml"/><Relationship Id="rId5" Type="http://schemas.openxmlformats.org/officeDocument/2006/relationships/theme" Target="../theme/theme6.xml"/><Relationship Id="rId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0" y="-38100"/>
            <a:ext cx="91440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869950" y="1524000"/>
            <a:ext cx="7400925" cy="207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205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EABF3948-6436-4873-87BF-0CE3FE2D4B8E}" type="slidenum">
              <a:rPr lang="en-US" sz="1400" smtClean="0">
                <a:solidFill>
                  <a:srgbClr val="000000"/>
                </a:solidFill>
                <a:latin typeface="Arial" pitchFamily="34" charset="0"/>
                <a:ea typeface="ヒラギノ明朝 ProN W3" pitchFamily="60" charset="-128"/>
                <a:sym typeface="Times" pitchFamily="60" charset="0"/>
              </a:rPr>
              <a:pPr algn="r"/>
              <a:t>‹#›</a:t>
            </a:fld>
            <a:endParaRPr lang="en-US" sz="1400">
              <a:solidFill>
                <a:srgbClr val="000000"/>
              </a:solidFill>
              <a:latin typeface="Arial" pitchFamily="34" charset="0"/>
              <a:ea typeface="ヒラギノ明朝 ProN W3" pitchFamily="60" charset="-128"/>
              <a:sym typeface="Times" pitchFamily="60" charset="0"/>
            </a:endParaRPr>
          </a:p>
        </p:txBody>
      </p:sp>
    </p:spTree>
    <p:extLst>
      <p:ext uri="{BB962C8B-B14F-4D97-AF65-F5344CB8AC3E}">
        <p14:creationId xmlns:p14="http://schemas.microsoft.com/office/powerpoint/2010/main" val="3305079488"/>
      </p:ext>
    </p:extLst>
  </p:cSld>
  <p:clrMap bg1="lt1" tx1="dk1" bg2="lt2" tx2="dk2" accent1="accent1" accent2="accent2" accent3="accent3" accent4="accent4" accent5="accent5" accent6="accent6" hlink="hlink" folHlink="folHlink"/>
  <p:sldLayoutIdLst>
    <p:sldLayoutId id="2147483902" r:id="rId1"/>
  </p:sldLayoutIdLst>
  <p:hf sldNum="0" hdr="0" ftr="0" dt="0"/>
  <p:txStyles>
    <p:titleStyle>
      <a:lvl1pPr algn="ctr" rtl="0" eaLnBrk="0" fontAlgn="base" hangingPunct="0">
        <a:lnSpc>
          <a:spcPct val="95000"/>
        </a:lnSpc>
        <a:spcBef>
          <a:spcPct val="0"/>
        </a:spcBef>
        <a:spcAft>
          <a:spcPct val="0"/>
        </a:spcAft>
        <a:defRPr sz="3200" b="1">
          <a:solidFill>
            <a:srgbClr val="336699"/>
          </a:solidFill>
          <a:latin typeface="+mj-lt"/>
          <a:ea typeface="+mj-ea"/>
          <a:cs typeface="+mj-cs"/>
        </a:defRPr>
      </a:lvl1pPr>
      <a:lvl2pPr algn="ctr" rtl="0" eaLnBrk="0" fontAlgn="base" hangingPunct="0">
        <a:lnSpc>
          <a:spcPct val="95000"/>
        </a:lnSpc>
        <a:spcBef>
          <a:spcPct val="0"/>
        </a:spcBef>
        <a:spcAft>
          <a:spcPct val="0"/>
        </a:spcAft>
        <a:defRPr sz="3200" b="1">
          <a:solidFill>
            <a:srgbClr val="336699"/>
          </a:solidFill>
          <a:latin typeface="Arial" pitchFamily="34" charset="0"/>
        </a:defRPr>
      </a:lvl2pPr>
      <a:lvl3pPr algn="ctr" rtl="0" eaLnBrk="0" fontAlgn="base" hangingPunct="0">
        <a:lnSpc>
          <a:spcPct val="95000"/>
        </a:lnSpc>
        <a:spcBef>
          <a:spcPct val="0"/>
        </a:spcBef>
        <a:spcAft>
          <a:spcPct val="0"/>
        </a:spcAft>
        <a:defRPr sz="3200" b="1">
          <a:solidFill>
            <a:srgbClr val="336699"/>
          </a:solidFill>
          <a:latin typeface="Arial" pitchFamily="34" charset="0"/>
        </a:defRPr>
      </a:lvl3pPr>
      <a:lvl4pPr algn="ctr" rtl="0" eaLnBrk="0" fontAlgn="base" hangingPunct="0">
        <a:lnSpc>
          <a:spcPct val="95000"/>
        </a:lnSpc>
        <a:spcBef>
          <a:spcPct val="0"/>
        </a:spcBef>
        <a:spcAft>
          <a:spcPct val="0"/>
        </a:spcAft>
        <a:defRPr sz="3200" b="1">
          <a:solidFill>
            <a:srgbClr val="336699"/>
          </a:solidFill>
          <a:latin typeface="Arial" pitchFamily="34" charset="0"/>
        </a:defRPr>
      </a:lvl4pPr>
      <a:lvl5pPr algn="ctr" rtl="0" eaLnBrk="0" fontAlgn="base" hangingPunct="0">
        <a:lnSpc>
          <a:spcPct val="95000"/>
        </a:lnSpc>
        <a:spcBef>
          <a:spcPct val="0"/>
        </a:spcBef>
        <a:spcAft>
          <a:spcPct val="0"/>
        </a:spcAft>
        <a:defRPr sz="3200" b="1">
          <a:solidFill>
            <a:srgbClr val="336699"/>
          </a:solidFill>
          <a:latin typeface="Arial" pitchFamily="34" charset="0"/>
        </a:defRPr>
      </a:lvl5pPr>
      <a:lvl6pPr marL="457200" algn="ctr" rtl="0" eaLnBrk="0" fontAlgn="base" hangingPunct="0">
        <a:lnSpc>
          <a:spcPct val="95000"/>
        </a:lnSpc>
        <a:spcBef>
          <a:spcPct val="0"/>
        </a:spcBef>
        <a:spcAft>
          <a:spcPct val="0"/>
        </a:spcAft>
        <a:defRPr sz="3200" b="1">
          <a:solidFill>
            <a:srgbClr val="336699"/>
          </a:solidFill>
          <a:latin typeface="Arial" pitchFamily="34" charset="0"/>
        </a:defRPr>
      </a:lvl6pPr>
      <a:lvl7pPr marL="914400" algn="ctr" rtl="0" eaLnBrk="0" fontAlgn="base" hangingPunct="0">
        <a:lnSpc>
          <a:spcPct val="95000"/>
        </a:lnSpc>
        <a:spcBef>
          <a:spcPct val="0"/>
        </a:spcBef>
        <a:spcAft>
          <a:spcPct val="0"/>
        </a:spcAft>
        <a:defRPr sz="3200" b="1">
          <a:solidFill>
            <a:srgbClr val="336699"/>
          </a:solidFill>
          <a:latin typeface="Arial" pitchFamily="34" charset="0"/>
        </a:defRPr>
      </a:lvl7pPr>
      <a:lvl8pPr marL="1371600" algn="ctr" rtl="0" eaLnBrk="0" fontAlgn="base" hangingPunct="0">
        <a:lnSpc>
          <a:spcPct val="95000"/>
        </a:lnSpc>
        <a:spcBef>
          <a:spcPct val="0"/>
        </a:spcBef>
        <a:spcAft>
          <a:spcPct val="0"/>
        </a:spcAft>
        <a:defRPr sz="3200" b="1">
          <a:solidFill>
            <a:srgbClr val="336699"/>
          </a:solidFill>
          <a:latin typeface="Arial" pitchFamily="34" charset="0"/>
        </a:defRPr>
      </a:lvl8pPr>
      <a:lvl9pPr marL="1828800" algn="ctr" rtl="0" eaLnBrk="0" fontAlgn="base" hangingPunct="0">
        <a:lnSpc>
          <a:spcPct val="95000"/>
        </a:lnSpc>
        <a:spcBef>
          <a:spcPct val="0"/>
        </a:spcBef>
        <a:spcAft>
          <a:spcPct val="0"/>
        </a:spcAft>
        <a:defRPr sz="32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sz="2000">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sz="2000">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65125" y="-38100"/>
            <a:ext cx="7924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869950" y="1524000"/>
            <a:ext cx="7400925" cy="198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3076" name="Line 5"/>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a:lnSpc>
                <a:spcPct val="90000"/>
              </a:lnSpc>
              <a:spcAft>
                <a:spcPct val="50000"/>
              </a:spcAft>
              <a:buFontTx/>
              <a:buChar char="•"/>
            </a:pPr>
            <a:endParaRPr lang="en-US" sz="2200">
              <a:solidFill>
                <a:srgbClr val="000000"/>
              </a:solidFill>
              <a:latin typeface="Arial" pitchFamily="34" charset="0"/>
            </a:endParaRPr>
          </a:p>
        </p:txBody>
      </p:sp>
      <p:sp>
        <p:nvSpPr>
          <p:cNvPr id="3077"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1DA75B1C-1FC8-4677-A6B8-31AFE1B3CD3C}" type="slidenum">
              <a:rPr lang="en-US" sz="1400" smtClean="0">
                <a:solidFill>
                  <a:srgbClr val="000000"/>
                </a:solidFill>
                <a:latin typeface="Arial" pitchFamily="34" charset="0"/>
                <a:ea typeface="ヒラギノ明朝 ProN W3" pitchFamily="60" charset="-128"/>
                <a:sym typeface="Times" pitchFamily="60" charset="0"/>
              </a:rPr>
              <a:pPr algn="r"/>
              <a:t>‹#›</a:t>
            </a:fld>
            <a:endParaRPr lang="en-US" sz="1400" dirty="0">
              <a:solidFill>
                <a:srgbClr val="000000"/>
              </a:solidFill>
              <a:latin typeface="Arial" pitchFamily="34" charset="0"/>
              <a:ea typeface="ヒラギノ明朝 ProN W3" pitchFamily="60" charset="-128"/>
              <a:sym typeface="Times" pitchFamily="60" charset="0"/>
            </a:endParaRPr>
          </a:p>
        </p:txBody>
      </p:sp>
    </p:spTree>
    <p:extLst>
      <p:ext uri="{BB962C8B-B14F-4D97-AF65-F5344CB8AC3E}">
        <p14:creationId xmlns:p14="http://schemas.microsoft.com/office/powerpoint/2010/main" val="839824220"/>
      </p:ext>
    </p:extLst>
  </p:cSld>
  <p:clrMap bg1="lt1" tx1="dk1" bg2="lt2" tx2="dk2" accent1="accent1" accent2="accent2" accent3="accent3" accent4="accent4" accent5="accent5" accent6="accent6" hlink="hlink" folHlink="folHlink"/>
  <p:sldLayoutIdLst>
    <p:sldLayoutId id="2147483670" r:id="rId1"/>
    <p:sldLayoutId id="2147483671" r:id="rId2"/>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charset="0"/>
        </a:defRPr>
      </a:lvl2pPr>
      <a:lvl3pPr algn="ctr" rtl="0" eaLnBrk="0" fontAlgn="base" hangingPunct="0">
        <a:lnSpc>
          <a:spcPct val="95000"/>
        </a:lnSpc>
        <a:spcBef>
          <a:spcPct val="0"/>
        </a:spcBef>
        <a:spcAft>
          <a:spcPct val="0"/>
        </a:spcAft>
        <a:defRPr sz="3600" b="1">
          <a:solidFill>
            <a:srgbClr val="336699"/>
          </a:solidFill>
          <a:latin typeface="Arial" charset="0"/>
        </a:defRPr>
      </a:lvl3pPr>
      <a:lvl4pPr algn="ctr" rtl="0" eaLnBrk="0" fontAlgn="base" hangingPunct="0">
        <a:lnSpc>
          <a:spcPct val="95000"/>
        </a:lnSpc>
        <a:spcBef>
          <a:spcPct val="0"/>
        </a:spcBef>
        <a:spcAft>
          <a:spcPct val="0"/>
        </a:spcAft>
        <a:defRPr sz="3600" b="1">
          <a:solidFill>
            <a:srgbClr val="336699"/>
          </a:solidFill>
          <a:latin typeface="Arial" charset="0"/>
        </a:defRPr>
      </a:lvl4pPr>
      <a:lvl5pPr algn="ctr" rtl="0" eaLnBrk="0" fontAlgn="base" hangingPunct="0">
        <a:lnSpc>
          <a:spcPct val="95000"/>
        </a:lnSpc>
        <a:spcBef>
          <a:spcPct val="0"/>
        </a:spcBef>
        <a:spcAft>
          <a:spcPct val="0"/>
        </a:spcAft>
        <a:defRPr sz="3600" b="1">
          <a:solidFill>
            <a:srgbClr val="336699"/>
          </a:solidFill>
          <a:latin typeface="Arial" charset="0"/>
        </a:defRPr>
      </a:lvl5pPr>
      <a:lvl6pPr marL="457200" algn="ctr" rtl="0" eaLnBrk="0" fontAlgn="base" hangingPunct="0">
        <a:lnSpc>
          <a:spcPct val="95000"/>
        </a:lnSpc>
        <a:spcBef>
          <a:spcPct val="0"/>
        </a:spcBef>
        <a:spcAft>
          <a:spcPct val="0"/>
        </a:spcAft>
        <a:defRPr sz="3600" b="1">
          <a:solidFill>
            <a:srgbClr val="336699"/>
          </a:solidFill>
          <a:latin typeface="Arial" charset="0"/>
        </a:defRPr>
      </a:lvl6pPr>
      <a:lvl7pPr marL="914400" algn="ctr" rtl="0" eaLnBrk="0" fontAlgn="base" hangingPunct="0">
        <a:lnSpc>
          <a:spcPct val="95000"/>
        </a:lnSpc>
        <a:spcBef>
          <a:spcPct val="0"/>
        </a:spcBef>
        <a:spcAft>
          <a:spcPct val="0"/>
        </a:spcAft>
        <a:defRPr sz="3600" b="1">
          <a:solidFill>
            <a:srgbClr val="336699"/>
          </a:solidFill>
          <a:latin typeface="Arial" charset="0"/>
        </a:defRPr>
      </a:lvl7pPr>
      <a:lvl8pPr marL="1371600" algn="ctr" rtl="0" eaLnBrk="0" fontAlgn="base" hangingPunct="0">
        <a:lnSpc>
          <a:spcPct val="95000"/>
        </a:lnSpc>
        <a:spcBef>
          <a:spcPct val="0"/>
        </a:spcBef>
        <a:spcAft>
          <a:spcPct val="0"/>
        </a:spcAft>
        <a:defRPr sz="3600" b="1">
          <a:solidFill>
            <a:srgbClr val="336699"/>
          </a:solidFill>
          <a:latin typeface="Arial" charset="0"/>
        </a:defRPr>
      </a:lvl8pPr>
      <a:lvl9pPr marL="1828800" algn="ctr" rtl="0" eaLnBrk="0" fontAlgn="base" hangingPunct="0">
        <a:lnSpc>
          <a:spcPct val="95000"/>
        </a:lnSpc>
        <a:spcBef>
          <a:spcPct val="0"/>
        </a:spcBef>
        <a:spcAft>
          <a:spcPct val="0"/>
        </a:spcAft>
        <a:defRPr sz="3600" b="1">
          <a:solidFill>
            <a:srgbClr val="336699"/>
          </a:solidFill>
          <a:latin typeface="Arial"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1028"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90000"/>
              </a:lnSpc>
              <a:spcAft>
                <a:spcPct val="50000"/>
              </a:spcAft>
              <a:buFontTx/>
              <a:buChar char="•"/>
            </a:pPr>
            <a:endParaRPr lang="en-US" sz="2200">
              <a:solidFill>
                <a:srgbClr val="000000"/>
              </a:solidFill>
              <a:latin typeface="Arial" charset="0"/>
            </a:endParaRPr>
          </a:p>
        </p:txBody>
      </p:sp>
    </p:spTree>
    <p:extLst>
      <p:ext uri="{BB962C8B-B14F-4D97-AF65-F5344CB8AC3E}">
        <p14:creationId xmlns:p14="http://schemas.microsoft.com/office/powerpoint/2010/main" val="1456846907"/>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9" r:id="rId10"/>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1028"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90000"/>
              </a:lnSpc>
              <a:spcAft>
                <a:spcPct val="50000"/>
              </a:spcAft>
              <a:buFontTx/>
              <a:buChar char="•"/>
            </a:pPr>
            <a:endParaRPr lang="en-US" sz="2200">
              <a:solidFill>
                <a:srgbClr val="000000"/>
              </a:solidFill>
              <a:latin typeface="Arial" charset="0"/>
            </a:endParaRPr>
          </a:p>
        </p:txBody>
      </p:sp>
    </p:spTree>
    <p:extLst>
      <p:ext uri="{BB962C8B-B14F-4D97-AF65-F5344CB8AC3E}">
        <p14:creationId xmlns:p14="http://schemas.microsoft.com/office/powerpoint/2010/main" val="309526261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6" r:id="rId3"/>
    <p:sldLayoutId id="2147483807" r:id="rId4"/>
    <p:sldLayoutId id="2147483808" r:id="rId5"/>
    <p:sldLayoutId id="2147483809" r:id="rId6"/>
    <p:sldLayoutId id="2147483810" r:id="rId7"/>
    <p:sldLayoutId id="2147483811" r:id="rId8"/>
    <p:sldLayoutId id="2147483812" r:id="rId9"/>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9219"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3076" name="Rectangle 4"/>
          <p:cNvSpPr>
            <a:spLocks noGrp="1" noChangeArrowheads="1"/>
          </p:cNvSpPr>
          <p:nvPr>
            <p:ph type="sldNum" sz="quarter" idx="4"/>
          </p:nvPr>
        </p:nvSpPr>
        <p:spPr bwMode="auto">
          <a:xfrm>
            <a:off x="0" y="6694488"/>
            <a:ext cx="260350"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r">
              <a:spcBef>
                <a:spcPct val="30000"/>
              </a:spcBef>
              <a:spcAft>
                <a:spcPct val="0"/>
              </a:spcAft>
              <a:buFontTx/>
              <a:buNone/>
              <a:defRPr sz="900" b="0">
                <a:solidFill>
                  <a:srgbClr val="000000"/>
                </a:solidFill>
              </a:defRPr>
            </a:lvl1pPr>
          </a:lstStyle>
          <a:p>
            <a:pPr>
              <a:lnSpc>
                <a:spcPct val="90000"/>
              </a:lnSpc>
              <a:defRPr/>
            </a:pPr>
            <a:fld id="{8BDC377B-EC9C-4253-A88C-5B0E49C4E108}" type="slidenum">
              <a:rPr lang="en-US">
                <a:latin typeface="Arial" pitchFamily="34" charset="0"/>
              </a:rPr>
              <a:pPr>
                <a:lnSpc>
                  <a:spcPct val="90000"/>
                </a:lnSpc>
                <a:defRPr/>
              </a:pPr>
              <a:t>‹#›</a:t>
            </a:fld>
            <a:endParaRPr lang="en-US">
              <a:latin typeface="Arial" pitchFamily="34" charset="0"/>
            </a:endParaRPr>
          </a:p>
        </p:txBody>
      </p:sp>
      <p:sp>
        <p:nvSpPr>
          <p:cNvPr id="9221"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90000"/>
              </a:lnSpc>
              <a:spcAft>
                <a:spcPct val="50000"/>
              </a:spcAft>
              <a:buFontTx/>
              <a:buChar char="•"/>
            </a:pPr>
            <a:endParaRPr lang="tr-TR" sz="2200" b="1">
              <a:solidFill>
                <a:srgbClr val="000000"/>
              </a:solidFill>
              <a:latin typeface="Arial" pitchFamily="34" charset="0"/>
            </a:endParaRPr>
          </a:p>
        </p:txBody>
      </p:sp>
    </p:spTree>
    <p:extLst>
      <p:ext uri="{BB962C8B-B14F-4D97-AF65-F5344CB8AC3E}">
        <p14:creationId xmlns:p14="http://schemas.microsoft.com/office/powerpoint/2010/main" val="414346731"/>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tr-TR"/>
              <a:t>Click To Edit Master Title Style</a:t>
            </a:r>
          </a:p>
        </p:txBody>
      </p:sp>
      <p:sp>
        <p:nvSpPr>
          <p:cNvPr id="8195"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 Fifth level</a:t>
            </a:r>
          </a:p>
        </p:txBody>
      </p:sp>
      <p:sp>
        <p:nvSpPr>
          <p:cNvPr id="3076" name="Rectangle 4"/>
          <p:cNvSpPr>
            <a:spLocks noGrp="1" noChangeArrowheads="1"/>
          </p:cNvSpPr>
          <p:nvPr>
            <p:ph type="sldNum" sz="quarter" idx="4"/>
          </p:nvPr>
        </p:nvSpPr>
        <p:spPr bwMode="auto">
          <a:xfrm>
            <a:off x="0" y="6694488"/>
            <a:ext cx="260350"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r">
              <a:lnSpc>
                <a:spcPct val="90000"/>
              </a:lnSpc>
              <a:spcBef>
                <a:spcPct val="30000"/>
              </a:spcBef>
              <a:spcAft>
                <a:spcPct val="0"/>
              </a:spcAft>
              <a:buFontTx/>
              <a:buNone/>
              <a:defRPr sz="900" b="0">
                <a:solidFill>
                  <a:srgbClr val="000000"/>
                </a:solidFill>
                <a:latin typeface="Arial" pitchFamily="34" charset="0"/>
              </a:defRPr>
            </a:lvl1pPr>
          </a:lstStyle>
          <a:p>
            <a:pPr>
              <a:defRPr/>
            </a:pPr>
            <a:fld id="{08E6CDD4-4A55-4656-9F51-403AD196A10A}" type="slidenum">
              <a:rPr lang="en-US"/>
              <a:pPr>
                <a:defRPr/>
              </a:pPr>
              <a:t>‹#›</a:t>
            </a:fld>
            <a:endParaRPr lang="en-US"/>
          </a:p>
        </p:txBody>
      </p:sp>
      <p:sp>
        <p:nvSpPr>
          <p:cNvPr id="8197"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sz="1200">
              <a:solidFill>
                <a:srgbClr val="000000"/>
              </a:solidFill>
            </a:endParaRPr>
          </a:p>
        </p:txBody>
      </p:sp>
    </p:spTree>
    <p:extLst>
      <p:ext uri="{BB962C8B-B14F-4D97-AF65-F5344CB8AC3E}">
        <p14:creationId xmlns:p14="http://schemas.microsoft.com/office/powerpoint/2010/main" val="1267217728"/>
      </p:ext>
    </p:extLst>
  </p:cSld>
  <p:clrMap bg1="lt1" tx1="dk1" bg2="lt2" tx2="dk2" accent1="accent1" accent2="accent2" accent3="accent3" accent4="accent4" accent5="accent5" accent6="accent6" hlink="hlink" folHlink="folHlink"/>
  <p:sldLayoutIdLst>
    <p:sldLayoutId id="2147483828" r:id="rId1"/>
    <p:sldLayoutId id="2147483832" r:id="rId2"/>
    <p:sldLayoutId id="2147483835" r:id="rId3"/>
    <p:sldLayoutId id="2147483838" r:id="rId4"/>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anose="05000000000000000000"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anose="05000000000000000000"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anose="05000000000000000000"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zihnikaya@aydin.edu.tr" TargetMode="Externa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sp>
        <p:nvSpPr>
          <p:cNvPr id="37893" name="Rectangle 3"/>
          <p:cNvSpPr>
            <a:spLocks noChangeArrowheads="1"/>
          </p:cNvSpPr>
          <p:nvPr/>
        </p:nvSpPr>
        <p:spPr bwMode="auto">
          <a:xfrm>
            <a:off x="0" y="698500"/>
            <a:ext cx="9144000" cy="2405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spcAft>
                <a:spcPct val="0"/>
              </a:spcAft>
              <a:buClr>
                <a:schemeClr val="accent2"/>
              </a:buClr>
              <a:buSzPct val="85000"/>
              <a:buFont typeface="Wingdings" pitchFamily="2" charset="2"/>
              <a:buChar char="q"/>
              <a:defRPr sz="2800">
                <a:solidFill>
                  <a:schemeClr val="tx1"/>
                </a:solidFill>
                <a:latin typeface="Comic Sans MS" pitchFamily="66" charset="0"/>
              </a:defRPr>
            </a:lvl1pPr>
            <a:lvl2pPr marL="742950" indent="-285750">
              <a:spcBef>
                <a:spcPct val="20000"/>
              </a:spcBef>
              <a:spcAft>
                <a:spcPct val="0"/>
              </a:spcAft>
              <a:buClr>
                <a:schemeClr val="accent2"/>
              </a:buClr>
              <a:buSzPct val="75000"/>
              <a:buFont typeface="Wingdings" pitchFamily="2" charset="2"/>
              <a:buChar char="§"/>
              <a:defRPr sz="2400">
                <a:solidFill>
                  <a:schemeClr val="tx1"/>
                </a:solidFill>
                <a:latin typeface="Comic Sans MS" pitchFamily="66" charset="0"/>
              </a:defRPr>
            </a:lvl2pPr>
            <a:lvl3pPr marL="1143000" indent="-228600">
              <a:spcBef>
                <a:spcPct val="20000"/>
              </a:spcBef>
              <a:spcAft>
                <a:spcPct val="0"/>
              </a:spcAft>
              <a:defRPr sz="2000">
                <a:solidFill>
                  <a:schemeClr val="tx1"/>
                </a:solidFill>
                <a:latin typeface="Comic Sans MS" pitchFamily="66" charset="0"/>
              </a:defRPr>
            </a:lvl3pPr>
            <a:lvl4pPr marL="1600200" indent="-228600">
              <a:spcBef>
                <a:spcPct val="20000"/>
              </a:spcBef>
              <a:spcAft>
                <a:spcPct val="0"/>
              </a:spcAft>
              <a:buChar char="–"/>
              <a:defRPr sz="2000">
                <a:solidFill>
                  <a:schemeClr val="tx1"/>
                </a:solidFill>
                <a:latin typeface="Times New Roman" pitchFamily="18" charset="0"/>
              </a:defRPr>
            </a:lvl4pPr>
            <a:lvl5pPr marL="2057400" indent="-228600">
              <a:spcBef>
                <a:spcPct val="20000"/>
              </a:spcBef>
              <a:spcAft>
                <a:spcPct val="0"/>
              </a:spcAft>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lvl="0" algn="ctr">
              <a:lnSpc>
                <a:spcPct val="95000"/>
              </a:lnSpc>
              <a:spcBef>
                <a:spcPct val="0"/>
              </a:spcBef>
              <a:buClrTx/>
              <a:buSzTx/>
              <a:buNone/>
              <a:defRPr/>
            </a:pPr>
            <a:endParaRPr lang="tr-TR" sz="3200" b="1" dirty="0">
              <a:solidFill>
                <a:srgbClr val="0070C0"/>
              </a:solidFill>
              <a:latin typeface="Arial" panose="020B0604020202020204" pitchFamily="34" charset="0"/>
              <a:cs typeface="Arial" panose="020B0604020202020204" pitchFamily="34" charset="0"/>
            </a:endParaRPr>
          </a:p>
          <a:p>
            <a:pPr lvl="0" algn="ctr">
              <a:lnSpc>
                <a:spcPct val="95000"/>
              </a:lnSpc>
              <a:spcBef>
                <a:spcPct val="0"/>
              </a:spcBef>
              <a:buClrTx/>
              <a:buSzTx/>
              <a:buNone/>
              <a:defRPr/>
            </a:pPr>
            <a:r>
              <a:rPr lang="tr-TR" sz="3600" b="1" dirty="0">
                <a:solidFill>
                  <a:srgbClr val="0070C0"/>
                </a:solidFill>
                <a:latin typeface="Arial" panose="020B0604020202020204" pitchFamily="34" charset="0"/>
                <a:cs typeface="Arial" panose="020B0604020202020204" pitchFamily="34" charset="0"/>
              </a:rPr>
              <a:t>Web Tasarım ve Programlama</a:t>
            </a:r>
          </a:p>
          <a:p>
            <a:pPr lvl="0" algn="ctr">
              <a:lnSpc>
                <a:spcPct val="95000"/>
              </a:lnSpc>
              <a:spcBef>
                <a:spcPct val="0"/>
              </a:spcBef>
              <a:buClrTx/>
              <a:buSzTx/>
              <a:buNone/>
              <a:defRPr/>
            </a:pPr>
            <a:endParaRPr lang="en-US" sz="2000" b="1" dirty="0">
              <a:solidFill>
                <a:srgbClr val="0070C0"/>
              </a:solidFill>
              <a:latin typeface="Arial" panose="020B0604020202020204" pitchFamily="34" charset="0"/>
              <a:cs typeface="Arial" panose="020B0604020202020204" pitchFamily="34" charset="0"/>
            </a:endParaRPr>
          </a:p>
          <a:p>
            <a:pPr lvl="0" algn="ctr">
              <a:lnSpc>
                <a:spcPct val="95000"/>
              </a:lnSpc>
              <a:spcBef>
                <a:spcPct val="0"/>
              </a:spcBef>
              <a:buClrTx/>
              <a:buSzTx/>
              <a:buNone/>
              <a:defRPr/>
            </a:pPr>
            <a:r>
              <a:rPr kumimoji="0" lang="tr-TR" altLang="tr-TR" sz="3200" b="1" i="0" u="none" strike="noStrike" kern="1200" cap="none" spc="0" normalizeH="0" baseline="0" noProof="0" dirty="0">
                <a:ln>
                  <a:noFill/>
                </a:ln>
                <a:solidFill>
                  <a:srgbClr val="0070C0"/>
                </a:solidFill>
                <a:effectLst/>
                <a:uLnTx/>
                <a:uFillTx/>
                <a:latin typeface="Arial" panose="020B0604020202020204" pitchFamily="34" charset="0"/>
                <a:ea typeface="ＭＳ Ｐゴシック" pitchFamily="34" charset="-128"/>
                <a:cs typeface="Arial" panose="020B0604020202020204" pitchFamily="34" charset="0"/>
              </a:rPr>
              <a:t>Metinlerin Biçimlendirilmesi</a:t>
            </a:r>
            <a:br>
              <a:rPr kumimoji="0" lang="en-US" altLang="tr-TR" sz="2400" b="1" i="0" u="none" strike="noStrike" kern="1200" cap="none" spc="0" normalizeH="0" baseline="0" noProof="0" dirty="0">
                <a:ln>
                  <a:noFill/>
                </a:ln>
                <a:solidFill>
                  <a:srgbClr val="0070C0"/>
                </a:solidFill>
                <a:effectLst/>
                <a:uLnTx/>
                <a:uFillTx/>
                <a:latin typeface="Arial" panose="020B0604020202020204" pitchFamily="34" charset="0"/>
                <a:ea typeface="ＭＳ Ｐゴシック" pitchFamily="34" charset="-128"/>
                <a:cs typeface="Arial" panose="020B0604020202020204" pitchFamily="34" charset="0"/>
              </a:rPr>
            </a:br>
            <a:r>
              <a:rPr kumimoji="0" lang="tr-TR" altLang="tr-TR" sz="2600" b="1" i="0" u="none" strike="noStrike" kern="1200" cap="none" spc="0" normalizeH="0" baseline="0" noProof="0" dirty="0">
                <a:ln>
                  <a:noFill/>
                </a:ln>
                <a:solidFill>
                  <a:srgbClr val="0070C0"/>
                </a:solidFill>
                <a:effectLst/>
                <a:uLnTx/>
                <a:uFillTx/>
                <a:latin typeface="Arial" panose="020B0604020202020204" pitchFamily="34" charset="0"/>
                <a:ea typeface="ＭＳ Ｐゴシック" pitchFamily="34" charset="-128"/>
                <a:cs typeface="Arial" panose="020B0604020202020204" pitchFamily="34" charset="0"/>
              </a:rPr>
              <a:t>      </a:t>
            </a:r>
            <a:r>
              <a:rPr kumimoji="0" lang="en-US" altLang="tr-TR" sz="2600" b="1" i="0" u="none" strike="noStrike" kern="1200" cap="none" spc="0" normalizeH="0" baseline="0" noProof="0" dirty="0">
                <a:ln>
                  <a:noFill/>
                </a:ln>
                <a:solidFill>
                  <a:srgbClr val="0070C0"/>
                </a:solidFill>
                <a:effectLst/>
                <a:uLnTx/>
                <a:uFillTx/>
                <a:latin typeface="Arial" panose="020B0604020202020204" pitchFamily="34" charset="0"/>
                <a:ea typeface="ＭＳ Ｐゴシック" pitchFamily="34" charset="-128"/>
                <a:cs typeface="Arial" panose="020B0604020202020204" pitchFamily="34" charset="0"/>
              </a:rPr>
              <a:t>        </a:t>
            </a:r>
          </a:p>
        </p:txBody>
      </p:sp>
      <p:sp>
        <p:nvSpPr>
          <p:cNvPr id="3" name="Text Box 3">
            <a:extLst>
              <a:ext uri="{FF2B5EF4-FFF2-40B4-BE49-F238E27FC236}">
                <a16:creationId xmlns:a16="http://schemas.microsoft.com/office/drawing/2014/main" id="{79C63A1D-0907-4A02-A70F-DA401177ACAB}"/>
              </a:ext>
            </a:extLst>
          </p:cNvPr>
          <p:cNvSpPr txBox="1">
            <a:spLocks noChangeArrowheads="1"/>
          </p:cNvSpPr>
          <p:nvPr/>
        </p:nvSpPr>
        <p:spPr bwMode="auto">
          <a:xfrm>
            <a:off x="0" y="3227725"/>
            <a:ext cx="91440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spcAft>
                <a:spcPct val="0"/>
              </a:spcAft>
              <a:buClr>
                <a:schemeClr val="accent2"/>
              </a:buClr>
              <a:buSzPct val="85000"/>
              <a:buFont typeface="Wingdings" pitchFamily="2" charset="2"/>
              <a:buChar char="q"/>
              <a:defRPr sz="2800">
                <a:solidFill>
                  <a:schemeClr val="tx1"/>
                </a:solidFill>
                <a:latin typeface="Comic Sans MS" pitchFamily="66" charset="0"/>
              </a:defRPr>
            </a:lvl1pPr>
            <a:lvl2pPr marL="742950" indent="-285750">
              <a:spcBef>
                <a:spcPct val="20000"/>
              </a:spcBef>
              <a:spcAft>
                <a:spcPct val="0"/>
              </a:spcAft>
              <a:buClr>
                <a:schemeClr val="accent2"/>
              </a:buClr>
              <a:buSzPct val="75000"/>
              <a:buFont typeface="Wingdings" pitchFamily="2" charset="2"/>
              <a:buChar char="§"/>
              <a:defRPr sz="2400">
                <a:solidFill>
                  <a:schemeClr val="tx1"/>
                </a:solidFill>
                <a:latin typeface="Comic Sans MS" pitchFamily="66" charset="0"/>
              </a:defRPr>
            </a:lvl2pPr>
            <a:lvl3pPr marL="1143000" indent="-228600">
              <a:spcBef>
                <a:spcPct val="20000"/>
              </a:spcBef>
              <a:spcAft>
                <a:spcPct val="0"/>
              </a:spcAft>
              <a:defRPr sz="2000">
                <a:solidFill>
                  <a:schemeClr val="tx1"/>
                </a:solidFill>
                <a:latin typeface="Comic Sans MS" pitchFamily="66" charset="0"/>
              </a:defRPr>
            </a:lvl3pPr>
            <a:lvl4pPr marL="1600200" indent="-228600">
              <a:spcBef>
                <a:spcPct val="20000"/>
              </a:spcBef>
              <a:spcAft>
                <a:spcPct val="0"/>
              </a:spcAft>
              <a:buChar char="–"/>
              <a:defRPr sz="2000">
                <a:solidFill>
                  <a:schemeClr val="tx1"/>
                </a:solidFill>
                <a:latin typeface="Times New Roman" pitchFamily="18" charset="0"/>
              </a:defRPr>
            </a:lvl4pPr>
            <a:lvl5pPr marL="2057400" indent="-228600">
              <a:spcBef>
                <a:spcPct val="20000"/>
              </a:spcBef>
              <a:spcAft>
                <a:spcPct val="0"/>
              </a:spcAft>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tr-TR" altLang="tr-TR" b="1" dirty="0">
                <a:solidFill>
                  <a:srgbClr val="336699"/>
                </a:solidFill>
                <a:latin typeface="Arial" panose="020B0604020202020204" pitchFamily="34" charset="0"/>
                <a:ea typeface="ＭＳ Ｐゴシック" pitchFamily="34" charset="-128"/>
                <a:cs typeface="Arial" panose="020B0604020202020204" pitchFamily="34" charset="0"/>
              </a:rPr>
              <a:t>Dr. </a:t>
            </a:r>
            <a:r>
              <a:rPr lang="tr-TR" altLang="tr-TR" b="1" dirty="0" err="1">
                <a:solidFill>
                  <a:srgbClr val="336699"/>
                </a:solidFill>
                <a:latin typeface="Arial" panose="020B0604020202020204" pitchFamily="34" charset="0"/>
                <a:ea typeface="ＭＳ Ｐゴシック" pitchFamily="34" charset="-128"/>
                <a:cs typeface="Arial" panose="020B0604020202020204" pitchFamily="34" charset="0"/>
              </a:rPr>
              <a:t>Öğr</a:t>
            </a:r>
            <a:r>
              <a:rPr lang="tr-TR" altLang="tr-TR" b="1" dirty="0">
                <a:solidFill>
                  <a:srgbClr val="336699"/>
                </a:solidFill>
                <a:latin typeface="Arial" panose="020B0604020202020204" pitchFamily="34" charset="0"/>
                <a:ea typeface="ＭＳ Ｐゴシック" pitchFamily="34" charset="-128"/>
                <a:cs typeface="Arial" panose="020B0604020202020204" pitchFamily="34" charset="0"/>
              </a:rPr>
              <a:t>. Üyesi</a:t>
            </a:r>
            <a:r>
              <a:rPr kumimoji="0" lang="tr-TR" altLang="tr-TR"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 Zihni KAYA</a:t>
            </a:r>
            <a:endParaRPr kumimoji="0" lang="en-US" altLang="tr-TR"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lang="en-US" altLang="tr-TR" sz="2000" b="1" dirty="0">
              <a:solidFill>
                <a:srgbClr val="336699"/>
              </a:solidFill>
              <a:latin typeface="Arial" panose="020B0604020202020204" pitchFamily="34" charset="0"/>
              <a:ea typeface="ＭＳ Ｐゴシック" pitchFamily="34" charset="-128"/>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tr-TR" sz="2000" b="1" i="0" u="none" strike="noStrike" kern="1200" cap="none" spc="0" normalizeH="0" baseline="0" noProof="0" dirty="0" err="1">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Uygulamal</a:t>
            </a:r>
            <a:r>
              <a:rPr kumimoji="0" lang="tr-TR"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ı</a:t>
            </a:r>
            <a:r>
              <a:rPr kumimoji="0" lang="en-US"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 </a:t>
            </a:r>
            <a:r>
              <a:rPr kumimoji="0" lang="en-US" altLang="tr-TR" sz="2000" b="1" i="0" u="none" strike="noStrike" kern="1200" cap="none" spc="0" normalizeH="0" baseline="0" noProof="0" dirty="0" err="1">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Bilimler</a:t>
            </a:r>
            <a:r>
              <a:rPr kumimoji="0" lang="en-US"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 </a:t>
            </a:r>
            <a:r>
              <a:rPr kumimoji="0" lang="en-US" altLang="tr-TR" sz="2000" b="1" i="0" u="none" strike="noStrike" kern="1200" cap="none" spc="0" normalizeH="0" baseline="0" noProof="0" dirty="0" err="1">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Fakültesi</a:t>
            </a:r>
            <a:r>
              <a:rPr kumimoji="0" lang="tr-TR"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 Yönetim Bilişim </a:t>
            </a:r>
            <a:r>
              <a:rPr lang="tr-TR" altLang="tr-TR" sz="2000" b="1" dirty="0">
                <a:solidFill>
                  <a:srgbClr val="336699"/>
                </a:solidFill>
                <a:latin typeface="Arial" panose="020B0604020202020204" pitchFamily="34" charset="0"/>
                <a:ea typeface="ＭＳ Ｐゴシック" pitchFamily="34" charset="-128"/>
                <a:cs typeface="Arial" panose="020B0604020202020204" pitchFamily="34" charset="0"/>
              </a:rPr>
              <a:t>S</a:t>
            </a:r>
            <a:r>
              <a:rPr kumimoji="0" lang="tr-TR"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istemleri</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tr-TR" altLang="tr-TR" sz="2000" b="1" i="0" u="none" strike="noStrike" kern="1200" cap="none" spc="0" normalizeH="0" baseline="0" noProof="0" dirty="0" err="1">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zihnikaya</a:t>
            </a:r>
            <a:r>
              <a:rPr kumimoji="0" lang="tr-TR"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a:t>
            </a:r>
            <a:r>
              <a:rPr kumimoji="0" lang="en-US"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aydin.edu.tr</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endParaRPr>
          </a:p>
        </p:txBody>
      </p:sp>
      <p:pic>
        <p:nvPicPr>
          <p:cNvPr id="4" name="Resim 3">
            <a:extLst>
              <a:ext uri="{FF2B5EF4-FFF2-40B4-BE49-F238E27FC236}">
                <a16:creationId xmlns:a16="http://schemas.microsoft.com/office/drawing/2014/main" id="{A95D6CDF-BED1-4B82-A5D5-5C5AD07AAF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6660" y="5399328"/>
            <a:ext cx="3520063" cy="1135696"/>
          </a:xfrm>
          <a:prstGeom prst="rect">
            <a:avLst/>
          </a:prstGeom>
        </p:spPr>
      </p:pic>
    </p:spTree>
    <p:extLst>
      <p:ext uri="{BB962C8B-B14F-4D97-AF65-F5344CB8AC3E}">
        <p14:creationId xmlns:p14="http://schemas.microsoft.com/office/powerpoint/2010/main" val="1136066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İletişim Bilgileri</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Ad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Soyad</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Dr.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Öğr</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Üyesi Zihni Kaya</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E-mail: </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hlinkClick r:id="rId2"/>
              </a:rPr>
              <a:t>zihnikaya@aydin.edu.tr</a:t>
            </a:r>
            <a:endPar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endParaRP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Telefon: 444 1 428 – 12611</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Yer: D blok 2201</a:t>
            </a:r>
          </a:p>
          <a:p>
            <a:pPr marL="171450" marR="0" lvl="1" indent="0" algn="l" defTabSz="914400" rtl="0" eaLnBrk="0" fontAlgn="base" latinLnBrk="0" hangingPunct="0">
              <a:lnSpc>
                <a:spcPct val="100000"/>
              </a:lnSpc>
              <a:spcBef>
                <a:spcPct val="20000"/>
              </a:spcBef>
              <a:spcAft>
                <a:spcPct val="0"/>
              </a:spcAft>
              <a:buClr>
                <a:srgbClr val="0066CC"/>
              </a:buClr>
              <a:buSzPct val="75000"/>
              <a:buFontTx/>
              <a:buNone/>
              <a:tabLst/>
              <a:defRPr/>
            </a:pPr>
            <a:endPar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endParaRPr>
          </a:p>
          <a:p>
            <a:pPr marL="171450" marR="0" lvl="1" indent="0" algn="l" defTabSz="914400" rtl="0" eaLnBrk="0" fontAlgn="base" latinLnBrk="0" hangingPunct="0">
              <a:lnSpc>
                <a:spcPct val="100000"/>
              </a:lnSpc>
              <a:spcBef>
                <a:spcPct val="20000"/>
              </a:spcBef>
              <a:spcAft>
                <a:spcPct val="0"/>
              </a:spcAft>
              <a:buClr>
                <a:srgbClr val="0066CC"/>
              </a:buClr>
              <a:buSzPct val="75000"/>
              <a:buFontTx/>
              <a:buNone/>
              <a:tabLst/>
              <a:defRPr/>
            </a:pPr>
            <a:endPar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endParaRPr>
          </a:p>
          <a:p>
            <a:pPr marL="742950" marR="0" lvl="2" indent="-171450" algn="l" defTabSz="914400" rtl="0" eaLnBrk="0" fontAlgn="base" latinLnBrk="0" hangingPunct="0">
              <a:lnSpc>
                <a:spcPct val="100000"/>
              </a:lnSpc>
              <a:spcBef>
                <a:spcPct val="20000"/>
              </a:spcBef>
              <a:spcAft>
                <a:spcPct val="0"/>
              </a:spcAft>
              <a:buClr>
                <a:srgbClr val="339933"/>
              </a:buClr>
              <a:buSzPct val="75000"/>
              <a:buFontTx/>
              <a:buChar char="•"/>
              <a:tabLst/>
              <a:defRPr/>
            </a:pPr>
            <a:endPar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3280045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err="1"/>
              <a:t>Notlandırma</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Vize: %30</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Ödev: %</a:t>
            </a:r>
            <a:r>
              <a:rPr lang="tr-TR" dirty="0">
                <a:solidFill>
                  <a:srgbClr val="000000"/>
                </a:solidFill>
                <a:latin typeface="Arial" pitchFamily="34" charset="0"/>
              </a:rPr>
              <a:t>30</a:t>
            </a:r>
            <a:endPar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endParaRP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Final: %40</a:t>
            </a:r>
          </a:p>
          <a:p>
            <a:pPr marL="171450" marR="0" lvl="1" indent="0" algn="l" defTabSz="914400" rtl="0" eaLnBrk="0" fontAlgn="base" latinLnBrk="0" hangingPunct="0">
              <a:lnSpc>
                <a:spcPct val="100000"/>
              </a:lnSpc>
              <a:spcBef>
                <a:spcPct val="20000"/>
              </a:spcBef>
              <a:spcAft>
                <a:spcPct val="0"/>
              </a:spcAft>
              <a:buClr>
                <a:srgbClr val="0066CC"/>
              </a:buClr>
              <a:buSzPct val="75000"/>
              <a:buFontTx/>
              <a:buNone/>
              <a:tabLst/>
              <a:defRPr/>
            </a:pPr>
            <a:endPar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endParaRPr>
          </a:p>
          <a:p>
            <a:pPr marL="171450" marR="0" lvl="1" indent="0" algn="l" defTabSz="914400" rtl="0" eaLnBrk="0" fontAlgn="base" latinLnBrk="0" hangingPunct="0">
              <a:lnSpc>
                <a:spcPct val="100000"/>
              </a:lnSpc>
              <a:spcBef>
                <a:spcPct val="20000"/>
              </a:spcBef>
              <a:spcAft>
                <a:spcPct val="0"/>
              </a:spcAft>
              <a:buClr>
                <a:srgbClr val="0066CC"/>
              </a:buClr>
              <a:buSzPct val="75000"/>
              <a:buFontTx/>
              <a:buNone/>
              <a:tabLst/>
              <a:defRPr/>
            </a:pPr>
            <a:endPar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endParaRPr>
          </a:p>
          <a:p>
            <a:pPr marL="742950" marR="0" lvl="2" indent="-171450" algn="l" defTabSz="914400" rtl="0" eaLnBrk="0" fontAlgn="base" latinLnBrk="0" hangingPunct="0">
              <a:lnSpc>
                <a:spcPct val="100000"/>
              </a:lnSpc>
              <a:spcBef>
                <a:spcPct val="20000"/>
              </a:spcBef>
              <a:spcAft>
                <a:spcPct val="0"/>
              </a:spcAft>
              <a:buClr>
                <a:srgbClr val="339933"/>
              </a:buClr>
              <a:buSzPct val="75000"/>
              <a:buFontTx/>
              <a:buChar char="•"/>
              <a:tabLst/>
              <a:defRPr/>
            </a:pPr>
            <a:endPar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976496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Web sayfası, web ağına bağlanan kullanıcıların web tarayıcıları aracılığıyla görüntüledikleri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hipermetin</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dosyalarıdır.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Web sayfaları, 1990 yılında Tim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Berners</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-Lee tarafından hayata geçirilen WWW teknolojisiyle birlikte ortaya çıkmıştır.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Platform bağımsız olarak görüntülenebilen bu dosyalar, başlangıçta metin tabanlı iken günümüzde resim, video, ses, animasyon gibi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çokluortam</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nesnelerini içinde barındıran, kullanıcılarla etkileşime girebilen ve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veritabanı</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desteği ile kodlama (VB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Script</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JavaScript</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SQL vb.) dillerinin kullanılmasıyla kullanıcıların istekleri doğrultusunda özelleştirilebilen bir yapıya bürünmüştür.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Web teknolojisinin yapısı gereği web sayfaları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Hipermetin</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İşaretleme Dili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Hypertext</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Markup</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Language – HTML) kullanılarak oluşturulmaktadır.</a:t>
            </a:r>
          </a:p>
        </p:txBody>
      </p:sp>
    </p:spTree>
    <p:extLst>
      <p:ext uri="{BB962C8B-B14F-4D97-AF65-F5344CB8AC3E}">
        <p14:creationId xmlns:p14="http://schemas.microsoft.com/office/powerpoint/2010/main" val="448060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Bu işaretleme dili gereği, web sayfasını oluşturan metinler dosya içerisine yerleştirilebilirken sayfada gösterilecek diğer tüm nesneler (resim, ses, video, animasyon vb.) özellikleri ve URL adresleri ile birlikte kodlar içerisinde tanımlanmaktadır.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Örneğin, bir web sayfasının içeriğinde iki JPEG resim dosyası ve bir video dosyası bulunuyorsa bu web sayfasının kendisinden başka üç dosyayı daha kullandığını göstermektedir.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Web sayfasında bu iki resim dosyası ve bir animasyon dosyasına ait kodlar bulunmazken sadece web tarayıcılarının bu dosyalara erişmek için kullanacağı URL adresleri yer almaktadır.</a:t>
            </a:r>
          </a:p>
        </p:txBody>
      </p:sp>
    </p:spTree>
    <p:extLst>
      <p:ext uri="{BB962C8B-B14F-4D97-AF65-F5344CB8AC3E}">
        <p14:creationId xmlns:p14="http://schemas.microsoft.com/office/powerpoint/2010/main" val="2294879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Bu durum özellikle web tasarımı sürecinde metin dışındaki diğer nesnelerin konumlandırılması, isimlendirilmesi ve web sunucusuna klasör yapısına uygun yerleştirilmesi gibi zorunlulukları beraberinde getirmektedir.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Aksi takdirde, yapısal işaretlemesi doğru yapılmayan yani URL adresi üzerinden ulaşılamayan dosyalar web sayfasının içerisinde görüntülenememektedir.</a:t>
            </a:r>
          </a:p>
        </p:txBody>
      </p:sp>
    </p:spTree>
    <p:extLst>
      <p:ext uri="{BB962C8B-B14F-4D97-AF65-F5344CB8AC3E}">
        <p14:creationId xmlns:p14="http://schemas.microsoft.com/office/powerpoint/2010/main" val="1729778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HTML diline ait kodlarla oluşturulan web sayfaları iki farklı biçimde tasarlanabilmektedir.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Bunlardan ilki hazırlanan bir web sayfasının kullanıcılar tarafından değiştirilemediği ve sürekli aynı biçimde ekranda görüntülenen sabit içerikli web sayfasıdır.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Bu sayfalar web tasarımcıları tarafından bir kez oluşturulup ilgili web sunucusuna yerleştirildikten sonra tüm kullanıcılar tarafından aynı içerikle görüntülenmektedir.</a:t>
            </a:r>
          </a:p>
        </p:txBody>
      </p:sp>
    </p:spTree>
    <p:extLst>
      <p:ext uri="{BB962C8B-B14F-4D97-AF65-F5344CB8AC3E}">
        <p14:creationId xmlns:p14="http://schemas.microsoft.com/office/powerpoint/2010/main" val="1631503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Bir diğer web sayfası biçimi ise değişken içerikli web sayfalarıdır.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Bu web sayfalarının içerisindeki veriler kullanıcıların isteklerine ve çeşitli durumlara göre değişiklik göstermektedir.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Değişken içerikli web sayfalarında bulunan çeşitli form elemanları (metin kutusu, düğme, açılır listeler, seçenek grubu vb. ) ve bu form elemanlarından gelen verilere göre içeriği yapılandıracak kodlama dilleri (VB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Script</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JavaScript</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PHP, ASP vb.) yardımıyla içerik kullanıcının istekleri doğrultusunda yapılandırılmaktadır.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Örneğin, sınav sonuçları görüntüleme ekranında web sayfalarına girilen veriler doğrultusunda sonuçların oluşturulması, internet mağazalarında yer alan ürünlerin çeşitli kriterler sonucunda filtrelenmesi bunun en güzel örneklerindendir.</a:t>
            </a:r>
          </a:p>
        </p:txBody>
      </p:sp>
    </p:spTree>
    <p:extLst>
      <p:ext uri="{BB962C8B-B14F-4D97-AF65-F5344CB8AC3E}">
        <p14:creationId xmlns:p14="http://schemas.microsoft.com/office/powerpoint/2010/main" val="1353295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Basit bir web sayfası oluşturmak için yalnız HTML kodları kullanılması yeterlidir.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HTML ilk olarak World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Wide</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Web (WWW) yapısı oluşturulurken ortaya konan ve daha sonraki yıllarda 1994 yılında kurulan Dünya Çapında Ağ Birliği (World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Wide</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Web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Consortium</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 W3C) tarafından standartlarının geliştirildiği bir işaretleme dilidir.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Webin mucidi Tim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Berners</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-Lee tarafından kurulan ve hâlen onun yöneticiliğini yaptığı W3C, web standartlarının geliştirilmesi için kurulan uluslararası bir kuruluştur.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W3C bünyesindeki teknoloji uzmanları tarafından webin ihtiyaçları temel alınarak geliştirilen HTML işaretleme dilinin güncel versiyonu 2014 yılında yayınlanan HTML5’tir.</a:t>
            </a:r>
          </a:p>
        </p:txBody>
      </p:sp>
    </p:spTree>
    <p:extLst>
      <p:ext uri="{BB962C8B-B14F-4D97-AF65-F5344CB8AC3E}">
        <p14:creationId xmlns:p14="http://schemas.microsoft.com/office/powerpoint/2010/main" val="394396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HTML dili kullanılarak web sayfası oluşturmak için kullanılabilecek farklı yöntemler bulunmaktadır.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Birinci ve en basit yöntem; Visual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Studio</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Code</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EditPlus</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Notepad</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Notepad</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gibi çeşitli metin editörleri kullanılarak web sayfası oluşturmadır.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Bunun için öncelikle metin editörleri üzerinden bir sayfa oluşturulmalı, web sayfasını oluşturacak HTML kodları metin editörüne satırlar hâlinde yazılmalı ve daha sonra sayfa uzantısı “.htm veya .html” olacak şekilde değiştirilerek kaydedilmelidir.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Oluşturulan bu dosya web tarayıcıları aracılığıyla açıldığında web sayfasının içeriği görüntülenmektedir.</a:t>
            </a:r>
          </a:p>
        </p:txBody>
      </p:sp>
    </p:spTree>
    <p:extLst>
      <p:ext uri="{BB962C8B-B14F-4D97-AF65-F5344CB8AC3E}">
        <p14:creationId xmlns:p14="http://schemas.microsoft.com/office/powerpoint/2010/main" val="1032898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Web sayfası oluşturmak için kullanılacak ikinci yöntem ise FrontPage,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Dreamweaver</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gibi çeşitli HTML editörlerinin veya yardımcılarının kullanılmasıdır.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HTML editörleri yardımıyla web sayfasını oluşturmak metin editörleri yardımıyla web sayfası oluşturmaktan daha basit ve kolaydır.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Metin editörleri kullanıldığında HTML kodları tasarımcı tarafından yazılıp kontrol edilirken, HTML editörlerinde yapılmak istenen işlemler kullanıcı tarafından menüler yardımıyla yapılmakta, HTML kodları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arkaplanda</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editörler tarafından oluşturulmaktadır.</a:t>
            </a:r>
          </a:p>
        </p:txBody>
      </p:sp>
    </p:spTree>
    <p:extLst>
      <p:ext uri="{BB962C8B-B14F-4D97-AF65-F5344CB8AC3E}">
        <p14:creationId xmlns:p14="http://schemas.microsoft.com/office/powerpoint/2010/main" val="2521965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HTML dili,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tag</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(belirteç/etiket) adı verilen kodların kullanıldığı, içeriğin bu kodlar aracılığıyla geliştirildiği bir dildir.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Tagların</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yazımında büyük-küçük harf ayrımı bulunmamaktadır.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Ayrıca boşluk, alt satıra inme ve sekmenin önemi yoktur. Ancak burada unutulmaması gereken durum, HTML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taglarının</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İngilizce diline uygun olduğu, bu nedenle büyük harf kullanımında da İngilizce yazım kurallarına dikkat edilmesi gerektiğidir.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HTML dili kullanılarak oluşturulan sayfalar sadece bu dili yorumlayabilen yazılımlar özellikle de web tarayıcıları tarafından okunabilmektedir.</a:t>
            </a:r>
          </a:p>
        </p:txBody>
      </p:sp>
    </p:spTree>
    <p:extLst>
      <p:ext uri="{BB962C8B-B14F-4D97-AF65-F5344CB8AC3E}">
        <p14:creationId xmlns:p14="http://schemas.microsoft.com/office/powerpoint/2010/main" val="1660027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HTML dili içerisinde her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tag</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küçüktür ve büyüktür işaretleri arasına yazılmaktadır.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Örneğin; &lt;html&gt;, &lt;body&gt;, &lt;</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table</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&gt; gibi.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Ayrıca açılan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taglar</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genellikle aynı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tagın</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başına / (eğik çizgi) işareti konulmasıyla kapatılmaktadır.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Web sayfası içerisinde görüntülenecek metinler, ilgili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taglar</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arasına yazılmaktadır.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Bir web sayfasına ait HTML kodları &lt;html&gt; başlangıç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tagı</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ile başlamakta ve &lt;/html&gt; bitiş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tagı</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ile sonlandırılmaktadır.</a:t>
            </a:r>
          </a:p>
        </p:txBody>
      </p:sp>
    </p:spTree>
    <p:extLst>
      <p:ext uri="{BB962C8B-B14F-4D97-AF65-F5344CB8AC3E}">
        <p14:creationId xmlns:p14="http://schemas.microsoft.com/office/powerpoint/2010/main" val="1224721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Bir web sayfası temel olarak iki ana bölümden oluşmaktadır.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Birinci bölüm &lt;</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head</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&gt;&lt;/</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head</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&gt;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tagları</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arasında oluşturulan ve web sayfasına ait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metaverilerin</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tanımlandığı bölümdür.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Bu bölümde; web sayfasının tarayıcıda görüntülenecek başlığı, web sayfasının tarayıcıda görüntülenecek resmi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iconu</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sayfa içinde kullanılan yazı kodlama tipinin ve karakter setinin ne olduğu, sayfaya bağlı olan harici stil dosyasının konumu, sayfa içi tanımlanan stiller, tanımlanan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scriptler</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ve web sayfasına ait diğer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metaveriler</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bu bölümde tanımlanmaktadır.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Bu bölümde tanımlanan özellikler, web sayfasının genel yapısıyla ilgili olan verileri içermektedir.</a:t>
            </a:r>
          </a:p>
        </p:txBody>
      </p:sp>
    </p:spTree>
    <p:extLst>
      <p:ext uri="{BB962C8B-B14F-4D97-AF65-F5344CB8AC3E}">
        <p14:creationId xmlns:p14="http://schemas.microsoft.com/office/powerpoint/2010/main" val="405553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İkinci bölüm ise &lt;body&gt;&lt;/body&gt;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tagları</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arasında oluşturulan ve web sayfasının içeriğine ait verilerin tanımlandığı bölümdür.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Bu bölümde; web sayfasının içeriğinde yer alan metinler, paragraf biçimleri, tablolar, bağlantılar, resimler,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çokluortam</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nesneleri, form elemanları gibi web sayfasının içeriğini oluşturan tüm nesneler tanımlanmaktadır.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Daha önce de bahsedildiği gibi, sadece sayfa içerisinde görüntülenecek metinler ilgili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taglar</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arasında kullanılmakta, diğer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çokluortam</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nesnelerinin (resim, video, ses, animasyon vb.) özellikleri ve URL adresleri işaretlenerek web tarayıcısının ilgili dosyayı nereden indireceği belirtilmektedir.</a:t>
            </a:r>
          </a:p>
        </p:txBody>
      </p:sp>
    </p:spTree>
    <p:extLst>
      <p:ext uri="{BB962C8B-B14F-4D97-AF65-F5344CB8AC3E}">
        <p14:creationId xmlns:p14="http://schemas.microsoft.com/office/powerpoint/2010/main" val="3693847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Her ne kadar HTML dili web teknolojilerinin gereksinimleri doğrultusunda güncellense de dinamik ve görsel öğelerle zenginleştirilmiş web sayfaları yapılabilmesi için ek dillere gereksinim duyulmaktadır.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HTML dili ile beraber en çok kullanılan yapı, basamaklı stil sayfaları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Cascading</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Style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Sheets</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 CSS) olarak adlandırılan biçimlendirme özellikleridir.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Basamaklı terimi, stillerin sırasını ve öncelik düzeyini tanımlamaktadır.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Stil, tek bir isimle tanımlanan bir dizi biçimlendirme niteliğidir.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Bu biçimlendirme niteliği, web tarayıcısına bir elemanı nasıl görüntülemesi gerektiğini bildirmektedir.</a:t>
            </a:r>
          </a:p>
        </p:txBody>
      </p:sp>
    </p:spTree>
    <p:extLst>
      <p:ext uri="{BB962C8B-B14F-4D97-AF65-F5344CB8AC3E}">
        <p14:creationId xmlns:p14="http://schemas.microsoft.com/office/powerpoint/2010/main" val="2313085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HTML dili kendi içerisinde metinler veya diğer nesneler üzerinde sınırlı sayıda biçimlendirme özelliğine sahiptir.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Ancak CSS yapısı kullanılarak, web sayfası, metinler,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çokluortam</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nesneleri, form elemanları, tablolar gibi birçok nesne üzerinde esnek ve hassas biçimlendirmeler tanımlanabilmektedir.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Ayrıca CSS yapısı kullanılarak oluşturulacak bir web sayfasına ait standart stil şablonu oluşturulabilmekte ve hazırlanacak her web sayfası için bu şablonlar tanımlanarak kullanılabilmektedir.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Buradan da anlaşılacağı üzere, CSS hem web sayfası içerisinde bağımsız olarak hem de tüm sayfaları etkileyecek biçimde bağlantılı biçimde de tanımlanabilmektedir.</a:t>
            </a:r>
          </a:p>
        </p:txBody>
      </p:sp>
    </p:spTree>
    <p:extLst>
      <p:ext uri="{BB962C8B-B14F-4D97-AF65-F5344CB8AC3E}">
        <p14:creationId xmlns:p14="http://schemas.microsoft.com/office/powerpoint/2010/main" val="2870202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HTML diline destek amaçlı kullanılan bir diğer yapı ise farklı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script</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dillerinin kullanılmasıdır.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Özellikle günümüz web sayfalarında görünen kullanıcı etkileşimi ile oluşturulacak dinamik web sayfaları bu diller kullanılarak tasarlanmaktadır.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Veritabanı</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desteği ile birleştirilerek kullanılan bu tür web sayfalarında kullanıcıdan gelen veriler doğrultusunda sayfa oluşturulabilmekte veya sayfa içeriği filtrelenebilmektedir.</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PHP, ASP, ASP.NET gibi programlama dilleri, dinamik web sayfaları oluşturmak için yararlanılan dillerin başında gelmektedir.</a:t>
            </a:r>
          </a:p>
        </p:txBody>
      </p:sp>
    </p:spTree>
    <p:extLst>
      <p:ext uri="{BB962C8B-B14F-4D97-AF65-F5344CB8AC3E}">
        <p14:creationId xmlns:p14="http://schemas.microsoft.com/office/powerpoint/2010/main" val="1088417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Web Sayfasının Yapısı Ve Temel Özellikleri</a:t>
            </a:r>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Özellikle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veritabanı</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kullanımı, internet tabanlı programlama için bu dillerin kullanımını zorunlu kılmaktadır.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Ayrıca web teknolojisinin gelişimiyle birlikte web sayfalarının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arkaplanında</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kodlamanın yapılabilmesine olanak sağlayan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JavaScript</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 dili, günümüz web sayfalarında yoğun bir biçimde kullanılmaktadır. </a:t>
            </a:r>
          </a:p>
          <a:p>
            <a:pPr marL="514350" marR="0" lvl="1" indent="-342900" algn="l" defTabSz="914400" rtl="0" eaLnBrk="0" fontAlgn="base" latinLnBrk="0" hangingPunct="0">
              <a:lnSpc>
                <a:spcPct val="100000"/>
              </a:lnSpc>
              <a:spcBef>
                <a:spcPct val="20000"/>
              </a:spcBef>
              <a:spcAft>
                <a:spcPct val="0"/>
              </a:spcAft>
              <a:buClr>
                <a:srgbClr val="0066CC"/>
              </a:buClr>
              <a:buSzPct val="75000"/>
              <a:buFont typeface="Wingdings" panose="05000000000000000000" pitchFamily="2" charset="2"/>
              <a:buChar char="q"/>
              <a:tabLst/>
              <a:defRPr/>
            </a:pP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Özetle, bir web sayfası oluşturmak için temel HTML kodlarının yeterli olduğu, ancak görsel olarak zengin ve etkileşimli dinamik web sayfaları oluşturmak için HTML kodlarının yanında diğer PHP, ASP, </a:t>
            </a:r>
            <a:r>
              <a:rPr kumimoji="0" lang="tr-TR" sz="2400" b="0" i="0" u="none" strike="noStrike" kern="1200" cap="none" spc="0" normalizeH="0" baseline="0" noProof="0" dirty="0" err="1">
                <a:ln>
                  <a:noFill/>
                </a:ln>
                <a:solidFill>
                  <a:srgbClr val="000000"/>
                </a:solidFill>
                <a:effectLst/>
                <a:uLnTx/>
                <a:uFillTx/>
                <a:latin typeface="Arial" pitchFamily="34" charset="0"/>
                <a:ea typeface="+mn-ea"/>
                <a:cs typeface="+mn-cs"/>
              </a:rPr>
              <a:t>JavaScript</a:t>
            </a:r>
            <a:r>
              <a:rPr kumimoji="0" lang="tr-TR" sz="2400" b="0" i="0" u="none" strike="noStrike" kern="1200" cap="none" spc="0" normalizeH="0" baseline="0" noProof="0">
                <a:ln>
                  <a:noFill/>
                </a:ln>
                <a:solidFill>
                  <a:srgbClr val="000000"/>
                </a:solidFill>
                <a:effectLst/>
                <a:uLnTx/>
                <a:uFillTx/>
                <a:latin typeface="Arial" pitchFamily="34" charset="0"/>
                <a:ea typeface="+mn-ea"/>
                <a:cs typeface="+mn-cs"/>
              </a:rPr>
              <a:t> gibi dillerin </a:t>
            </a:r>
            <a:r>
              <a:rPr kumimoji="0" lang="tr-TR" sz="2400" b="0" i="0" u="none" strike="noStrike" kern="1200" cap="none" spc="0" normalizeH="0" baseline="0" noProof="0" dirty="0">
                <a:ln>
                  <a:noFill/>
                </a:ln>
                <a:solidFill>
                  <a:srgbClr val="000000"/>
                </a:solidFill>
                <a:effectLst/>
                <a:uLnTx/>
                <a:uFillTx/>
                <a:latin typeface="Arial" pitchFamily="34" charset="0"/>
                <a:ea typeface="+mn-ea"/>
                <a:cs typeface="+mn-cs"/>
              </a:rPr>
              <a:t>kullanılması gerektiği unutulmamalıdır.</a:t>
            </a:r>
          </a:p>
        </p:txBody>
      </p:sp>
    </p:spTree>
    <p:extLst>
      <p:ext uri="{BB962C8B-B14F-4D97-AF65-F5344CB8AC3E}">
        <p14:creationId xmlns:p14="http://schemas.microsoft.com/office/powerpoint/2010/main" val="152912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err="1"/>
              <a:t>HTML’de</a:t>
            </a:r>
            <a:r>
              <a:rPr lang="tr-TR" sz="3200" dirty="0"/>
              <a:t> Metin Kullanımı</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Metin kullanımı özellikle web sayfası tasarım sürecinin ilk çıktığı yıllarda aktarılan bilginin temsilcisi durumunda iken, çoklu ortam özelliklerinin gelişmesine karşın hâlen önemli oranda web sayfalarında tercih edilmektedir.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tercihte muhtemelen bilgisayar ekranı da dâhil olmak üzere çoğu yerde okuma alışkanlığının baskın gelmesi gerekçe gösterilebilir.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açıdan günümüz web sayfası tasarımında da metinler çok sık kullanılan ortam tasarım unsurlarıdır.</a:t>
            </a:r>
          </a:p>
          <a:p>
            <a:pPr marL="171450" lvl="1">
              <a:spcBef>
                <a:spcPct val="20000"/>
              </a:spcBef>
              <a:buClr>
                <a:srgbClr val="0066CC"/>
              </a:buClr>
              <a:buSzPct val="75000"/>
            </a:pPr>
            <a:endParaRPr lang="tr-TR" dirty="0">
              <a:solidFill>
                <a:srgbClr val="000000"/>
              </a:solidFill>
              <a:latin typeface="Arial" pitchFamily="34" charset="0"/>
            </a:endParaRPr>
          </a:p>
          <a:p>
            <a:pPr marL="742950" lvl="2" indent="-171450">
              <a:spcBef>
                <a:spcPct val="20000"/>
              </a:spcBef>
              <a:buClr>
                <a:srgbClr val="339933"/>
              </a:buClr>
              <a:buSzPct val="75000"/>
              <a:buFontTx/>
              <a:buChar char="•"/>
            </a:pPr>
            <a:endParaRPr lang="tr-TR" dirty="0">
              <a:solidFill>
                <a:srgbClr val="000000"/>
              </a:solidFill>
              <a:latin typeface="Arial" pitchFamily="34" charset="0"/>
            </a:endParaRPr>
          </a:p>
        </p:txBody>
      </p:sp>
    </p:spTree>
    <p:extLst>
      <p:ext uri="{BB962C8B-B14F-4D97-AF65-F5344CB8AC3E}">
        <p14:creationId xmlns:p14="http://schemas.microsoft.com/office/powerpoint/2010/main" val="2269812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HTML’de Metin Kullanımı</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Yazılan metinlerin nasıl, nerede ve ne şekilde görünmesi gerektiği html’de etiket olarak adlandırılan kodlarla metin içerisinde belirtilmelidir.</a:t>
            </a:r>
          </a:p>
          <a:p>
            <a:pPr marL="514350" lvl="1" indent="-342900">
              <a:spcBef>
                <a:spcPct val="20000"/>
              </a:spcBef>
              <a:buClr>
                <a:srgbClr val="0066CC"/>
              </a:buClr>
              <a:buSzPct val="75000"/>
              <a:buFont typeface="Wingdings" panose="05000000000000000000" pitchFamily="2" charset="2"/>
              <a:buChar char="q"/>
            </a:pPr>
            <a:r>
              <a:rPr lang="da-DK" dirty="0">
                <a:solidFill>
                  <a:srgbClr val="000000"/>
                </a:solidFill>
                <a:latin typeface="Arial" pitchFamily="34" charset="0"/>
              </a:rPr>
              <a:t>Örneğin paragraf içerisindeki</a:t>
            </a:r>
            <a:r>
              <a:rPr lang="tr-TR" dirty="0">
                <a:solidFill>
                  <a:srgbClr val="000000"/>
                </a:solidFill>
                <a:latin typeface="Arial" pitchFamily="34" charset="0"/>
              </a:rPr>
              <a:t> </a:t>
            </a:r>
            <a:r>
              <a:rPr lang="da-DK" dirty="0">
                <a:solidFill>
                  <a:srgbClr val="000000"/>
                </a:solidFill>
                <a:latin typeface="Arial" pitchFamily="34" charset="0"/>
              </a:rPr>
              <a:t>bir kelime koyu olacak ise</a:t>
            </a:r>
            <a:r>
              <a:rPr lang="tr-TR" dirty="0">
                <a:solidFill>
                  <a:srgbClr val="000000"/>
                </a:solidFill>
                <a:latin typeface="Arial" pitchFamily="34" charset="0"/>
              </a:rPr>
              <a:t> metinden hemen önce &lt;b&gt; etiketi ilave edilir.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Eğer bu etiket sonlandırılmazsa kendisinden sonra gelecek tüm metinleri koyulaştıracaktır.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Bunu engellemek için &lt;/b&gt; etiketi ile koyu olması istenilen yerden hemen sonra sonlandırmak gerekir.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&lt;</a:t>
            </a:r>
            <a:r>
              <a:rPr lang="tr-TR" dirty="0" err="1">
                <a:solidFill>
                  <a:srgbClr val="000000"/>
                </a:solidFill>
                <a:latin typeface="Arial" pitchFamily="34" charset="0"/>
              </a:rPr>
              <a:t>br</a:t>
            </a:r>
            <a:r>
              <a:rPr lang="tr-TR" dirty="0">
                <a:solidFill>
                  <a:srgbClr val="000000"/>
                </a:solidFill>
                <a:latin typeface="Arial" pitchFamily="34" charset="0"/>
              </a:rPr>
              <a:t>&gt; etiketi html’de </a:t>
            </a:r>
            <a:r>
              <a:rPr lang="tr-TR" dirty="0" err="1">
                <a:solidFill>
                  <a:srgbClr val="000000"/>
                </a:solidFill>
                <a:latin typeface="Arial" pitchFamily="34" charset="0"/>
              </a:rPr>
              <a:t>enter</a:t>
            </a:r>
            <a:r>
              <a:rPr lang="tr-TR" dirty="0">
                <a:solidFill>
                  <a:srgbClr val="000000"/>
                </a:solidFill>
                <a:latin typeface="Arial" pitchFamily="34" charset="0"/>
              </a:rPr>
              <a:t> tuşunun işlevini yerine getirmekte, tarayıcı da alt satıra geçişi sağlamaktadır.</a:t>
            </a:r>
          </a:p>
          <a:p>
            <a:pPr marL="742950" lvl="2" indent="-171450">
              <a:spcBef>
                <a:spcPct val="20000"/>
              </a:spcBef>
              <a:buClr>
                <a:srgbClr val="339933"/>
              </a:buClr>
              <a:buSzPct val="75000"/>
              <a:buFontTx/>
              <a:buChar char="•"/>
            </a:pPr>
            <a:endParaRPr lang="tr-TR" dirty="0">
              <a:solidFill>
                <a:srgbClr val="000000"/>
              </a:solidFill>
              <a:latin typeface="Arial" pitchFamily="34" charset="0"/>
            </a:endParaRPr>
          </a:p>
        </p:txBody>
      </p:sp>
    </p:spTree>
    <p:extLst>
      <p:ext uri="{BB962C8B-B14F-4D97-AF65-F5344CB8AC3E}">
        <p14:creationId xmlns:p14="http://schemas.microsoft.com/office/powerpoint/2010/main" val="1829262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HTML’de Metin Kullanımı</a:t>
            </a:r>
            <a:endParaRPr lang="en-US" sz="3200" dirty="0"/>
          </a:p>
        </p:txBody>
      </p:sp>
      <p:sp>
        <p:nvSpPr>
          <p:cNvPr id="154627" name="Rectangle 3"/>
          <p:cNvSpPr>
            <a:spLocks noChangeArrowheads="1"/>
          </p:cNvSpPr>
          <p:nvPr/>
        </p:nvSpPr>
        <p:spPr bwMode="auto">
          <a:xfrm>
            <a:off x="0" y="876300"/>
            <a:ext cx="9144000" cy="336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Html’de kelimeler arasına boşluk vermek için &amp;</a:t>
            </a:r>
            <a:r>
              <a:rPr lang="tr-TR" dirty="0" err="1">
                <a:solidFill>
                  <a:srgbClr val="000000"/>
                </a:solidFill>
                <a:latin typeface="Arial" pitchFamily="34" charset="0"/>
              </a:rPr>
              <a:t>nbsp</a:t>
            </a:r>
            <a:r>
              <a:rPr lang="tr-TR" dirty="0">
                <a:solidFill>
                  <a:srgbClr val="000000"/>
                </a:solidFill>
                <a:latin typeface="Arial" pitchFamily="34" charset="0"/>
              </a:rPr>
              <a:t>; etiketi verilmek istenen boşluk sayısı kadar kullanılmalıdır.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Bir başka örnek olarak html sisteminde &lt; veya “ karakterleri özel karakter grubunda yer almaktadır.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Özel karakterler doğrudan html metin yazımında kullanılamazlar.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Html’de özel karakterler için aşağıdaki tablo şeklinde kullanım gereklidir.</a:t>
            </a:r>
          </a:p>
        </p:txBody>
      </p:sp>
      <p:pic>
        <p:nvPicPr>
          <p:cNvPr id="3" name="Resim 2">
            <a:extLst>
              <a:ext uri="{FF2B5EF4-FFF2-40B4-BE49-F238E27FC236}">
                <a16:creationId xmlns:a16="http://schemas.microsoft.com/office/drawing/2014/main" id="{1A1CF2EC-2846-4E83-98FC-DE2CB52ED2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0263" y="4318488"/>
            <a:ext cx="4177065" cy="2199757"/>
          </a:xfrm>
          <a:prstGeom prst="rect">
            <a:avLst/>
          </a:prstGeom>
        </p:spPr>
      </p:pic>
    </p:spTree>
    <p:extLst>
      <p:ext uri="{BB962C8B-B14F-4D97-AF65-F5344CB8AC3E}">
        <p14:creationId xmlns:p14="http://schemas.microsoft.com/office/powerpoint/2010/main" val="3178136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Karakter Seti Özelliklerinin Belirlenmesi</a:t>
            </a:r>
            <a:endParaRPr lang="en-US" sz="3200" dirty="0"/>
          </a:p>
        </p:txBody>
      </p:sp>
      <p:sp>
        <p:nvSpPr>
          <p:cNvPr id="154627" name="Rectangle 3"/>
          <p:cNvSpPr>
            <a:spLocks noChangeArrowheads="1"/>
          </p:cNvSpPr>
          <p:nvPr/>
        </p:nvSpPr>
        <p:spPr bwMode="auto">
          <a:xfrm>
            <a:off x="0" y="876300"/>
            <a:ext cx="9144000" cy="305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Html kodu yazımı, belirli bir kalıp içerisinde olmaktadır. Html, </a:t>
            </a:r>
            <a:r>
              <a:rPr lang="tr-TR" dirty="0" err="1">
                <a:solidFill>
                  <a:srgbClr val="000000"/>
                </a:solidFill>
                <a:latin typeface="Arial" pitchFamily="34" charset="0"/>
              </a:rPr>
              <a:t>head</a:t>
            </a:r>
            <a:r>
              <a:rPr lang="tr-TR" dirty="0">
                <a:solidFill>
                  <a:srgbClr val="000000"/>
                </a:solidFill>
                <a:latin typeface="Arial" pitchFamily="34" charset="0"/>
              </a:rPr>
              <a:t> ve body olarak üç parça bilginin yer aldığı bu yapıda &lt; ve &gt; işaretleri içerisine ifadeler yazılırken, bu ifadelerin her birine etiket denir.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Ayrıca kod yapılarının bittiğini belirtmek için &lt;/&gt; şeklinde bir kullanım söz konusudur.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açıdan temel bir html kod yapısı aşağıdaki gibidir.</a:t>
            </a:r>
          </a:p>
        </p:txBody>
      </p:sp>
      <p:pic>
        <p:nvPicPr>
          <p:cNvPr id="3" name="Resim 2">
            <a:extLst>
              <a:ext uri="{FF2B5EF4-FFF2-40B4-BE49-F238E27FC236}">
                <a16:creationId xmlns:a16="http://schemas.microsoft.com/office/drawing/2014/main" id="{932B1DFC-5614-49B6-80CB-4F3CE01A5B50}"/>
              </a:ext>
            </a:extLst>
          </p:cNvPr>
          <p:cNvPicPr>
            <a:picLocks noChangeAspect="1"/>
          </p:cNvPicPr>
          <p:nvPr/>
        </p:nvPicPr>
        <p:blipFill>
          <a:blip r:embed="rId2"/>
          <a:stretch>
            <a:fillRect/>
          </a:stretch>
        </p:blipFill>
        <p:spPr>
          <a:xfrm>
            <a:off x="1524822" y="3934437"/>
            <a:ext cx="5809129" cy="2286000"/>
          </a:xfrm>
          <a:prstGeom prst="rect">
            <a:avLst/>
          </a:prstGeom>
        </p:spPr>
      </p:pic>
    </p:spTree>
    <p:extLst>
      <p:ext uri="{BB962C8B-B14F-4D97-AF65-F5344CB8AC3E}">
        <p14:creationId xmlns:p14="http://schemas.microsoft.com/office/powerpoint/2010/main" val="1732905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Karakter Seti Özelliklerinin Belirlenmesi</a:t>
            </a:r>
            <a:endParaRPr lang="en-US" sz="3200" dirty="0"/>
          </a:p>
        </p:txBody>
      </p:sp>
      <p:sp>
        <p:nvSpPr>
          <p:cNvPr id="154627" name="Rectangle 3"/>
          <p:cNvSpPr>
            <a:spLocks noChangeArrowheads="1"/>
          </p:cNvSpPr>
          <p:nvPr/>
        </p:nvSpPr>
        <p:spPr bwMode="auto">
          <a:xfrm>
            <a:off x="0" y="876300"/>
            <a:ext cx="9144000" cy="5885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Resim’de görüleceği üzere bir html tasarımı &lt;html&gt; etiketi ile başlar ve &lt;/html&gt; </a:t>
            </a:r>
            <a:r>
              <a:rPr lang="tr-TR" dirty="0" err="1">
                <a:solidFill>
                  <a:srgbClr val="000000"/>
                </a:solidFill>
                <a:latin typeface="Arial" pitchFamily="34" charset="0"/>
              </a:rPr>
              <a:t>etkiketi</a:t>
            </a:r>
            <a:r>
              <a:rPr lang="tr-TR" dirty="0">
                <a:solidFill>
                  <a:srgbClr val="000000"/>
                </a:solidFill>
                <a:latin typeface="Arial" pitchFamily="34" charset="0"/>
              </a:rPr>
              <a:t> ile biter.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Ayrıca şart olmamakla birlikte &lt;</a:t>
            </a:r>
            <a:r>
              <a:rPr lang="tr-TR" dirty="0" err="1">
                <a:solidFill>
                  <a:srgbClr val="000000"/>
                </a:solidFill>
                <a:latin typeface="Arial" pitchFamily="34" charset="0"/>
              </a:rPr>
              <a:t>head</a:t>
            </a:r>
            <a:r>
              <a:rPr lang="tr-TR" dirty="0">
                <a:solidFill>
                  <a:srgbClr val="000000"/>
                </a:solidFill>
                <a:latin typeface="Arial" pitchFamily="34" charset="0"/>
              </a:rPr>
              <a:t>&gt; &lt;/</a:t>
            </a:r>
            <a:r>
              <a:rPr lang="tr-TR" dirty="0" err="1">
                <a:solidFill>
                  <a:srgbClr val="000000"/>
                </a:solidFill>
                <a:latin typeface="Arial" pitchFamily="34" charset="0"/>
              </a:rPr>
              <a:t>head</a:t>
            </a:r>
            <a:r>
              <a:rPr lang="tr-TR" dirty="0">
                <a:solidFill>
                  <a:srgbClr val="000000"/>
                </a:solidFill>
                <a:latin typeface="Arial" pitchFamily="34" charset="0"/>
              </a:rPr>
              <a:t>&gt; bloğu ile web sayfasına ait üst düzey ayarlar yapılabilir.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başlık vermek için &lt;</a:t>
            </a:r>
            <a:r>
              <a:rPr lang="tr-TR" dirty="0" err="1">
                <a:solidFill>
                  <a:srgbClr val="000000"/>
                </a:solidFill>
                <a:latin typeface="Arial" pitchFamily="34" charset="0"/>
              </a:rPr>
              <a:t>title</a:t>
            </a:r>
            <a:r>
              <a:rPr lang="tr-TR" dirty="0">
                <a:solidFill>
                  <a:srgbClr val="000000"/>
                </a:solidFill>
                <a:latin typeface="Arial" pitchFamily="34" charset="0"/>
              </a:rPr>
              <a:t>&gt; &lt;/</a:t>
            </a:r>
            <a:r>
              <a:rPr lang="tr-TR" dirty="0" err="1">
                <a:solidFill>
                  <a:srgbClr val="000000"/>
                </a:solidFill>
                <a:latin typeface="Arial" pitchFamily="34" charset="0"/>
              </a:rPr>
              <a:t>title</a:t>
            </a:r>
            <a:r>
              <a:rPr lang="tr-TR" dirty="0">
                <a:solidFill>
                  <a:srgbClr val="000000"/>
                </a:solidFill>
                <a:latin typeface="Arial" pitchFamily="34" charset="0"/>
              </a:rPr>
              <a:t>&gt; etiketleri arasına sitenin tarayıcı açıldığında görünmesi istenen başlık kısmı bu kod bloğu ile verilir. Ayrıca sitede eğer Türkçe karakter sorunu yer alıyorsa (örneğin i yerine y görünüyorsa vb.) bu kısımda kullanılacak &lt;meta etiketi ile Türkçe gösterim ayarı yine bu kısımdan yapılabilir.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Bunun için aşağıdaki gibi bir etiketin &lt;</a:t>
            </a:r>
            <a:r>
              <a:rPr lang="tr-TR" dirty="0" err="1">
                <a:solidFill>
                  <a:srgbClr val="000000"/>
                </a:solidFill>
                <a:latin typeface="Arial" pitchFamily="34" charset="0"/>
              </a:rPr>
              <a:t>head</a:t>
            </a:r>
            <a:r>
              <a:rPr lang="tr-TR" dirty="0">
                <a:solidFill>
                  <a:srgbClr val="000000"/>
                </a:solidFill>
                <a:latin typeface="Arial" pitchFamily="34" charset="0"/>
              </a:rPr>
              <a:t>&gt; &lt;/</a:t>
            </a:r>
            <a:r>
              <a:rPr lang="tr-TR" dirty="0" err="1">
                <a:solidFill>
                  <a:srgbClr val="000000"/>
                </a:solidFill>
                <a:latin typeface="Arial" pitchFamily="34" charset="0"/>
              </a:rPr>
              <a:t>head</a:t>
            </a:r>
            <a:r>
              <a:rPr lang="tr-TR" dirty="0">
                <a:solidFill>
                  <a:srgbClr val="000000"/>
                </a:solidFill>
                <a:latin typeface="Arial" pitchFamily="34" charset="0"/>
              </a:rPr>
              <a:t>&gt; etiketleri arasına yazılması yeterli olacaktır.</a:t>
            </a:r>
          </a:p>
          <a:p>
            <a:pPr marL="171450" lvl="1">
              <a:spcBef>
                <a:spcPct val="20000"/>
              </a:spcBef>
              <a:buClr>
                <a:srgbClr val="0066CC"/>
              </a:buClr>
              <a:buSzPct val="75000"/>
            </a:pPr>
            <a:r>
              <a:rPr lang="tr-TR" i="1" dirty="0">
                <a:solidFill>
                  <a:srgbClr val="000000"/>
                </a:solidFill>
                <a:latin typeface="Arial" pitchFamily="34" charset="0"/>
              </a:rPr>
              <a:t>&lt;meta http-</a:t>
            </a:r>
            <a:r>
              <a:rPr lang="tr-TR" i="1" dirty="0" err="1">
                <a:solidFill>
                  <a:srgbClr val="000000"/>
                </a:solidFill>
                <a:latin typeface="Arial" pitchFamily="34" charset="0"/>
              </a:rPr>
              <a:t>equiv</a:t>
            </a:r>
            <a:r>
              <a:rPr lang="tr-TR" i="1" dirty="0">
                <a:solidFill>
                  <a:srgbClr val="000000"/>
                </a:solidFill>
                <a:latin typeface="Arial" pitchFamily="34" charset="0"/>
              </a:rPr>
              <a:t>=</a:t>
            </a:r>
            <a:r>
              <a:rPr lang="tr-TR" i="1" dirty="0" err="1">
                <a:solidFill>
                  <a:srgbClr val="000000"/>
                </a:solidFill>
                <a:latin typeface="Arial" pitchFamily="34" charset="0"/>
              </a:rPr>
              <a:t>content-type</a:t>
            </a:r>
            <a:r>
              <a:rPr lang="tr-TR" i="1" dirty="0">
                <a:solidFill>
                  <a:srgbClr val="000000"/>
                </a:solidFill>
                <a:latin typeface="Arial" pitchFamily="34" charset="0"/>
              </a:rPr>
              <a:t> </a:t>
            </a:r>
            <a:r>
              <a:rPr lang="tr-TR" i="1" dirty="0" err="1">
                <a:solidFill>
                  <a:srgbClr val="000000"/>
                </a:solidFill>
                <a:latin typeface="Arial" pitchFamily="34" charset="0"/>
              </a:rPr>
              <a:t>content</a:t>
            </a:r>
            <a:r>
              <a:rPr lang="tr-TR" i="1" dirty="0">
                <a:solidFill>
                  <a:srgbClr val="000000"/>
                </a:solidFill>
                <a:latin typeface="Arial" pitchFamily="34" charset="0"/>
              </a:rPr>
              <a:t>=</a:t>
            </a:r>
            <a:r>
              <a:rPr lang="tr-TR" i="1" dirty="0" err="1">
                <a:solidFill>
                  <a:srgbClr val="000000"/>
                </a:solidFill>
                <a:latin typeface="Arial" pitchFamily="34" charset="0"/>
              </a:rPr>
              <a:t>text</a:t>
            </a:r>
            <a:r>
              <a:rPr lang="tr-TR" i="1" dirty="0">
                <a:solidFill>
                  <a:srgbClr val="000000"/>
                </a:solidFill>
                <a:latin typeface="Arial" pitchFamily="34" charset="0"/>
              </a:rPr>
              <a:t>/html; </a:t>
            </a:r>
            <a:r>
              <a:rPr lang="tr-TR" i="1" dirty="0" err="1">
                <a:solidFill>
                  <a:srgbClr val="000000"/>
                </a:solidFill>
                <a:latin typeface="Arial" pitchFamily="34" charset="0"/>
              </a:rPr>
              <a:t>charset</a:t>
            </a:r>
            <a:r>
              <a:rPr lang="tr-TR" i="1" dirty="0">
                <a:solidFill>
                  <a:srgbClr val="000000"/>
                </a:solidFill>
                <a:latin typeface="Arial" pitchFamily="34" charset="0"/>
              </a:rPr>
              <a:t>=utf-8&gt;</a:t>
            </a:r>
          </a:p>
        </p:txBody>
      </p:sp>
    </p:spTree>
    <p:extLst>
      <p:ext uri="{BB962C8B-B14F-4D97-AF65-F5344CB8AC3E}">
        <p14:creationId xmlns:p14="http://schemas.microsoft.com/office/powerpoint/2010/main" val="599892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Karakter Seti Özelliklerinin Belirlenmesi</a:t>
            </a:r>
            <a:endParaRPr lang="en-US" sz="3200" dirty="0"/>
          </a:p>
        </p:txBody>
      </p:sp>
      <p:sp>
        <p:nvSpPr>
          <p:cNvPr id="154627" name="Rectangle 3"/>
          <p:cNvSpPr>
            <a:spLocks noChangeArrowheads="1"/>
          </p:cNvSpPr>
          <p:nvPr/>
        </p:nvSpPr>
        <p:spPr bwMode="auto">
          <a:xfrm>
            <a:off x="0" y="876300"/>
            <a:ext cx="9144000" cy="5885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Ayrıca bu blokta birden fazla kez meta etiketi kullanılabilir.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durumda her bir etiket kendi işlevini yerine getirecektir.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sitenizi belirli kelimeler ile ön plana çıkarmak isterseniz meta etiketini aşağıdaki şekilde kullanmanız gerekir.</a:t>
            </a:r>
          </a:p>
          <a:p>
            <a:pPr marL="171450" lvl="1">
              <a:spcBef>
                <a:spcPct val="20000"/>
              </a:spcBef>
              <a:buClr>
                <a:srgbClr val="0066CC"/>
              </a:buClr>
              <a:buSzPct val="75000"/>
            </a:pPr>
            <a:r>
              <a:rPr lang="en-US" i="1" dirty="0">
                <a:solidFill>
                  <a:srgbClr val="000000"/>
                </a:solidFill>
                <a:latin typeface="Arial" pitchFamily="34" charset="0"/>
              </a:rPr>
              <a:t>&lt;meta=”keywords” content =”</a:t>
            </a:r>
            <a:r>
              <a:rPr lang="en-US" i="1" dirty="0" err="1">
                <a:solidFill>
                  <a:srgbClr val="000000"/>
                </a:solidFill>
                <a:latin typeface="Arial" pitchFamily="34" charset="0"/>
              </a:rPr>
              <a:t>oyun</a:t>
            </a:r>
            <a:r>
              <a:rPr lang="en-US" i="1" dirty="0">
                <a:solidFill>
                  <a:srgbClr val="000000"/>
                </a:solidFill>
                <a:latin typeface="Arial" pitchFamily="34" charset="0"/>
              </a:rPr>
              <a:t> </a:t>
            </a:r>
            <a:r>
              <a:rPr lang="en-US" i="1" dirty="0" err="1">
                <a:solidFill>
                  <a:srgbClr val="000000"/>
                </a:solidFill>
                <a:latin typeface="Arial" pitchFamily="34" charset="0"/>
              </a:rPr>
              <a:t>tasarımı</a:t>
            </a:r>
            <a:r>
              <a:rPr lang="en-US" i="1" dirty="0">
                <a:solidFill>
                  <a:srgbClr val="000000"/>
                </a:solidFill>
                <a:latin typeface="Arial" pitchFamily="34" charset="0"/>
              </a:rPr>
              <a:t>, html, </a:t>
            </a:r>
            <a:r>
              <a:rPr lang="en-US" i="1" dirty="0" err="1">
                <a:solidFill>
                  <a:srgbClr val="000000"/>
                </a:solidFill>
                <a:latin typeface="Arial" pitchFamily="34" charset="0"/>
              </a:rPr>
              <a:t>tasarım</a:t>
            </a:r>
            <a:r>
              <a:rPr lang="en-US" i="1" dirty="0">
                <a:solidFill>
                  <a:srgbClr val="000000"/>
                </a:solidFill>
                <a:latin typeface="Arial" pitchFamily="34" charset="0"/>
              </a:rPr>
              <a:t>, </a:t>
            </a:r>
            <a:r>
              <a:rPr lang="en-US" i="1" dirty="0" err="1">
                <a:solidFill>
                  <a:srgbClr val="000000"/>
                </a:solidFill>
                <a:latin typeface="Arial" pitchFamily="34" charset="0"/>
              </a:rPr>
              <a:t>metin</a:t>
            </a:r>
            <a:r>
              <a:rPr lang="en-US" i="1" dirty="0">
                <a:solidFill>
                  <a:srgbClr val="000000"/>
                </a:solidFill>
                <a:latin typeface="Arial" pitchFamily="34" charset="0"/>
              </a:rPr>
              <a:t> </a:t>
            </a:r>
            <a:r>
              <a:rPr lang="en-US" i="1" dirty="0" err="1">
                <a:solidFill>
                  <a:srgbClr val="000000"/>
                </a:solidFill>
                <a:latin typeface="Arial" pitchFamily="34" charset="0"/>
              </a:rPr>
              <a:t>ekleme</a:t>
            </a:r>
            <a:r>
              <a:rPr lang="en-US" i="1" dirty="0">
                <a:solidFill>
                  <a:srgbClr val="000000"/>
                </a:solidFill>
                <a:latin typeface="Arial" pitchFamily="34" charset="0"/>
              </a:rPr>
              <a:t>”&gt;</a:t>
            </a:r>
            <a:endParaRPr lang="tr-TR" i="1" dirty="0">
              <a:solidFill>
                <a:srgbClr val="000000"/>
              </a:solidFill>
              <a:latin typeface="Arial" pitchFamily="34" charset="0"/>
            </a:endParaRPr>
          </a:p>
          <a:p>
            <a:pPr marL="171450" lvl="1">
              <a:spcBef>
                <a:spcPct val="20000"/>
              </a:spcBef>
              <a:buClr>
                <a:srgbClr val="0066CC"/>
              </a:buClr>
              <a:buSzPct val="75000"/>
            </a:pPr>
            <a:endParaRPr lang="tr-TR" i="1" dirty="0">
              <a:solidFill>
                <a:srgbClr val="000000"/>
              </a:solidFill>
              <a:latin typeface="Arial" pitchFamily="34" charset="0"/>
            </a:endParaRPr>
          </a:p>
        </p:txBody>
      </p:sp>
    </p:spTree>
    <p:extLst>
      <p:ext uri="{BB962C8B-B14F-4D97-AF65-F5344CB8AC3E}">
        <p14:creationId xmlns:p14="http://schemas.microsoft.com/office/powerpoint/2010/main" val="2506395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Karakter Seti Özelliklerinin Belirlenmesi</a:t>
            </a:r>
            <a:endParaRPr lang="en-US" sz="3200" dirty="0"/>
          </a:p>
        </p:txBody>
      </p:sp>
      <p:sp>
        <p:nvSpPr>
          <p:cNvPr id="154627" name="Rectangle 3"/>
          <p:cNvSpPr>
            <a:spLocks noChangeArrowheads="1"/>
          </p:cNvSpPr>
          <p:nvPr/>
        </p:nvSpPr>
        <p:spPr bwMode="auto">
          <a:xfrm>
            <a:off x="0" y="876300"/>
            <a:ext cx="9144000" cy="5885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Benzer şekilde &lt;meta http-</a:t>
            </a:r>
            <a:r>
              <a:rPr lang="tr-TR" dirty="0" err="1">
                <a:solidFill>
                  <a:srgbClr val="000000"/>
                </a:solidFill>
                <a:latin typeface="Arial" pitchFamily="34" charset="0"/>
              </a:rPr>
              <a:t>equiv</a:t>
            </a:r>
            <a:r>
              <a:rPr lang="tr-TR" dirty="0">
                <a:solidFill>
                  <a:srgbClr val="000000"/>
                </a:solidFill>
                <a:latin typeface="Arial" pitchFamily="34" charset="0"/>
              </a:rPr>
              <a:t>=”</a:t>
            </a:r>
            <a:r>
              <a:rPr lang="tr-TR" dirty="0" err="1">
                <a:solidFill>
                  <a:srgbClr val="000000"/>
                </a:solidFill>
                <a:latin typeface="Arial" pitchFamily="34" charset="0"/>
              </a:rPr>
              <a:t>refresh</a:t>
            </a:r>
            <a:r>
              <a:rPr lang="tr-TR" dirty="0">
                <a:solidFill>
                  <a:srgbClr val="000000"/>
                </a:solidFill>
                <a:latin typeface="Arial" pitchFamily="34" charset="0"/>
              </a:rPr>
              <a:t>” </a:t>
            </a:r>
            <a:r>
              <a:rPr lang="tr-TR" dirty="0" err="1">
                <a:solidFill>
                  <a:srgbClr val="000000"/>
                </a:solidFill>
                <a:latin typeface="Arial" pitchFamily="34" charset="0"/>
              </a:rPr>
              <a:t>content</a:t>
            </a:r>
            <a:r>
              <a:rPr lang="tr-TR" dirty="0">
                <a:solidFill>
                  <a:srgbClr val="000000"/>
                </a:solidFill>
                <a:latin typeface="Arial" pitchFamily="34" charset="0"/>
              </a:rPr>
              <a:t>=”10; </a:t>
            </a:r>
            <a:r>
              <a:rPr lang="tr-TR" dirty="0" err="1">
                <a:solidFill>
                  <a:srgbClr val="000000"/>
                </a:solidFill>
                <a:latin typeface="Arial" pitchFamily="34" charset="0"/>
              </a:rPr>
              <a:t>url</a:t>
            </a:r>
            <a:r>
              <a:rPr lang="tr-TR" dirty="0">
                <a:solidFill>
                  <a:srgbClr val="000000"/>
                </a:solidFill>
                <a:latin typeface="Arial" pitchFamily="34" charset="0"/>
              </a:rPr>
              <a:t>=anasayfa.html”&gt; etiketini kullanmanız durumunda açılan sayfa 10 saniye görünecek sonra otomatik olarak anasayfa.html sayfasına yönlendirilecektir.</a:t>
            </a:r>
          </a:p>
          <a:p>
            <a:pPr marL="514350" lvl="1" indent="-342900">
              <a:spcBef>
                <a:spcPct val="20000"/>
              </a:spcBef>
              <a:buClr>
                <a:srgbClr val="0066CC"/>
              </a:buClr>
              <a:buSzPct val="75000"/>
              <a:buFont typeface="Wingdings" panose="05000000000000000000" pitchFamily="2" charset="2"/>
              <a:buChar char="q"/>
            </a:pPr>
            <a:r>
              <a:rPr lang="tr-TR" i="1" dirty="0">
                <a:solidFill>
                  <a:srgbClr val="000000"/>
                </a:solidFill>
                <a:latin typeface="Arial" pitchFamily="34" charset="0"/>
              </a:rPr>
              <a:t>Html kod yapısı içerisinde yer alan bir diğer kod bloğu ise &lt;body&gt; olup, resim, yazı, video, tablo gibi </a:t>
            </a:r>
            <a:r>
              <a:rPr lang="tr-TR" i="1">
                <a:solidFill>
                  <a:srgbClr val="000000"/>
                </a:solidFill>
                <a:latin typeface="Arial" pitchFamily="34" charset="0"/>
              </a:rPr>
              <a:t>içeriğe ait tüm </a:t>
            </a:r>
            <a:r>
              <a:rPr lang="tr-TR" i="1" dirty="0">
                <a:solidFill>
                  <a:srgbClr val="000000"/>
                </a:solidFill>
                <a:latin typeface="Arial" pitchFamily="34" charset="0"/>
              </a:rPr>
              <a:t>bilgiler bu kod bloğu arasında verilir.</a:t>
            </a:r>
          </a:p>
        </p:txBody>
      </p:sp>
    </p:spTree>
    <p:extLst>
      <p:ext uri="{BB962C8B-B14F-4D97-AF65-F5344CB8AC3E}">
        <p14:creationId xmlns:p14="http://schemas.microsoft.com/office/powerpoint/2010/main" val="1679039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Metin Özelliklerinin Düzenlenmesi</a:t>
            </a:r>
            <a:endParaRPr lang="en-US" sz="3200" dirty="0"/>
          </a:p>
        </p:txBody>
      </p:sp>
      <p:sp>
        <p:nvSpPr>
          <p:cNvPr id="154627" name="Rectangle 3"/>
          <p:cNvSpPr>
            <a:spLocks noChangeArrowheads="1"/>
          </p:cNvSpPr>
          <p:nvPr/>
        </p:nvSpPr>
        <p:spPr bwMode="auto">
          <a:xfrm>
            <a:off x="0" y="876300"/>
            <a:ext cx="9144000" cy="2244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Bir web sayfasındaki yazının başlık türü &lt;h&gt; etiketi ile belirtilir. Bu etiket yanına 1’den 6’ya kadar sayı alır ve böylece yazı başlığının hangi derecede öneme sahip olduğu belirtilebilir.</a:t>
            </a:r>
          </a:p>
          <a:p>
            <a:pPr marL="514350" lvl="1" indent="-342900">
              <a:spcBef>
                <a:spcPct val="20000"/>
              </a:spcBef>
              <a:buClr>
                <a:srgbClr val="0066CC"/>
              </a:buClr>
              <a:buSzPct val="75000"/>
              <a:buFont typeface="Wingdings" panose="05000000000000000000" pitchFamily="2" charset="2"/>
              <a:buChar char="q"/>
            </a:pPr>
            <a:r>
              <a:rPr lang="tr-TR" i="1" dirty="0">
                <a:solidFill>
                  <a:srgbClr val="000000"/>
                </a:solidFill>
                <a:latin typeface="Arial" pitchFamily="34" charset="0"/>
              </a:rPr>
              <a:t>&lt;h&gt; etiketi 1 ile 6 arasında değer alır ve sayı arttıkça başlığın büyüklüğü azalmaktadır. Ters orantı söz konusudur.</a:t>
            </a:r>
          </a:p>
        </p:txBody>
      </p:sp>
      <p:pic>
        <p:nvPicPr>
          <p:cNvPr id="3" name="Resim 2">
            <a:extLst>
              <a:ext uri="{FF2B5EF4-FFF2-40B4-BE49-F238E27FC236}">
                <a16:creationId xmlns:a16="http://schemas.microsoft.com/office/drawing/2014/main" id="{BB2F6752-4209-43A5-882F-0763A756F772}"/>
              </a:ext>
            </a:extLst>
          </p:cNvPr>
          <p:cNvPicPr>
            <a:picLocks noChangeAspect="1"/>
          </p:cNvPicPr>
          <p:nvPr/>
        </p:nvPicPr>
        <p:blipFill>
          <a:blip r:embed="rId2"/>
          <a:stretch>
            <a:fillRect/>
          </a:stretch>
        </p:blipFill>
        <p:spPr>
          <a:xfrm>
            <a:off x="1339113" y="3429000"/>
            <a:ext cx="5844988" cy="2196353"/>
          </a:xfrm>
          <a:prstGeom prst="rect">
            <a:avLst/>
          </a:prstGeom>
        </p:spPr>
      </p:pic>
    </p:spTree>
    <p:extLst>
      <p:ext uri="{BB962C8B-B14F-4D97-AF65-F5344CB8AC3E}">
        <p14:creationId xmlns:p14="http://schemas.microsoft.com/office/powerpoint/2010/main" val="1803306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Metin Özelliklerinin Düzenlenmesi</a:t>
            </a:r>
            <a:endParaRPr lang="en-US" sz="3200" dirty="0"/>
          </a:p>
        </p:txBody>
      </p:sp>
      <p:sp>
        <p:nvSpPr>
          <p:cNvPr id="154627" name="Rectangle 3"/>
          <p:cNvSpPr>
            <a:spLocks noChangeArrowheads="1"/>
          </p:cNvSpPr>
          <p:nvPr/>
        </p:nvSpPr>
        <p:spPr bwMode="auto">
          <a:xfrm>
            <a:off x="0" y="876300"/>
            <a:ext cx="9144000" cy="3284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Metin içerisindeki yazıların vurguları için çoğunlukla koyu, altı çizili ve italik olmak üzere kullanılacak üç etiket vardır.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etiketler koyu için &lt;b&gt; , italik için &lt;i&gt; ve altı çizili için &lt;u&gt;’dur. </a:t>
            </a:r>
          </a:p>
          <a:p>
            <a:pPr marL="514350" lvl="1" indent="-342900">
              <a:spcBef>
                <a:spcPct val="20000"/>
              </a:spcBef>
              <a:buClr>
                <a:srgbClr val="0066CC"/>
              </a:buClr>
              <a:buSzPct val="75000"/>
              <a:buFont typeface="Wingdings" panose="05000000000000000000" pitchFamily="2" charset="2"/>
              <a:buChar char="q"/>
            </a:pPr>
            <a:r>
              <a:rPr lang="tr-TR" i="1" dirty="0" err="1">
                <a:solidFill>
                  <a:srgbClr val="000000"/>
                </a:solidFill>
                <a:latin typeface="Arial" pitchFamily="34" charset="0"/>
              </a:rPr>
              <a:t>Resim’deki</a:t>
            </a:r>
            <a:r>
              <a:rPr lang="tr-TR" i="1" dirty="0">
                <a:solidFill>
                  <a:srgbClr val="000000"/>
                </a:solidFill>
                <a:latin typeface="Arial" pitchFamily="34" charset="0"/>
              </a:rPr>
              <a:t> metni oluşturmak için önce başlık, sonra Türkiye yazısının koyu ve italik olması ve devamında gelen yazının ise koyu ve italik olmayıp altı çizili olması aşağıdaki şekilde kodlanmalıdır</a:t>
            </a:r>
          </a:p>
        </p:txBody>
      </p:sp>
      <p:pic>
        <p:nvPicPr>
          <p:cNvPr id="4" name="Resim 3">
            <a:extLst>
              <a:ext uri="{FF2B5EF4-FFF2-40B4-BE49-F238E27FC236}">
                <a16:creationId xmlns:a16="http://schemas.microsoft.com/office/drawing/2014/main" id="{5DF5514A-B3D7-45A1-A295-3564F7729A0A}"/>
              </a:ext>
            </a:extLst>
          </p:cNvPr>
          <p:cNvPicPr>
            <a:picLocks noChangeAspect="1"/>
          </p:cNvPicPr>
          <p:nvPr/>
        </p:nvPicPr>
        <p:blipFill>
          <a:blip r:embed="rId2"/>
          <a:stretch>
            <a:fillRect/>
          </a:stretch>
        </p:blipFill>
        <p:spPr>
          <a:xfrm>
            <a:off x="743166" y="4405454"/>
            <a:ext cx="7422776" cy="1855694"/>
          </a:xfrm>
          <a:prstGeom prst="rect">
            <a:avLst/>
          </a:prstGeom>
        </p:spPr>
      </p:pic>
    </p:spTree>
    <p:extLst>
      <p:ext uri="{BB962C8B-B14F-4D97-AF65-F5344CB8AC3E}">
        <p14:creationId xmlns:p14="http://schemas.microsoft.com/office/powerpoint/2010/main" val="2248636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Paragrafların Biçimlendirilmesi</a:t>
            </a:r>
            <a:endParaRPr lang="en-US" sz="3200" dirty="0"/>
          </a:p>
        </p:txBody>
      </p:sp>
      <p:sp>
        <p:nvSpPr>
          <p:cNvPr id="154627" name="Rectangle 3"/>
          <p:cNvSpPr>
            <a:spLocks noChangeArrowheads="1"/>
          </p:cNvSpPr>
          <p:nvPr/>
        </p:nvSpPr>
        <p:spPr bwMode="auto">
          <a:xfrm>
            <a:off x="0" y="876300"/>
            <a:ext cx="9144000" cy="3980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Paragrafların düzenlenmesi de yine kelime işlemci programlarından farklı bir şekilde olmaktadır.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html kodu yazarken on kez </a:t>
            </a:r>
            <a:r>
              <a:rPr lang="tr-TR" dirty="0" err="1">
                <a:solidFill>
                  <a:srgbClr val="000000"/>
                </a:solidFill>
                <a:latin typeface="Arial" pitchFamily="34" charset="0"/>
              </a:rPr>
              <a:t>enter</a:t>
            </a:r>
            <a:r>
              <a:rPr lang="tr-TR" dirty="0">
                <a:solidFill>
                  <a:srgbClr val="000000"/>
                </a:solidFill>
                <a:latin typeface="Arial" pitchFamily="34" charset="0"/>
              </a:rPr>
              <a:t> tuşuna basmak tarayıcıda on satır boşluk verilmesi anlamına gelmemektedir.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Bunun yerine ilgili kodu kullanmak gerekir.</a:t>
            </a:r>
          </a:p>
          <a:p>
            <a:pPr marL="514350" lvl="1" indent="-342900">
              <a:spcBef>
                <a:spcPct val="20000"/>
              </a:spcBef>
              <a:buClr>
                <a:srgbClr val="0066CC"/>
              </a:buClr>
              <a:buSzPct val="75000"/>
              <a:buFont typeface="Wingdings" panose="05000000000000000000" pitchFamily="2" charset="2"/>
              <a:buChar char="q"/>
            </a:pPr>
            <a:r>
              <a:rPr lang="tr-TR" i="1" dirty="0">
                <a:solidFill>
                  <a:srgbClr val="000000"/>
                </a:solidFill>
                <a:latin typeface="Arial" pitchFamily="34" charset="0"/>
              </a:rPr>
              <a:t>Web tasarımlarında sıklıkla kullanılan alt satıra geçiş işlemi için ilgili metnin sonrasına &lt;</a:t>
            </a:r>
            <a:r>
              <a:rPr lang="tr-TR" i="1" dirty="0" err="1">
                <a:solidFill>
                  <a:srgbClr val="000000"/>
                </a:solidFill>
                <a:latin typeface="Arial" pitchFamily="34" charset="0"/>
              </a:rPr>
              <a:t>br</a:t>
            </a:r>
            <a:r>
              <a:rPr lang="tr-TR" i="1" dirty="0">
                <a:solidFill>
                  <a:srgbClr val="000000"/>
                </a:solidFill>
                <a:latin typeface="Arial" pitchFamily="34" charset="0"/>
              </a:rPr>
              <a:t>&gt; etiketi kullanılmalıdır. </a:t>
            </a:r>
          </a:p>
          <a:p>
            <a:pPr marL="514350" lvl="1" indent="-342900">
              <a:spcBef>
                <a:spcPct val="20000"/>
              </a:spcBef>
              <a:buClr>
                <a:srgbClr val="0066CC"/>
              </a:buClr>
              <a:buSzPct val="75000"/>
              <a:buFont typeface="Wingdings" panose="05000000000000000000" pitchFamily="2" charset="2"/>
              <a:buChar char="q"/>
            </a:pPr>
            <a:r>
              <a:rPr lang="tr-TR" i="1" dirty="0">
                <a:solidFill>
                  <a:srgbClr val="000000"/>
                </a:solidFill>
                <a:latin typeface="Arial" pitchFamily="34" charset="0"/>
              </a:rPr>
              <a:t>“Açılan etiket kapatılmalıdır” kuralı bu etiket için geçerli değildir. Yani açılan &lt;</a:t>
            </a:r>
            <a:r>
              <a:rPr lang="tr-TR" i="1" dirty="0" err="1">
                <a:solidFill>
                  <a:srgbClr val="000000"/>
                </a:solidFill>
                <a:latin typeface="Arial" pitchFamily="34" charset="0"/>
              </a:rPr>
              <a:t>br</a:t>
            </a:r>
            <a:r>
              <a:rPr lang="tr-TR" i="1" dirty="0">
                <a:solidFill>
                  <a:srgbClr val="000000"/>
                </a:solidFill>
                <a:latin typeface="Arial" pitchFamily="34" charset="0"/>
              </a:rPr>
              <a:t>&gt; etiketi &lt;/</a:t>
            </a:r>
            <a:r>
              <a:rPr lang="tr-TR" i="1" dirty="0" err="1">
                <a:solidFill>
                  <a:srgbClr val="000000"/>
                </a:solidFill>
                <a:latin typeface="Arial" pitchFamily="34" charset="0"/>
              </a:rPr>
              <a:t>br</a:t>
            </a:r>
            <a:r>
              <a:rPr lang="tr-TR" i="1" dirty="0">
                <a:solidFill>
                  <a:srgbClr val="000000"/>
                </a:solidFill>
                <a:latin typeface="Arial" pitchFamily="34" charset="0"/>
              </a:rPr>
              <a:t>&gt; etiketi ile kapatılmaz. Ayrıca kaç satır boşluk verilecekse o kadar yazmak gerekir.</a:t>
            </a:r>
          </a:p>
        </p:txBody>
      </p:sp>
      <p:pic>
        <p:nvPicPr>
          <p:cNvPr id="3" name="Resim 2">
            <a:extLst>
              <a:ext uri="{FF2B5EF4-FFF2-40B4-BE49-F238E27FC236}">
                <a16:creationId xmlns:a16="http://schemas.microsoft.com/office/drawing/2014/main" id="{C7CA2BCF-D5DF-41DF-B8F9-AB190DC2DFCE}"/>
              </a:ext>
            </a:extLst>
          </p:cNvPr>
          <p:cNvPicPr>
            <a:picLocks noChangeAspect="1"/>
          </p:cNvPicPr>
          <p:nvPr/>
        </p:nvPicPr>
        <p:blipFill>
          <a:blip r:embed="rId2"/>
          <a:stretch>
            <a:fillRect/>
          </a:stretch>
        </p:blipFill>
        <p:spPr>
          <a:xfrm>
            <a:off x="860612" y="4930886"/>
            <a:ext cx="7422776" cy="1775012"/>
          </a:xfrm>
          <a:prstGeom prst="rect">
            <a:avLst/>
          </a:prstGeom>
        </p:spPr>
      </p:pic>
    </p:spTree>
    <p:extLst>
      <p:ext uri="{BB962C8B-B14F-4D97-AF65-F5344CB8AC3E}">
        <p14:creationId xmlns:p14="http://schemas.microsoft.com/office/powerpoint/2010/main" val="37149078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Paragrafların Biçimlendirilmesi</a:t>
            </a:r>
            <a:endParaRPr lang="en-US" sz="3200" dirty="0"/>
          </a:p>
        </p:txBody>
      </p:sp>
      <p:sp>
        <p:nvSpPr>
          <p:cNvPr id="154627" name="Rectangle 3"/>
          <p:cNvSpPr>
            <a:spLocks noChangeArrowheads="1"/>
          </p:cNvSpPr>
          <p:nvPr/>
        </p:nvSpPr>
        <p:spPr bwMode="auto">
          <a:xfrm>
            <a:off x="0" y="876299"/>
            <a:ext cx="9144000" cy="5650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Ayrıca yazılan metin bir paragraf ise bu metin &lt;p&gt; etiketi ile &lt;/p&gt; etiketi arasına yazılmalıdır.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durumda ilerleyen kısımda anlatılacak stil ayarı ile ilgili paragrafa atanacak bir özellik, tüm paragraf için etkili olacaktır.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Sonlandığı yerde gelen metin, satır başı olarak yazılır.</a:t>
            </a:r>
          </a:p>
          <a:p>
            <a:pPr marL="171450" lvl="1" algn="ctr">
              <a:spcBef>
                <a:spcPct val="20000"/>
              </a:spcBef>
              <a:buClr>
                <a:srgbClr val="0066CC"/>
              </a:buClr>
              <a:buSzPct val="75000"/>
            </a:pPr>
            <a:endParaRPr lang="tr-TR" i="1" dirty="0">
              <a:solidFill>
                <a:srgbClr val="000000"/>
              </a:solidFill>
              <a:latin typeface="Arial" pitchFamily="34" charset="0"/>
            </a:endParaRPr>
          </a:p>
          <a:p>
            <a:pPr marL="171450" lvl="1" algn="ctr">
              <a:spcBef>
                <a:spcPct val="20000"/>
              </a:spcBef>
              <a:buClr>
                <a:srgbClr val="0066CC"/>
              </a:buClr>
              <a:buSzPct val="75000"/>
            </a:pPr>
            <a:r>
              <a:rPr lang="tr-TR" i="1" dirty="0">
                <a:solidFill>
                  <a:srgbClr val="000000"/>
                </a:solidFill>
                <a:latin typeface="Arial" pitchFamily="34" charset="0"/>
              </a:rPr>
              <a:t>&lt;p&gt; Günümüz &lt;i&gt;dijital teknolojilerinden &lt;/i&gt; en önemlilerinden biri de </a:t>
            </a:r>
            <a:r>
              <a:rPr lang="tr-TR" i="1" dirty="0" err="1">
                <a:solidFill>
                  <a:srgbClr val="000000"/>
                </a:solidFill>
                <a:latin typeface="Arial" pitchFamily="34" charset="0"/>
              </a:rPr>
              <a:t>Tabletlerdir.Tabletler</a:t>
            </a:r>
            <a:r>
              <a:rPr lang="tr-TR" i="1" dirty="0">
                <a:solidFill>
                  <a:srgbClr val="000000"/>
                </a:solidFill>
                <a:latin typeface="Arial" pitchFamily="34" charset="0"/>
              </a:rPr>
              <a:t> özellikle çocuklar için…. Günümüzde fiyatları da oldukça ekonomik hale gelmiştir. &lt;/p&gt;</a:t>
            </a:r>
          </a:p>
        </p:txBody>
      </p:sp>
    </p:spTree>
    <p:extLst>
      <p:ext uri="{BB962C8B-B14F-4D97-AF65-F5344CB8AC3E}">
        <p14:creationId xmlns:p14="http://schemas.microsoft.com/office/powerpoint/2010/main" val="458742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Listelerin Oluşturulması</a:t>
            </a:r>
            <a:endParaRPr lang="en-US" sz="3200" dirty="0"/>
          </a:p>
        </p:txBody>
      </p:sp>
      <p:sp>
        <p:nvSpPr>
          <p:cNvPr id="154627" name="Rectangle 3"/>
          <p:cNvSpPr>
            <a:spLocks noChangeArrowheads="1"/>
          </p:cNvSpPr>
          <p:nvPr/>
        </p:nvSpPr>
        <p:spPr bwMode="auto">
          <a:xfrm>
            <a:off x="0" y="876300"/>
            <a:ext cx="9144000" cy="2840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Metinlerin sıralanması veya </a:t>
            </a:r>
            <a:r>
              <a:rPr lang="tr-TR" dirty="0" err="1">
                <a:solidFill>
                  <a:srgbClr val="000000"/>
                </a:solidFill>
                <a:latin typeface="Arial" pitchFamily="34" charset="0"/>
              </a:rPr>
              <a:t>kategorilenmesi</a:t>
            </a:r>
            <a:r>
              <a:rPr lang="tr-TR" dirty="0">
                <a:solidFill>
                  <a:srgbClr val="000000"/>
                </a:solidFill>
                <a:latin typeface="Arial" pitchFamily="34" charset="0"/>
              </a:rPr>
              <a:t> adına sıklıkla kullanılan seçeneklerden biri de listelerdir.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Sıralı listelerin (</a:t>
            </a:r>
            <a:r>
              <a:rPr lang="tr-TR" dirty="0" err="1">
                <a:solidFill>
                  <a:srgbClr val="000000"/>
                </a:solidFill>
                <a:latin typeface="Arial" pitchFamily="34" charset="0"/>
              </a:rPr>
              <a:t>ordered</a:t>
            </a:r>
            <a:r>
              <a:rPr lang="tr-TR" dirty="0">
                <a:solidFill>
                  <a:srgbClr val="000000"/>
                </a:solidFill>
                <a:latin typeface="Arial" pitchFamily="34" charset="0"/>
              </a:rPr>
              <a:t> </a:t>
            </a:r>
            <a:r>
              <a:rPr lang="tr-TR" dirty="0" err="1">
                <a:solidFill>
                  <a:srgbClr val="000000"/>
                </a:solidFill>
                <a:latin typeface="Arial" pitchFamily="34" charset="0"/>
              </a:rPr>
              <a:t>list</a:t>
            </a:r>
            <a:r>
              <a:rPr lang="tr-TR" dirty="0">
                <a:solidFill>
                  <a:srgbClr val="000000"/>
                </a:solidFill>
                <a:latin typeface="Arial" pitchFamily="34" charset="0"/>
              </a:rPr>
              <a:t>) ve sırasız listelerin (</a:t>
            </a:r>
            <a:r>
              <a:rPr lang="tr-TR" dirty="0" err="1">
                <a:solidFill>
                  <a:srgbClr val="000000"/>
                </a:solidFill>
                <a:latin typeface="Arial" pitchFamily="34" charset="0"/>
              </a:rPr>
              <a:t>unordered</a:t>
            </a:r>
            <a:r>
              <a:rPr lang="tr-TR" dirty="0">
                <a:solidFill>
                  <a:srgbClr val="000000"/>
                </a:solidFill>
                <a:latin typeface="Arial" pitchFamily="34" charset="0"/>
              </a:rPr>
              <a:t> </a:t>
            </a:r>
            <a:r>
              <a:rPr lang="tr-TR" dirty="0" err="1">
                <a:solidFill>
                  <a:srgbClr val="000000"/>
                </a:solidFill>
                <a:latin typeface="Arial" pitchFamily="34" charset="0"/>
              </a:rPr>
              <a:t>list</a:t>
            </a:r>
            <a:r>
              <a:rPr lang="tr-TR" dirty="0">
                <a:solidFill>
                  <a:srgbClr val="000000"/>
                </a:solidFill>
                <a:latin typeface="Arial" pitchFamily="34" charset="0"/>
              </a:rPr>
              <a:t>) oluşturulmasında İngilizce kelimelerinin baş harfleri olan &lt;ol&gt; ve &lt;</a:t>
            </a:r>
            <a:r>
              <a:rPr lang="tr-TR" dirty="0" err="1">
                <a:solidFill>
                  <a:srgbClr val="000000"/>
                </a:solidFill>
                <a:latin typeface="Arial" pitchFamily="34" charset="0"/>
              </a:rPr>
              <a:t>ul</a:t>
            </a:r>
            <a:r>
              <a:rPr lang="tr-TR" dirty="0">
                <a:solidFill>
                  <a:srgbClr val="000000"/>
                </a:solidFill>
                <a:latin typeface="Arial" pitchFamily="34" charset="0"/>
              </a:rPr>
              <a:t>&gt; etiketleri kullanılırken, maddelerin belirtilmesinde ise her ikisinde de &lt;</a:t>
            </a:r>
            <a:r>
              <a:rPr lang="tr-TR" dirty="0" err="1">
                <a:solidFill>
                  <a:srgbClr val="000000"/>
                </a:solidFill>
                <a:latin typeface="Arial" pitchFamily="34" charset="0"/>
              </a:rPr>
              <a:t>li</a:t>
            </a:r>
            <a:r>
              <a:rPr lang="tr-TR" dirty="0">
                <a:solidFill>
                  <a:srgbClr val="000000"/>
                </a:solidFill>
                <a:latin typeface="Arial" pitchFamily="34" charset="0"/>
              </a:rPr>
              <a:t>&gt; etiketi kullanılmakta ve nihai olarak hangi liste kullanılmışsa &lt;/ol&gt; veya &lt;/</a:t>
            </a:r>
            <a:r>
              <a:rPr lang="tr-TR" dirty="0" err="1">
                <a:solidFill>
                  <a:srgbClr val="000000"/>
                </a:solidFill>
                <a:latin typeface="Arial" pitchFamily="34" charset="0"/>
              </a:rPr>
              <a:t>ul</a:t>
            </a:r>
            <a:r>
              <a:rPr lang="tr-TR" dirty="0">
                <a:solidFill>
                  <a:srgbClr val="000000"/>
                </a:solidFill>
                <a:latin typeface="Arial" pitchFamily="34" charset="0"/>
              </a:rPr>
              <a:t>&gt; ile kapatılmalıdır.</a:t>
            </a:r>
          </a:p>
        </p:txBody>
      </p:sp>
      <p:pic>
        <p:nvPicPr>
          <p:cNvPr id="3" name="Resim 2">
            <a:extLst>
              <a:ext uri="{FF2B5EF4-FFF2-40B4-BE49-F238E27FC236}">
                <a16:creationId xmlns:a16="http://schemas.microsoft.com/office/drawing/2014/main" id="{43B85967-B10C-4564-B4E9-AE94557E13F5}"/>
              </a:ext>
            </a:extLst>
          </p:cNvPr>
          <p:cNvPicPr>
            <a:picLocks noChangeAspect="1"/>
          </p:cNvPicPr>
          <p:nvPr/>
        </p:nvPicPr>
        <p:blipFill>
          <a:blip r:embed="rId2"/>
          <a:stretch>
            <a:fillRect/>
          </a:stretch>
        </p:blipFill>
        <p:spPr>
          <a:xfrm>
            <a:off x="2623451" y="3789984"/>
            <a:ext cx="3729318" cy="2796988"/>
          </a:xfrm>
          <a:prstGeom prst="rect">
            <a:avLst/>
          </a:prstGeom>
        </p:spPr>
      </p:pic>
    </p:spTree>
    <p:extLst>
      <p:ext uri="{BB962C8B-B14F-4D97-AF65-F5344CB8AC3E}">
        <p14:creationId xmlns:p14="http://schemas.microsoft.com/office/powerpoint/2010/main" val="3021342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Listelerin Oluşturulması</a:t>
            </a:r>
            <a:endParaRPr lang="en-US" sz="3200" dirty="0"/>
          </a:p>
        </p:txBody>
      </p:sp>
      <p:sp>
        <p:nvSpPr>
          <p:cNvPr id="154627" name="Rectangle 3"/>
          <p:cNvSpPr>
            <a:spLocks noChangeArrowheads="1"/>
          </p:cNvSpPr>
          <p:nvPr/>
        </p:nvSpPr>
        <p:spPr bwMode="auto">
          <a:xfrm>
            <a:off x="0" y="876300"/>
            <a:ext cx="9144000" cy="567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Standart olarak sıralı listeler için 1, 2, 3, sırasız listeler içinse • işareti kullanılmaktadır.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Ancak &lt;ol&gt; ve &lt;</a:t>
            </a:r>
            <a:r>
              <a:rPr lang="tr-TR" dirty="0" err="1">
                <a:solidFill>
                  <a:srgbClr val="000000"/>
                </a:solidFill>
                <a:latin typeface="Arial" pitchFamily="34" charset="0"/>
              </a:rPr>
              <a:t>ul</a:t>
            </a:r>
            <a:r>
              <a:rPr lang="tr-TR" dirty="0">
                <a:solidFill>
                  <a:srgbClr val="000000"/>
                </a:solidFill>
                <a:latin typeface="Arial" pitchFamily="34" charset="0"/>
              </a:rPr>
              <a:t>&gt; etiketlerinin içerisine kullanılacak </a:t>
            </a:r>
            <a:r>
              <a:rPr lang="tr-TR" dirty="0" err="1">
                <a:solidFill>
                  <a:srgbClr val="000000"/>
                </a:solidFill>
                <a:latin typeface="Arial" pitchFamily="34" charset="0"/>
              </a:rPr>
              <a:t>type</a:t>
            </a:r>
            <a:r>
              <a:rPr lang="tr-TR" dirty="0">
                <a:solidFill>
                  <a:srgbClr val="000000"/>
                </a:solidFill>
                <a:latin typeface="Arial" pitchFamily="34" charset="0"/>
              </a:rPr>
              <a:t> parametresi ile bu seçenekler değiştirilebilmektedir.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&lt;ol </a:t>
            </a:r>
            <a:r>
              <a:rPr lang="tr-TR" dirty="0" err="1">
                <a:solidFill>
                  <a:srgbClr val="000000"/>
                </a:solidFill>
                <a:latin typeface="Arial" pitchFamily="34" charset="0"/>
              </a:rPr>
              <a:t>type</a:t>
            </a:r>
            <a:r>
              <a:rPr lang="tr-TR" dirty="0">
                <a:solidFill>
                  <a:srgbClr val="000000"/>
                </a:solidFill>
                <a:latin typeface="Arial" pitchFamily="34" charset="0"/>
              </a:rPr>
              <a:t>=“a”&gt; şeklinde bir atama ile gösterim değiştirilebilir. Bu durumda </a:t>
            </a:r>
            <a:r>
              <a:rPr lang="tr-TR" dirty="0" err="1">
                <a:solidFill>
                  <a:srgbClr val="000000"/>
                </a:solidFill>
                <a:latin typeface="Arial" pitchFamily="34" charset="0"/>
              </a:rPr>
              <a:t>type</a:t>
            </a:r>
            <a:r>
              <a:rPr lang="tr-TR" dirty="0">
                <a:solidFill>
                  <a:srgbClr val="000000"/>
                </a:solidFill>
                <a:latin typeface="Arial" pitchFamily="34" charset="0"/>
              </a:rPr>
              <a:t> için atanabilecek değerler A, a, 1, i, I şeklinde herhangi bir değer olabilir.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Benzer şekilde sırasız listeler için de </a:t>
            </a:r>
            <a:r>
              <a:rPr lang="tr-TR" dirty="0" err="1">
                <a:solidFill>
                  <a:srgbClr val="000000"/>
                </a:solidFill>
                <a:latin typeface="Arial" pitchFamily="34" charset="0"/>
              </a:rPr>
              <a:t>type</a:t>
            </a:r>
            <a:r>
              <a:rPr lang="tr-TR" dirty="0">
                <a:solidFill>
                  <a:srgbClr val="000000"/>
                </a:solidFill>
                <a:latin typeface="Arial" pitchFamily="34" charset="0"/>
              </a:rPr>
              <a:t> parametresi ile değer atanabilmektedir. &lt;</a:t>
            </a:r>
            <a:r>
              <a:rPr lang="tr-TR" dirty="0" err="1">
                <a:solidFill>
                  <a:srgbClr val="000000"/>
                </a:solidFill>
                <a:latin typeface="Arial" pitchFamily="34" charset="0"/>
              </a:rPr>
              <a:t>ul</a:t>
            </a:r>
            <a:r>
              <a:rPr lang="tr-TR" dirty="0">
                <a:solidFill>
                  <a:srgbClr val="000000"/>
                </a:solidFill>
                <a:latin typeface="Arial" pitchFamily="34" charset="0"/>
              </a:rPr>
              <a:t>&gt; etiketinin </a:t>
            </a:r>
            <a:r>
              <a:rPr lang="tr-TR" dirty="0" err="1">
                <a:solidFill>
                  <a:srgbClr val="000000"/>
                </a:solidFill>
                <a:latin typeface="Arial" pitchFamily="34" charset="0"/>
              </a:rPr>
              <a:t>type</a:t>
            </a:r>
            <a:r>
              <a:rPr lang="tr-TR" dirty="0">
                <a:solidFill>
                  <a:srgbClr val="000000"/>
                </a:solidFill>
                <a:latin typeface="Arial" pitchFamily="34" charset="0"/>
              </a:rPr>
              <a:t> parametresi ise disk, </a:t>
            </a:r>
            <a:r>
              <a:rPr lang="tr-TR" dirty="0" err="1">
                <a:solidFill>
                  <a:srgbClr val="000000"/>
                </a:solidFill>
                <a:latin typeface="Arial" pitchFamily="34" charset="0"/>
              </a:rPr>
              <a:t>circle</a:t>
            </a:r>
            <a:r>
              <a:rPr lang="tr-TR" dirty="0">
                <a:solidFill>
                  <a:srgbClr val="000000"/>
                </a:solidFill>
                <a:latin typeface="Arial" pitchFamily="34" charset="0"/>
              </a:rPr>
              <a:t> ve </a:t>
            </a:r>
            <a:r>
              <a:rPr lang="tr-TR" dirty="0" err="1">
                <a:solidFill>
                  <a:srgbClr val="000000"/>
                </a:solidFill>
                <a:latin typeface="Arial" pitchFamily="34" charset="0"/>
              </a:rPr>
              <a:t>square’dir</a:t>
            </a:r>
            <a:r>
              <a:rPr lang="tr-TR" dirty="0">
                <a:solidFill>
                  <a:srgbClr val="000000"/>
                </a:solidFill>
                <a:latin typeface="Arial" pitchFamily="34" charset="0"/>
              </a:rPr>
              <a:t>.</a:t>
            </a:r>
          </a:p>
        </p:txBody>
      </p:sp>
    </p:spTree>
    <p:extLst>
      <p:ext uri="{BB962C8B-B14F-4D97-AF65-F5344CB8AC3E}">
        <p14:creationId xmlns:p14="http://schemas.microsoft.com/office/powerpoint/2010/main" val="9881669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Listelerin Oluşturulması</a:t>
            </a:r>
            <a:endParaRPr lang="en-US" sz="3200" dirty="0"/>
          </a:p>
        </p:txBody>
      </p:sp>
      <p:sp>
        <p:nvSpPr>
          <p:cNvPr id="154627" name="Rectangle 3"/>
          <p:cNvSpPr>
            <a:spLocks noChangeArrowheads="1"/>
          </p:cNvSpPr>
          <p:nvPr/>
        </p:nvSpPr>
        <p:spPr bwMode="auto">
          <a:xfrm>
            <a:off x="0" y="876300"/>
            <a:ext cx="9144000" cy="1044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Sıralı ve sırasız liste kullanım örnekleri</a:t>
            </a:r>
          </a:p>
        </p:txBody>
      </p:sp>
      <p:pic>
        <p:nvPicPr>
          <p:cNvPr id="3" name="Resim 2">
            <a:extLst>
              <a:ext uri="{FF2B5EF4-FFF2-40B4-BE49-F238E27FC236}">
                <a16:creationId xmlns:a16="http://schemas.microsoft.com/office/drawing/2014/main" id="{A01B1A52-1BF9-4690-9E7A-C539B44F8387}"/>
              </a:ext>
            </a:extLst>
          </p:cNvPr>
          <p:cNvPicPr>
            <a:picLocks noChangeAspect="1"/>
          </p:cNvPicPr>
          <p:nvPr/>
        </p:nvPicPr>
        <p:blipFill>
          <a:blip r:embed="rId2"/>
          <a:stretch>
            <a:fillRect/>
          </a:stretch>
        </p:blipFill>
        <p:spPr>
          <a:xfrm>
            <a:off x="1095339" y="1921079"/>
            <a:ext cx="6382871" cy="4661647"/>
          </a:xfrm>
          <a:prstGeom prst="rect">
            <a:avLst/>
          </a:prstGeom>
        </p:spPr>
      </p:pic>
    </p:spTree>
    <p:extLst>
      <p:ext uri="{BB962C8B-B14F-4D97-AF65-F5344CB8AC3E}">
        <p14:creationId xmlns:p14="http://schemas.microsoft.com/office/powerpoint/2010/main" val="139323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Listelerin Oluşturulması</a:t>
            </a:r>
            <a:endParaRPr lang="en-US" sz="3200" dirty="0"/>
          </a:p>
        </p:txBody>
      </p:sp>
      <p:sp>
        <p:nvSpPr>
          <p:cNvPr id="154627" name="Rectangle 3"/>
          <p:cNvSpPr>
            <a:spLocks noChangeArrowheads="1"/>
          </p:cNvSpPr>
          <p:nvPr/>
        </p:nvSpPr>
        <p:spPr bwMode="auto">
          <a:xfrm>
            <a:off x="0" y="876300"/>
            <a:ext cx="9144000" cy="1380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Bazı durumlarda ise iç içe listelerin kullanılması gerekir. Bu durumda &lt;</a:t>
            </a:r>
            <a:r>
              <a:rPr lang="tr-TR" dirty="0" err="1">
                <a:solidFill>
                  <a:srgbClr val="000000"/>
                </a:solidFill>
                <a:latin typeface="Arial" pitchFamily="34" charset="0"/>
              </a:rPr>
              <a:t>li</a:t>
            </a:r>
            <a:r>
              <a:rPr lang="tr-TR" dirty="0">
                <a:solidFill>
                  <a:srgbClr val="000000"/>
                </a:solidFill>
                <a:latin typeface="Arial" pitchFamily="34" charset="0"/>
              </a:rPr>
              <a:t>&gt; etiketinin içerisinde yeniden &lt;</a:t>
            </a:r>
            <a:r>
              <a:rPr lang="tr-TR" dirty="0" err="1">
                <a:solidFill>
                  <a:srgbClr val="000000"/>
                </a:solidFill>
                <a:latin typeface="Arial" pitchFamily="34" charset="0"/>
              </a:rPr>
              <a:t>ul</a:t>
            </a:r>
            <a:r>
              <a:rPr lang="tr-TR" dirty="0">
                <a:solidFill>
                  <a:srgbClr val="000000"/>
                </a:solidFill>
                <a:latin typeface="Arial" pitchFamily="34" charset="0"/>
              </a:rPr>
              <a:t>&gt; veya &lt;ol&gt; etiketleri ile &lt;</a:t>
            </a:r>
            <a:r>
              <a:rPr lang="tr-TR" dirty="0" err="1">
                <a:solidFill>
                  <a:srgbClr val="000000"/>
                </a:solidFill>
                <a:latin typeface="Arial" pitchFamily="34" charset="0"/>
              </a:rPr>
              <a:t>li</a:t>
            </a:r>
            <a:r>
              <a:rPr lang="tr-TR" dirty="0">
                <a:solidFill>
                  <a:srgbClr val="000000"/>
                </a:solidFill>
                <a:latin typeface="Arial" pitchFamily="34" charset="0"/>
              </a:rPr>
              <a:t>&gt; etiketini yeniden kullanmak yeterli olacaktır.</a:t>
            </a:r>
          </a:p>
        </p:txBody>
      </p:sp>
      <p:pic>
        <p:nvPicPr>
          <p:cNvPr id="4" name="Resim 3">
            <a:extLst>
              <a:ext uri="{FF2B5EF4-FFF2-40B4-BE49-F238E27FC236}">
                <a16:creationId xmlns:a16="http://schemas.microsoft.com/office/drawing/2014/main" id="{EF70B178-3276-4798-A7DB-8C23C65FD998}"/>
              </a:ext>
            </a:extLst>
          </p:cNvPr>
          <p:cNvPicPr>
            <a:picLocks noChangeAspect="1"/>
          </p:cNvPicPr>
          <p:nvPr/>
        </p:nvPicPr>
        <p:blipFill>
          <a:blip r:embed="rId2"/>
          <a:stretch>
            <a:fillRect/>
          </a:stretch>
        </p:blipFill>
        <p:spPr>
          <a:xfrm>
            <a:off x="1544397" y="2819173"/>
            <a:ext cx="5199529" cy="1990165"/>
          </a:xfrm>
          <a:prstGeom prst="rect">
            <a:avLst/>
          </a:prstGeom>
        </p:spPr>
      </p:pic>
    </p:spTree>
    <p:extLst>
      <p:ext uri="{BB962C8B-B14F-4D97-AF65-F5344CB8AC3E}">
        <p14:creationId xmlns:p14="http://schemas.microsoft.com/office/powerpoint/2010/main" val="2842954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Köprü ve Bağlantıların Kurulması</a:t>
            </a:r>
            <a:endParaRPr lang="en-US" sz="3200" dirty="0"/>
          </a:p>
        </p:txBody>
      </p:sp>
      <p:sp>
        <p:nvSpPr>
          <p:cNvPr id="154627" name="Rectangle 3"/>
          <p:cNvSpPr>
            <a:spLocks noChangeArrowheads="1"/>
          </p:cNvSpPr>
          <p:nvPr/>
        </p:nvSpPr>
        <p:spPr bwMode="auto">
          <a:xfrm>
            <a:off x="0" y="876300"/>
            <a:ext cx="9144000" cy="5658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Köprü veya diğer adı ile link verme html sayfa tasarımlarında kullanılan en önemli özelliklerden biridir.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kapsamda herhangi bir metin veya resme tıklanması durumunda yeni bir sayfanın açılması, sayfanın yeniden yüklenmesi, resim, ses veya video dosyalarının açılması sağlanabilir.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kapsamda kullanılması gereken etiket &lt;a </a:t>
            </a:r>
            <a:r>
              <a:rPr lang="tr-TR" dirty="0" err="1">
                <a:solidFill>
                  <a:srgbClr val="000000"/>
                </a:solidFill>
                <a:latin typeface="Arial" pitchFamily="34" charset="0"/>
              </a:rPr>
              <a:t>href</a:t>
            </a:r>
            <a:r>
              <a:rPr lang="tr-TR" dirty="0">
                <a:solidFill>
                  <a:srgbClr val="000000"/>
                </a:solidFill>
                <a:latin typeface="Arial" pitchFamily="34" charset="0"/>
              </a:rPr>
              <a:t>=”....”&gt;...&lt;/a&gt; etiketidir.</a:t>
            </a:r>
          </a:p>
        </p:txBody>
      </p:sp>
    </p:spTree>
    <p:extLst>
      <p:ext uri="{BB962C8B-B14F-4D97-AF65-F5344CB8AC3E}">
        <p14:creationId xmlns:p14="http://schemas.microsoft.com/office/powerpoint/2010/main" val="3918804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Köprü ve Bağlantıların Kurulması</a:t>
            </a:r>
            <a:endParaRPr lang="en-US" sz="3200" dirty="0"/>
          </a:p>
        </p:txBody>
      </p:sp>
      <p:sp>
        <p:nvSpPr>
          <p:cNvPr id="154627" name="Rectangle 3"/>
          <p:cNvSpPr>
            <a:spLocks noChangeArrowheads="1"/>
          </p:cNvSpPr>
          <p:nvPr/>
        </p:nvSpPr>
        <p:spPr bwMode="auto">
          <a:xfrm>
            <a:off x="0" y="876300"/>
            <a:ext cx="9144000" cy="3251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Genel kullanım şekli itibari ile </a:t>
            </a:r>
            <a:r>
              <a:rPr lang="tr-TR" dirty="0" err="1">
                <a:solidFill>
                  <a:srgbClr val="000000"/>
                </a:solidFill>
                <a:latin typeface="Arial" pitchFamily="34" charset="0"/>
              </a:rPr>
              <a:t>href</a:t>
            </a:r>
            <a:r>
              <a:rPr lang="tr-TR" dirty="0">
                <a:solidFill>
                  <a:srgbClr val="000000"/>
                </a:solidFill>
                <a:latin typeface="Arial" pitchFamily="34" charset="0"/>
              </a:rPr>
              <a:t> parametresinden sonra açılması istenen sayfa veya resmin adresi eklenilmelidir.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Ayrıca &lt;a </a:t>
            </a:r>
            <a:r>
              <a:rPr lang="tr-TR" dirty="0" err="1">
                <a:solidFill>
                  <a:srgbClr val="000000"/>
                </a:solidFill>
                <a:latin typeface="Arial" pitchFamily="34" charset="0"/>
              </a:rPr>
              <a:t>href</a:t>
            </a:r>
            <a:r>
              <a:rPr lang="tr-TR" dirty="0">
                <a:solidFill>
                  <a:srgbClr val="000000"/>
                </a:solidFill>
                <a:latin typeface="Arial" pitchFamily="34" charset="0"/>
              </a:rPr>
              <a:t>=”anasayfa.html”&gt;Ana Sayfaya Dön &lt;/a&gt; şeklindeki kullanımda ekranda yazacak bilgi Ana Sayfaya Dön şeklinde altı çizili ve mavi bir yazıdır.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kullanımda tarayıcı otomatik olarak bu gösterimi kullanıcı adına sunar ve üzerine gelince fare işareti tıklanabileceğini gösterir. </a:t>
            </a:r>
          </a:p>
        </p:txBody>
      </p:sp>
      <p:pic>
        <p:nvPicPr>
          <p:cNvPr id="3" name="Resim 2">
            <a:extLst>
              <a:ext uri="{FF2B5EF4-FFF2-40B4-BE49-F238E27FC236}">
                <a16:creationId xmlns:a16="http://schemas.microsoft.com/office/drawing/2014/main" id="{B05B7440-21AF-49AE-A661-490BD27AD2BD}"/>
              </a:ext>
            </a:extLst>
          </p:cNvPr>
          <p:cNvPicPr>
            <a:picLocks noChangeAspect="1"/>
          </p:cNvPicPr>
          <p:nvPr/>
        </p:nvPicPr>
        <p:blipFill>
          <a:blip r:embed="rId2"/>
          <a:stretch>
            <a:fillRect/>
          </a:stretch>
        </p:blipFill>
        <p:spPr>
          <a:xfrm>
            <a:off x="575221" y="4340974"/>
            <a:ext cx="8211671" cy="2034988"/>
          </a:xfrm>
          <a:prstGeom prst="rect">
            <a:avLst/>
          </a:prstGeom>
        </p:spPr>
      </p:pic>
    </p:spTree>
    <p:extLst>
      <p:ext uri="{BB962C8B-B14F-4D97-AF65-F5344CB8AC3E}">
        <p14:creationId xmlns:p14="http://schemas.microsoft.com/office/powerpoint/2010/main" val="4216380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Köprü ve Bağlantıların Kurulması</a:t>
            </a:r>
            <a:endParaRPr lang="en-US" sz="3200" dirty="0"/>
          </a:p>
        </p:txBody>
      </p:sp>
      <p:sp>
        <p:nvSpPr>
          <p:cNvPr id="154627" name="Rectangle 3"/>
          <p:cNvSpPr>
            <a:spLocks noChangeArrowheads="1"/>
          </p:cNvSpPr>
          <p:nvPr/>
        </p:nvSpPr>
        <p:spPr bwMode="auto">
          <a:xfrm>
            <a:off x="0" y="876300"/>
            <a:ext cx="9144000" cy="3251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Link sadece web sayfalarına verilmekle sınırlı olmayıp, istenirse </a:t>
            </a:r>
            <a:r>
              <a:rPr lang="tr-TR" dirty="0" err="1">
                <a:solidFill>
                  <a:srgbClr val="000000"/>
                </a:solidFill>
                <a:latin typeface="Arial" pitchFamily="34" charset="0"/>
              </a:rPr>
              <a:t>href</a:t>
            </a:r>
            <a:r>
              <a:rPr lang="tr-TR" dirty="0">
                <a:solidFill>
                  <a:srgbClr val="000000"/>
                </a:solidFill>
                <a:latin typeface="Arial" pitchFamily="34" charset="0"/>
              </a:rPr>
              <a:t> parametresinden sonra resim, müzik vb. dosyalara da link verilebilir.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durumda ilgili medya öğesi açılacaktır</a:t>
            </a:r>
          </a:p>
        </p:txBody>
      </p:sp>
      <p:pic>
        <p:nvPicPr>
          <p:cNvPr id="4" name="Resim 3">
            <a:extLst>
              <a:ext uri="{FF2B5EF4-FFF2-40B4-BE49-F238E27FC236}">
                <a16:creationId xmlns:a16="http://schemas.microsoft.com/office/drawing/2014/main" id="{33B065A3-4658-456C-A428-14F0344AA071}"/>
              </a:ext>
            </a:extLst>
          </p:cNvPr>
          <p:cNvPicPr>
            <a:picLocks noChangeAspect="1"/>
          </p:cNvPicPr>
          <p:nvPr/>
        </p:nvPicPr>
        <p:blipFill>
          <a:blip r:embed="rId2"/>
          <a:stretch>
            <a:fillRect/>
          </a:stretch>
        </p:blipFill>
        <p:spPr>
          <a:xfrm>
            <a:off x="954536" y="3270020"/>
            <a:ext cx="6849035" cy="2599765"/>
          </a:xfrm>
          <a:prstGeom prst="rect">
            <a:avLst/>
          </a:prstGeom>
        </p:spPr>
      </p:pic>
    </p:spTree>
    <p:extLst>
      <p:ext uri="{BB962C8B-B14F-4D97-AF65-F5344CB8AC3E}">
        <p14:creationId xmlns:p14="http://schemas.microsoft.com/office/powerpoint/2010/main" val="1880766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Köprü ve Bağlantıların Kurulması</a:t>
            </a:r>
            <a:endParaRPr lang="en-US" sz="3200" dirty="0"/>
          </a:p>
        </p:txBody>
      </p:sp>
      <p:sp>
        <p:nvSpPr>
          <p:cNvPr id="154627" name="Rectangle 3"/>
          <p:cNvSpPr>
            <a:spLocks noChangeArrowheads="1"/>
          </p:cNvSpPr>
          <p:nvPr/>
        </p:nvSpPr>
        <p:spPr bwMode="auto">
          <a:xfrm>
            <a:off x="0" y="876300"/>
            <a:ext cx="9144000" cy="570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Burada özellikle vurgulanması gereken bir diğer konu ise hedefin konumudur. Web tasarımında genellikle düzen sağlama adına müzikler, resimler alt klasörler içerisinde saklanır.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Dolayısı ile index.html gibi bir dosya kök dizinde yer alırken, zorunlu olmamakla birlikte düzeni sağlama açısından, resim dosyaları, fotolar, </a:t>
            </a:r>
            <a:r>
              <a:rPr lang="tr-TR" dirty="0" err="1">
                <a:solidFill>
                  <a:srgbClr val="000000"/>
                </a:solidFill>
                <a:latin typeface="Arial" pitchFamily="34" charset="0"/>
              </a:rPr>
              <a:t>pictures</a:t>
            </a:r>
            <a:r>
              <a:rPr lang="tr-TR" dirty="0">
                <a:solidFill>
                  <a:srgbClr val="000000"/>
                </a:solidFill>
                <a:latin typeface="Arial" pitchFamily="34" charset="0"/>
              </a:rPr>
              <a:t>, ses dosyaları ise sesler, </a:t>
            </a:r>
            <a:r>
              <a:rPr lang="tr-TR" dirty="0" err="1">
                <a:solidFill>
                  <a:srgbClr val="000000"/>
                </a:solidFill>
                <a:latin typeface="Arial" pitchFamily="34" charset="0"/>
              </a:rPr>
              <a:t>sounds</a:t>
            </a:r>
            <a:r>
              <a:rPr lang="tr-TR" dirty="0">
                <a:solidFill>
                  <a:srgbClr val="000000"/>
                </a:solidFill>
                <a:latin typeface="Arial" pitchFamily="34" charset="0"/>
              </a:rPr>
              <a:t>, </a:t>
            </a:r>
            <a:r>
              <a:rPr lang="tr-TR" dirty="0" err="1">
                <a:solidFill>
                  <a:srgbClr val="000000"/>
                </a:solidFill>
                <a:latin typeface="Arial" pitchFamily="34" charset="0"/>
              </a:rPr>
              <a:t>muzikler</a:t>
            </a:r>
            <a:r>
              <a:rPr lang="tr-TR" dirty="0">
                <a:solidFill>
                  <a:srgbClr val="000000"/>
                </a:solidFill>
                <a:latin typeface="Arial" pitchFamily="34" charset="0"/>
              </a:rPr>
              <a:t> gibi klasörler içerisinde tutulur.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durumda sizin html dosyanızın bulunduğu kök dizinin içerisinde resimler isimli klasör dosyasında balik.jpg dosyamızın olduğunu varsayalım ve bu dosyaya link verelim. Bu senaryoda link komutu aşağıdaki şekilde olacaktır.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171450" lvl="1" algn="ctr">
              <a:spcBef>
                <a:spcPct val="20000"/>
              </a:spcBef>
              <a:buClr>
                <a:srgbClr val="0066CC"/>
              </a:buClr>
              <a:buSzPct val="75000"/>
            </a:pPr>
            <a:r>
              <a:rPr lang="tr-TR" i="1" dirty="0">
                <a:solidFill>
                  <a:srgbClr val="000000"/>
                </a:solidFill>
                <a:latin typeface="Arial" pitchFamily="34" charset="0"/>
              </a:rPr>
              <a:t>Bu canlılardan biri de &lt;a </a:t>
            </a:r>
            <a:r>
              <a:rPr lang="tr-TR" i="1" dirty="0" err="1">
                <a:solidFill>
                  <a:srgbClr val="000000"/>
                </a:solidFill>
                <a:latin typeface="Arial" pitchFamily="34" charset="0"/>
              </a:rPr>
              <a:t>href</a:t>
            </a:r>
            <a:r>
              <a:rPr lang="tr-TR" i="1" dirty="0">
                <a:solidFill>
                  <a:srgbClr val="000000"/>
                </a:solidFill>
                <a:latin typeface="Arial" pitchFamily="34" charset="0"/>
              </a:rPr>
              <a:t>=”resimler/balik.jpg”&gt;balıklardır. &lt;/a&gt;</a:t>
            </a:r>
          </a:p>
        </p:txBody>
      </p:sp>
    </p:spTree>
    <p:extLst>
      <p:ext uri="{BB962C8B-B14F-4D97-AF65-F5344CB8AC3E}">
        <p14:creationId xmlns:p14="http://schemas.microsoft.com/office/powerpoint/2010/main" val="7597220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Metinlerde Stil Kullanımı</a:t>
            </a:r>
            <a:endParaRPr lang="en-US" sz="3200" dirty="0"/>
          </a:p>
        </p:txBody>
      </p:sp>
      <p:sp>
        <p:nvSpPr>
          <p:cNvPr id="154627" name="Rectangle 3"/>
          <p:cNvSpPr>
            <a:spLocks noChangeArrowheads="1"/>
          </p:cNvSpPr>
          <p:nvPr/>
        </p:nvSpPr>
        <p:spPr bwMode="auto">
          <a:xfrm>
            <a:off x="0" y="876300"/>
            <a:ext cx="9144000" cy="570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Stil (</a:t>
            </a:r>
            <a:r>
              <a:rPr lang="tr-TR" dirty="0" err="1">
                <a:solidFill>
                  <a:srgbClr val="000000"/>
                </a:solidFill>
                <a:latin typeface="Arial" pitchFamily="34" charset="0"/>
              </a:rPr>
              <a:t>style</a:t>
            </a:r>
            <a:r>
              <a:rPr lang="tr-TR" dirty="0">
                <a:solidFill>
                  <a:srgbClr val="000000"/>
                </a:solidFill>
                <a:latin typeface="Arial" pitchFamily="34" charset="0"/>
              </a:rPr>
              <a:t>) web sayfalarında nesnelerin biçimlendirilmesi işlemidir.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Html’de bütün sayfa için yapılması planlanan değişiklikler &lt;body&gt; etiketi içerisine parametreler ekleyerek gerçekleştirilmektedir.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bir sayfada kullanılacak zemin rengi sarı olsun şeklinde bir ayarlama yapılmak istenirse bu durumda aşağıdaki şekilde &lt;body&gt; etiketi kullanılmalıdır.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Hatta herhangi bir resim dosyası da arka plana background parametresi ile aşağıdaki şekilde eklenebilmektedir.</a:t>
            </a:r>
          </a:p>
          <a:p>
            <a:pPr marL="171450" lvl="1" algn="ctr">
              <a:spcBef>
                <a:spcPct val="20000"/>
              </a:spcBef>
              <a:buClr>
                <a:srgbClr val="0066CC"/>
              </a:buClr>
              <a:buSzPct val="75000"/>
            </a:pPr>
            <a:r>
              <a:rPr lang="tr-TR" i="1" dirty="0">
                <a:solidFill>
                  <a:srgbClr val="000000"/>
                </a:solidFill>
                <a:latin typeface="Arial" pitchFamily="34" charset="0"/>
              </a:rPr>
              <a:t>&lt;body </a:t>
            </a:r>
            <a:r>
              <a:rPr lang="tr-TR" i="1" dirty="0" err="1">
                <a:solidFill>
                  <a:srgbClr val="000000"/>
                </a:solidFill>
                <a:latin typeface="Arial" pitchFamily="34" charset="0"/>
              </a:rPr>
              <a:t>bgcolor</a:t>
            </a:r>
            <a:r>
              <a:rPr lang="tr-TR" i="1" dirty="0">
                <a:solidFill>
                  <a:srgbClr val="000000"/>
                </a:solidFill>
                <a:latin typeface="Arial" pitchFamily="34" charset="0"/>
              </a:rPr>
              <a:t>=”#FFFF00” background=”</a:t>
            </a:r>
            <a:r>
              <a:rPr lang="tr-TR" i="1" dirty="0" err="1">
                <a:solidFill>
                  <a:srgbClr val="000000"/>
                </a:solidFill>
                <a:latin typeface="Arial" pitchFamily="34" charset="0"/>
              </a:rPr>
              <a:t>balik</a:t>
            </a:r>
            <a:r>
              <a:rPr lang="tr-TR" i="1" dirty="0">
                <a:solidFill>
                  <a:srgbClr val="000000"/>
                </a:solidFill>
                <a:latin typeface="Arial" pitchFamily="34" charset="0"/>
              </a:rPr>
              <a:t>.</a:t>
            </a:r>
          </a:p>
          <a:p>
            <a:pPr marL="171450" lvl="1" algn="ctr">
              <a:spcBef>
                <a:spcPct val="20000"/>
              </a:spcBef>
              <a:buClr>
                <a:srgbClr val="0066CC"/>
              </a:buClr>
              <a:buSzPct val="75000"/>
            </a:pPr>
            <a:r>
              <a:rPr lang="tr-TR" i="1" dirty="0" err="1">
                <a:solidFill>
                  <a:srgbClr val="000000"/>
                </a:solidFill>
                <a:latin typeface="Arial" pitchFamily="34" charset="0"/>
              </a:rPr>
              <a:t>jpg</a:t>
            </a:r>
            <a:r>
              <a:rPr lang="tr-TR" i="1" dirty="0">
                <a:solidFill>
                  <a:srgbClr val="000000"/>
                </a:solidFill>
                <a:latin typeface="Arial" pitchFamily="34" charset="0"/>
              </a:rPr>
              <a:t>”&gt;</a:t>
            </a:r>
          </a:p>
          <a:p>
            <a:pPr marL="171450" lvl="1" algn="ctr">
              <a:spcBef>
                <a:spcPct val="20000"/>
              </a:spcBef>
              <a:buClr>
                <a:srgbClr val="0066CC"/>
              </a:buClr>
              <a:buSzPct val="75000"/>
            </a:pPr>
            <a:r>
              <a:rPr lang="tr-TR" i="1" dirty="0">
                <a:solidFill>
                  <a:srgbClr val="000000"/>
                </a:solidFill>
                <a:latin typeface="Arial" pitchFamily="34" charset="0"/>
              </a:rPr>
              <a:t>İçerik</a:t>
            </a:r>
          </a:p>
          <a:p>
            <a:pPr marL="171450" lvl="1" algn="ctr">
              <a:spcBef>
                <a:spcPct val="20000"/>
              </a:spcBef>
              <a:buClr>
                <a:srgbClr val="0066CC"/>
              </a:buClr>
              <a:buSzPct val="75000"/>
            </a:pPr>
            <a:r>
              <a:rPr lang="tr-TR" i="1" dirty="0">
                <a:solidFill>
                  <a:srgbClr val="000000"/>
                </a:solidFill>
                <a:latin typeface="Arial" pitchFamily="34" charset="0"/>
              </a:rPr>
              <a:t>&lt;/body&gt;</a:t>
            </a:r>
          </a:p>
        </p:txBody>
      </p:sp>
    </p:spTree>
    <p:extLst>
      <p:ext uri="{BB962C8B-B14F-4D97-AF65-F5344CB8AC3E}">
        <p14:creationId xmlns:p14="http://schemas.microsoft.com/office/powerpoint/2010/main" val="38237481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Metinlerde Stil Kullanımı</a:t>
            </a:r>
            <a:endParaRPr lang="en-US" sz="3200" dirty="0"/>
          </a:p>
        </p:txBody>
      </p:sp>
      <p:sp>
        <p:nvSpPr>
          <p:cNvPr id="154627" name="Rectangle 3"/>
          <p:cNvSpPr>
            <a:spLocks noChangeArrowheads="1"/>
          </p:cNvSpPr>
          <p:nvPr/>
        </p:nvSpPr>
        <p:spPr bwMode="auto">
          <a:xfrm>
            <a:off x="0" y="876300"/>
            <a:ext cx="9144000" cy="570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Stil kullanımı site içerisinde farklı metinleri farklı şekillerde göstermek için önceden harici veya dahili kurallar tanımlama ve sonrasında bu kuralın ismine göre belirtilen yerde bu kuralın uygulanmasını sağlama işlemidir.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Kurallar için bir örnek vermek gerekirse bir paragraftaki metnin yazı tipi </a:t>
            </a:r>
            <a:r>
              <a:rPr lang="tr-TR" dirty="0" err="1">
                <a:solidFill>
                  <a:srgbClr val="000000"/>
                </a:solidFill>
                <a:latin typeface="Arial" pitchFamily="34" charset="0"/>
              </a:rPr>
              <a:t>arial</a:t>
            </a:r>
            <a:r>
              <a:rPr lang="tr-TR" dirty="0">
                <a:solidFill>
                  <a:srgbClr val="000000"/>
                </a:solidFill>
                <a:latin typeface="Arial" pitchFamily="34" charset="0"/>
              </a:rPr>
              <a:t>, 14 punto, rengi kırmızı ve iki yana </a:t>
            </a:r>
            <a:r>
              <a:rPr lang="tr-TR" dirty="0" err="1">
                <a:solidFill>
                  <a:srgbClr val="000000"/>
                </a:solidFill>
                <a:latin typeface="Arial" pitchFamily="34" charset="0"/>
              </a:rPr>
              <a:t>hizalı</a:t>
            </a:r>
            <a:r>
              <a:rPr lang="tr-TR" dirty="0">
                <a:solidFill>
                  <a:srgbClr val="000000"/>
                </a:solidFill>
                <a:latin typeface="Arial" pitchFamily="34" charset="0"/>
              </a:rPr>
              <a:t> bir paragraf olsun.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Önemli olan kuralların belirlenmesidir. Sonrasında farklı şekillerde stiller yazılarla ilişkilendirilir.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Stil kullanımı için </a:t>
            </a:r>
            <a:r>
              <a:rPr lang="tr-TR" dirty="0" err="1">
                <a:solidFill>
                  <a:srgbClr val="000000"/>
                </a:solidFill>
                <a:latin typeface="Arial" pitchFamily="34" charset="0"/>
              </a:rPr>
              <a:t>style</a:t>
            </a:r>
            <a:r>
              <a:rPr lang="tr-TR" dirty="0">
                <a:solidFill>
                  <a:srgbClr val="000000"/>
                </a:solidFill>
                <a:latin typeface="Arial" pitchFamily="34" charset="0"/>
              </a:rPr>
              <a:t> parametresi ile aşağıdaki şekilde değer atanır.</a:t>
            </a:r>
          </a:p>
          <a:p>
            <a:pPr marL="171450" lvl="1" algn="ctr">
              <a:spcBef>
                <a:spcPct val="20000"/>
              </a:spcBef>
              <a:buClr>
                <a:srgbClr val="0066CC"/>
              </a:buClr>
              <a:buSzPct val="75000"/>
            </a:pPr>
            <a:r>
              <a:rPr lang="tr-TR" i="1" dirty="0" err="1">
                <a:solidFill>
                  <a:srgbClr val="000000"/>
                </a:solidFill>
                <a:latin typeface="Arial" pitchFamily="34" charset="0"/>
              </a:rPr>
              <a:t>style</a:t>
            </a:r>
            <a:r>
              <a:rPr lang="tr-TR" i="1" dirty="0">
                <a:solidFill>
                  <a:srgbClr val="000000"/>
                </a:solidFill>
                <a:latin typeface="Arial" pitchFamily="34" charset="0"/>
              </a:rPr>
              <a:t>=”</a:t>
            </a:r>
            <a:r>
              <a:rPr lang="tr-TR" i="1" dirty="0" err="1">
                <a:solidFill>
                  <a:srgbClr val="000000"/>
                </a:solidFill>
                <a:latin typeface="Arial" pitchFamily="34" charset="0"/>
              </a:rPr>
              <a:t>özellik:değer</a:t>
            </a:r>
            <a:r>
              <a:rPr lang="tr-TR" i="1" dirty="0">
                <a:solidFill>
                  <a:srgbClr val="000000"/>
                </a:solidFill>
                <a:latin typeface="Arial" pitchFamily="34" charset="0"/>
              </a:rPr>
              <a:t>;”</a:t>
            </a:r>
          </a:p>
        </p:txBody>
      </p:sp>
    </p:spTree>
    <p:extLst>
      <p:ext uri="{BB962C8B-B14F-4D97-AF65-F5344CB8AC3E}">
        <p14:creationId xmlns:p14="http://schemas.microsoft.com/office/powerpoint/2010/main" val="1193636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Metinlerde Stil Kullanımı</a:t>
            </a:r>
            <a:endParaRPr lang="en-US" sz="3200" dirty="0"/>
          </a:p>
        </p:txBody>
      </p:sp>
      <p:sp>
        <p:nvSpPr>
          <p:cNvPr id="154627" name="Rectangle 3"/>
          <p:cNvSpPr>
            <a:spLocks noChangeArrowheads="1"/>
          </p:cNvSpPr>
          <p:nvPr/>
        </p:nvSpPr>
        <p:spPr bwMode="auto">
          <a:xfrm>
            <a:off x="0" y="876300"/>
            <a:ext cx="9144000" cy="1044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Metin kullanımında </a:t>
            </a:r>
            <a:r>
              <a:rPr lang="tr-TR" dirty="0" err="1">
                <a:solidFill>
                  <a:srgbClr val="000000"/>
                </a:solidFill>
                <a:latin typeface="Arial" pitchFamily="34" charset="0"/>
              </a:rPr>
              <a:t>style</a:t>
            </a:r>
            <a:r>
              <a:rPr lang="tr-TR" dirty="0">
                <a:solidFill>
                  <a:srgbClr val="000000"/>
                </a:solidFill>
                <a:latin typeface="Arial" pitchFamily="34" charset="0"/>
              </a:rPr>
              <a:t> parametresinin alabileceği bazı temel özellikler ve alabileceği örnek değerler </a:t>
            </a:r>
            <a:r>
              <a:rPr lang="tr-TR" dirty="0" err="1">
                <a:solidFill>
                  <a:srgbClr val="000000"/>
                </a:solidFill>
                <a:latin typeface="Arial" pitchFamily="34" charset="0"/>
              </a:rPr>
              <a:t>Tablo’da</a:t>
            </a:r>
            <a:r>
              <a:rPr lang="tr-TR" dirty="0">
                <a:solidFill>
                  <a:srgbClr val="000000"/>
                </a:solidFill>
                <a:latin typeface="Arial" pitchFamily="34" charset="0"/>
              </a:rPr>
              <a:t> verilmiştir.</a:t>
            </a:r>
            <a:endParaRPr lang="tr-TR" i="1" dirty="0">
              <a:solidFill>
                <a:srgbClr val="000000"/>
              </a:solidFill>
              <a:latin typeface="Arial" pitchFamily="34" charset="0"/>
            </a:endParaRPr>
          </a:p>
        </p:txBody>
      </p:sp>
      <p:pic>
        <p:nvPicPr>
          <p:cNvPr id="3" name="Resim 2">
            <a:extLst>
              <a:ext uri="{FF2B5EF4-FFF2-40B4-BE49-F238E27FC236}">
                <a16:creationId xmlns:a16="http://schemas.microsoft.com/office/drawing/2014/main" id="{F12F220F-0D18-4A81-A8A6-FDCF509AB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333" y="2054946"/>
            <a:ext cx="6630325" cy="2553056"/>
          </a:xfrm>
          <a:prstGeom prst="rect">
            <a:avLst/>
          </a:prstGeom>
        </p:spPr>
      </p:pic>
      <p:sp>
        <p:nvSpPr>
          <p:cNvPr id="6" name="Rectangle 3">
            <a:extLst>
              <a:ext uri="{FF2B5EF4-FFF2-40B4-BE49-F238E27FC236}">
                <a16:creationId xmlns:a16="http://schemas.microsoft.com/office/drawing/2014/main" id="{406DC519-BBD1-4D12-B261-C99FAE6C5E7F}"/>
              </a:ext>
            </a:extLst>
          </p:cNvPr>
          <p:cNvSpPr>
            <a:spLocks noChangeArrowheads="1"/>
          </p:cNvSpPr>
          <p:nvPr/>
        </p:nvSpPr>
        <p:spPr bwMode="auto">
          <a:xfrm>
            <a:off x="0" y="5105749"/>
            <a:ext cx="9144000" cy="1571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Stil kullanımı için </a:t>
            </a:r>
            <a:r>
              <a:rPr lang="tr-TR" dirty="0" err="1">
                <a:solidFill>
                  <a:srgbClr val="000000"/>
                </a:solidFill>
                <a:latin typeface="Arial" pitchFamily="34" charset="0"/>
              </a:rPr>
              <a:t>style</a:t>
            </a:r>
            <a:r>
              <a:rPr lang="tr-TR" dirty="0">
                <a:solidFill>
                  <a:srgbClr val="000000"/>
                </a:solidFill>
                <a:latin typeface="Arial" pitchFamily="34" charset="0"/>
              </a:rPr>
              <a:t> parametresinin kullanım yeri farklılaşabilmektedir; etiketin içerisinde kullanmak (inline), </a:t>
            </a:r>
            <a:r>
              <a:rPr lang="tr-TR" dirty="0" err="1">
                <a:solidFill>
                  <a:srgbClr val="000000"/>
                </a:solidFill>
                <a:latin typeface="Arial" pitchFamily="34" charset="0"/>
              </a:rPr>
              <a:t>head</a:t>
            </a:r>
            <a:r>
              <a:rPr lang="tr-TR" dirty="0">
                <a:solidFill>
                  <a:srgbClr val="000000"/>
                </a:solidFill>
                <a:latin typeface="Arial" pitchFamily="34" charset="0"/>
              </a:rPr>
              <a:t> bölümünde gruplayarak kullanmak (gömülü stil), dışarıdan ayrı bir stil dosyası kullanmak.</a:t>
            </a:r>
            <a:endParaRPr lang="tr-TR" i="1" dirty="0">
              <a:solidFill>
                <a:srgbClr val="000000"/>
              </a:solidFill>
              <a:latin typeface="Arial" pitchFamily="34" charset="0"/>
            </a:endParaRPr>
          </a:p>
        </p:txBody>
      </p:sp>
    </p:spTree>
    <p:extLst>
      <p:ext uri="{BB962C8B-B14F-4D97-AF65-F5344CB8AC3E}">
        <p14:creationId xmlns:p14="http://schemas.microsoft.com/office/powerpoint/2010/main" val="18559026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Etiketin İçerisinde Stil Kullanımı</a:t>
            </a:r>
            <a:endParaRPr lang="en-US" sz="3200" dirty="0"/>
          </a:p>
        </p:txBody>
      </p:sp>
      <p:sp>
        <p:nvSpPr>
          <p:cNvPr id="154627" name="Rectangle 3"/>
          <p:cNvSpPr>
            <a:spLocks noChangeArrowheads="1"/>
          </p:cNvSpPr>
          <p:nvPr/>
        </p:nvSpPr>
        <p:spPr bwMode="auto">
          <a:xfrm>
            <a:off x="0" y="876300"/>
            <a:ext cx="9144000" cy="570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kullanım stilinde html’in temel etiketlerinin içerisinde nesnenin özelliklerinin belirlenmesidir.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bir &lt;h1&gt; başlık etiketi önceden anlatılmıştı. Başlığın kırmızı renkli ve ortalı kullanılması için </a:t>
            </a:r>
            <a:r>
              <a:rPr lang="tr-TR" dirty="0" err="1">
                <a:solidFill>
                  <a:srgbClr val="000000"/>
                </a:solidFill>
                <a:latin typeface="Arial" pitchFamily="34" charset="0"/>
              </a:rPr>
              <a:t>style</a:t>
            </a:r>
            <a:r>
              <a:rPr lang="tr-TR" dirty="0">
                <a:solidFill>
                  <a:srgbClr val="000000"/>
                </a:solidFill>
                <a:latin typeface="Arial" pitchFamily="34" charset="0"/>
              </a:rPr>
              <a:t> ile hem kırmızı renk hem de ortalama özelliklerinin tanımlanması aşağıdaki şekilde olmalıdır.</a:t>
            </a:r>
          </a:p>
          <a:p>
            <a:pPr marL="171450" lvl="1" algn="ctr">
              <a:spcBef>
                <a:spcPct val="20000"/>
              </a:spcBef>
              <a:buClr>
                <a:srgbClr val="0066CC"/>
              </a:buClr>
              <a:buSzPct val="75000"/>
            </a:pPr>
            <a:r>
              <a:rPr lang="tr-TR" i="1" dirty="0">
                <a:solidFill>
                  <a:srgbClr val="000000"/>
                </a:solidFill>
                <a:latin typeface="Arial" pitchFamily="34" charset="0"/>
              </a:rPr>
              <a:t>&lt;h1 </a:t>
            </a:r>
            <a:r>
              <a:rPr lang="tr-TR" i="1" dirty="0" err="1">
                <a:solidFill>
                  <a:srgbClr val="000000"/>
                </a:solidFill>
                <a:latin typeface="Arial" pitchFamily="34" charset="0"/>
              </a:rPr>
              <a:t>style</a:t>
            </a:r>
            <a:r>
              <a:rPr lang="tr-TR" i="1" dirty="0">
                <a:solidFill>
                  <a:srgbClr val="000000"/>
                </a:solidFill>
                <a:latin typeface="Arial" pitchFamily="34" charset="0"/>
              </a:rPr>
              <a:t>=”</a:t>
            </a:r>
            <a:r>
              <a:rPr lang="tr-TR" i="1" dirty="0" err="1">
                <a:solidFill>
                  <a:srgbClr val="000000"/>
                </a:solidFill>
                <a:latin typeface="Arial" pitchFamily="34" charset="0"/>
              </a:rPr>
              <a:t>color:red</a:t>
            </a:r>
            <a:r>
              <a:rPr lang="tr-TR" i="1" dirty="0">
                <a:solidFill>
                  <a:srgbClr val="000000"/>
                </a:solidFill>
                <a:latin typeface="Arial" pitchFamily="34" charset="0"/>
              </a:rPr>
              <a:t>; </a:t>
            </a:r>
            <a:r>
              <a:rPr lang="tr-TR" i="1" dirty="0" err="1">
                <a:solidFill>
                  <a:srgbClr val="000000"/>
                </a:solidFill>
                <a:latin typeface="Arial" pitchFamily="34" charset="0"/>
              </a:rPr>
              <a:t>text-align:center</a:t>
            </a:r>
            <a:r>
              <a:rPr lang="tr-TR" i="1" dirty="0">
                <a:solidFill>
                  <a:srgbClr val="000000"/>
                </a:solidFill>
                <a:latin typeface="Arial" pitchFamily="34" charset="0"/>
              </a:rPr>
              <a:t>;”&gt;BAŞLIKTA STİL KULLANIM ÖRNEĞİ&lt;/h1&gt;</a:t>
            </a:r>
          </a:p>
        </p:txBody>
      </p:sp>
    </p:spTree>
    <p:extLst>
      <p:ext uri="{BB962C8B-B14F-4D97-AF65-F5344CB8AC3E}">
        <p14:creationId xmlns:p14="http://schemas.microsoft.com/office/powerpoint/2010/main" val="2880831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Etiketin İçerisinde Stil Kullanımı</a:t>
            </a:r>
            <a:endParaRPr lang="en-US" sz="3200" dirty="0"/>
          </a:p>
        </p:txBody>
      </p:sp>
      <p:sp>
        <p:nvSpPr>
          <p:cNvPr id="154627" name="Rectangle 3"/>
          <p:cNvSpPr>
            <a:spLocks noChangeArrowheads="1"/>
          </p:cNvSpPr>
          <p:nvPr/>
        </p:nvSpPr>
        <p:spPr bwMode="auto">
          <a:xfrm>
            <a:off x="0" y="876300"/>
            <a:ext cx="9144000" cy="570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Inline kullanımı sadece &lt;h&gt; etiketlerinde değil, &lt;p&gt; ve &lt;a&gt; gibi çok sayıda etiket içerisinde de kolaylıkla kullanılabilir.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Paragraf etiketi olan &lt;p&gt; de yapılan değişikliklerin tamamı &lt;/p&gt; etiketine kadar geçerli olacaktır.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Ayrıca bu paragraf içerisinde istenilen metin bölümlerinde yine &lt;font&gt; etiketi ile istenilen yazının stili istenildiği şekilde değiştirilebilir.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Diğer yandan linklerin gösterim şekillerini değiştirmek isteyen bir tasarımcı da stil kullanabilir. Bu konuda aşağıdaki örnek verilebilir.</a:t>
            </a:r>
          </a:p>
          <a:p>
            <a:pPr marL="171450" lvl="1" algn="ctr">
              <a:spcBef>
                <a:spcPct val="20000"/>
              </a:spcBef>
              <a:buClr>
                <a:srgbClr val="0066CC"/>
              </a:buClr>
              <a:buSzPct val="75000"/>
            </a:pPr>
            <a:r>
              <a:rPr lang="tr-TR" i="1" dirty="0">
                <a:solidFill>
                  <a:srgbClr val="000000"/>
                </a:solidFill>
                <a:latin typeface="Arial" pitchFamily="34" charset="0"/>
              </a:rPr>
              <a:t>&lt;a </a:t>
            </a:r>
            <a:r>
              <a:rPr lang="tr-TR" i="1" dirty="0" err="1">
                <a:solidFill>
                  <a:srgbClr val="000000"/>
                </a:solidFill>
                <a:latin typeface="Arial" pitchFamily="34" charset="0"/>
              </a:rPr>
              <a:t>href</a:t>
            </a:r>
            <a:r>
              <a:rPr lang="tr-TR" i="1" dirty="0">
                <a:solidFill>
                  <a:srgbClr val="000000"/>
                </a:solidFill>
                <a:latin typeface="Arial" pitchFamily="34" charset="0"/>
              </a:rPr>
              <a:t>=”anasayfa.html” </a:t>
            </a:r>
            <a:r>
              <a:rPr lang="tr-TR" i="1" dirty="0" err="1">
                <a:solidFill>
                  <a:srgbClr val="000000"/>
                </a:solidFill>
                <a:latin typeface="Arial" pitchFamily="34" charset="0"/>
              </a:rPr>
              <a:t>style</a:t>
            </a:r>
            <a:r>
              <a:rPr lang="tr-TR" i="1" dirty="0">
                <a:solidFill>
                  <a:srgbClr val="000000"/>
                </a:solidFill>
                <a:latin typeface="Arial" pitchFamily="34" charset="0"/>
              </a:rPr>
              <a:t>=”background-</a:t>
            </a:r>
            <a:r>
              <a:rPr lang="tr-TR" i="1" dirty="0" err="1">
                <a:solidFill>
                  <a:srgbClr val="000000"/>
                </a:solidFill>
                <a:latin typeface="Arial" pitchFamily="34" charset="0"/>
              </a:rPr>
              <a:t>color</a:t>
            </a:r>
            <a:r>
              <a:rPr lang="tr-TR" i="1" dirty="0">
                <a:solidFill>
                  <a:srgbClr val="000000"/>
                </a:solidFill>
                <a:latin typeface="Arial" pitchFamily="34" charset="0"/>
              </a:rPr>
              <a:t>: #FFFF00; </a:t>
            </a:r>
            <a:r>
              <a:rPr lang="tr-TR" i="1" dirty="0" err="1">
                <a:solidFill>
                  <a:srgbClr val="000000"/>
                </a:solidFill>
                <a:latin typeface="Arial" pitchFamily="34" charset="0"/>
              </a:rPr>
              <a:t>color</a:t>
            </a:r>
            <a:r>
              <a:rPr lang="tr-TR" i="1" dirty="0">
                <a:solidFill>
                  <a:srgbClr val="000000"/>
                </a:solidFill>
                <a:latin typeface="Arial" pitchFamily="34" charset="0"/>
              </a:rPr>
              <a:t>: </a:t>
            </a:r>
            <a:r>
              <a:rPr lang="tr-TR" i="1" dirty="0" err="1">
                <a:solidFill>
                  <a:srgbClr val="000000"/>
                </a:solidFill>
                <a:latin typeface="Arial" pitchFamily="34" charset="0"/>
              </a:rPr>
              <a:t>red</a:t>
            </a:r>
            <a:r>
              <a:rPr lang="tr-TR" i="1" dirty="0">
                <a:solidFill>
                  <a:srgbClr val="000000"/>
                </a:solidFill>
                <a:latin typeface="Arial" pitchFamily="34" charset="0"/>
              </a:rPr>
              <a:t>;”&gt;Ana Sayfa&lt;/&gt;</a:t>
            </a:r>
          </a:p>
        </p:txBody>
      </p:sp>
    </p:spTree>
    <p:extLst>
      <p:ext uri="{BB962C8B-B14F-4D97-AF65-F5344CB8AC3E}">
        <p14:creationId xmlns:p14="http://schemas.microsoft.com/office/powerpoint/2010/main" val="29852767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Gömülü Stil Kullanımı</a:t>
            </a:r>
            <a:endParaRPr lang="en-US" sz="3200" dirty="0"/>
          </a:p>
        </p:txBody>
      </p:sp>
      <p:sp>
        <p:nvSpPr>
          <p:cNvPr id="154627" name="Rectangle 3"/>
          <p:cNvSpPr>
            <a:spLocks noChangeArrowheads="1"/>
          </p:cNvSpPr>
          <p:nvPr/>
        </p:nvSpPr>
        <p:spPr bwMode="auto">
          <a:xfrm>
            <a:off x="0" y="876300"/>
            <a:ext cx="9144000" cy="570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Etiketin içerisinde stil kullanılması durumunda stil kapatılmasına kadar o stil kullanımı geçerli olacaktır.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Diğer yandan bir kullanıcı bir etiketin tüm özelliklerini sitesi için değiştirmek isteyebilir.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paragraf yani &lt;p&gt; etiketlerinde kullandığı yazının siyah yerine mor olmasını, yazı tipi olarak </a:t>
            </a:r>
            <a:r>
              <a:rPr lang="tr-TR" dirty="0" err="1">
                <a:solidFill>
                  <a:srgbClr val="000000"/>
                </a:solidFill>
                <a:latin typeface="Arial" pitchFamily="34" charset="0"/>
              </a:rPr>
              <a:t>arial</a:t>
            </a:r>
            <a:r>
              <a:rPr lang="tr-TR" dirty="0">
                <a:solidFill>
                  <a:srgbClr val="000000"/>
                </a:solidFill>
                <a:latin typeface="Arial" pitchFamily="34" charset="0"/>
              </a:rPr>
              <a:t> ve paragraf girintisi olarak 2 </a:t>
            </a:r>
            <a:r>
              <a:rPr lang="tr-TR" dirty="0" err="1">
                <a:solidFill>
                  <a:srgbClr val="000000"/>
                </a:solidFill>
                <a:latin typeface="Arial" pitchFamily="34" charset="0"/>
              </a:rPr>
              <a:t>em’lik</a:t>
            </a:r>
            <a:r>
              <a:rPr lang="tr-TR" dirty="0">
                <a:solidFill>
                  <a:srgbClr val="000000"/>
                </a:solidFill>
                <a:latin typeface="Arial" pitchFamily="34" charset="0"/>
              </a:rPr>
              <a:t> paragraf girintisine sahip olmasını ve bunun tüm &lt;p&gt; etiketi kullanılan yerlerde uygulanmasını isteyebilir. </a:t>
            </a:r>
          </a:p>
        </p:txBody>
      </p:sp>
    </p:spTree>
    <p:extLst>
      <p:ext uri="{BB962C8B-B14F-4D97-AF65-F5344CB8AC3E}">
        <p14:creationId xmlns:p14="http://schemas.microsoft.com/office/powerpoint/2010/main" val="39865570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Gömülü Stil Kullanımı</a:t>
            </a:r>
            <a:endParaRPr lang="en-US" sz="3200" dirty="0"/>
          </a:p>
        </p:txBody>
      </p:sp>
      <p:sp>
        <p:nvSpPr>
          <p:cNvPr id="154627" name="Rectangle 3"/>
          <p:cNvSpPr>
            <a:spLocks noChangeArrowheads="1"/>
          </p:cNvSpPr>
          <p:nvPr/>
        </p:nvSpPr>
        <p:spPr bwMode="auto">
          <a:xfrm>
            <a:off x="0" y="876300"/>
            <a:ext cx="9144000" cy="1791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durumda inline kullanım ile her &lt;p&gt; etiketinde teker teker yeniden tanımlamak yerine &lt;</a:t>
            </a:r>
            <a:r>
              <a:rPr lang="tr-TR" dirty="0" err="1">
                <a:solidFill>
                  <a:srgbClr val="000000"/>
                </a:solidFill>
                <a:latin typeface="Arial" pitchFamily="34" charset="0"/>
              </a:rPr>
              <a:t>head</a:t>
            </a:r>
            <a:r>
              <a:rPr lang="tr-TR" dirty="0">
                <a:solidFill>
                  <a:srgbClr val="000000"/>
                </a:solidFill>
                <a:latin typeface="Arial" pitchFamily="34" charset="0"/>
              </a:rPr>
              <a:t>&gt; &lt;/</a:t>
            </a:r>
            <a:r>
              <a:rPr lang="tr-TR" dirty="0" err="1">
                <a:solidFill>
                  <a:srgbClr val="000000"/>
                </a:solidFill>
                <a:latin typeface="Arial" pitchFamily="34" charset="0"/>
              </a:rPr>
              <a:t>head</a:t>
            </a:r>
            <a:r>
              <a:rPr lang="tr-TR" dirty="0">
                <a:solidFill>
                  <a:srgbClr val="000000"/>
                </a:solidFill>
                <a:latin typeface="Arial" pitchFamily="34" charset="0"/>
              </a:rPr>
              <a:t>&gt; etiketleri arasında &lt;</a:t>
            </a:r>
            <a:r>
              <a:rPr lang="tr-TR" dirty="0" err="1">
                <a:solidFill>
                  <a:srgbClr val="000000"/>
                </a:solidFill>
                <a:latin typeface="Arial" pitchFamily="34" charset="0"/>
              </a:rPr>
              <a:t>style</a:t>
            </a:r>
            <a:r>
              <a:rPr lang="tr-TR" dirty="0">
                <a:solidFill>
                  <a:srgbClr val="000000"/>
                </a:solidFill>
                <a:latin typeface="Arial" pitchFamily="34" charset="0"/>
              </a:rPr>
              <a:t>&gt; &lt;/</a:t>
            </a:r>
            <a:r>
              <a:rPr lang="tr-TR" dirty="0" err="1">
                <a:solidFill>
                  <a:srgbClr val="000000"/>
                </a:solidFill>
                <a:latin typeface="Arial" pitchFamily="34" charset="0"/>
              </a:rPr>
              <a:t>style</a:t>
            </a:r>
            <a:r>
              <a:rPr lang="tr-TR" dirty="0">
                <a:solidFill>
                  <a:srgbClr val="000000"/>
                </a:solidFill>
                <a:latin typeface="Arial" pitchFamily="34" charset="0"/>
              </a:rPr>
              <a:t>&gt; etiketleri arasına gömülü stil olarak tanımlamak yeterli olacak, tüm &lt;p&gt; etiketlerinde ilgili değişiklik otomatik olarak geçerli olacaktır.</a:t>
            </a:r>
            <a:endParaRPr lang="tr-TR" i="1" dirty="0">
              <a:solidFill>
                <a:srgbClr val="000000"/>
              </a:solidFill>
              <a:latin typeface="Arial" pitchFamily="34" charset="0"/>
            </a:endParaRPr>
          </a:p>
        </p:txBody>
      </p:sp>
      <p:pic>
        <p:nvPicPr>
          <p:cNvPr id="3" name="Resim 2">
            <a:extLst>
              <a:ext uri="{FF2B5EF4-FFF2-40B4-BE49-F238E27FC236}">
                <a16:creationId xmlns:a16="http://schemas.microsoft.com/office/drawing/2014/main" id="{2FA52951-FEFC-44FC-85C1-6DAD94E03D18}"/>
              </a:ext>
            </a:extLst>
          </p:cNvPr>
          <p:cNvPicPr>
            <a:picLocks noChangeAspect="1"/>
          </p:cNvPicPr>
          <p:nvPr/>
        </p:nvPicPr>
        <p:blipFill>
          <a:blip r:embed="rId2"/>
          <a:stretch>
            <a:fillRect/>
          </a:stretch>
        </p:blipFill>
        <p:spPr>
          <a:xfrm>
            <a:off x="466164" y="2975131"/>
            <a:ext cx="8211671" cy="2770094"/>
          </a:xfrm>
          <a:prstGeom prst="rect">
            <a:avLst/>
          </a:prstGeom>
        </p:spPr>
      </p:pic>
    </p:spTree>
    <p:extLst>
      <p:ext uri="{BB962C8B-B14F-4D97-AF65-F5344CB8AC3E}">
        <p14:creationId xmlns:p14="http://schemas.microsoft.com/office/powerpoint/2010/main" val="25414291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Gömülü Stil Kullanımı</a:t>
            </a:r>
            <a:endParaRPr lang="en-US" sz="3200" dirty="0"/>
          </a:p>
        </p:txBody>
      </p:sp>
      <p:sp>
        <p:nvSpPr>
          <p:cNvPr id="154627" name="Rectangle 3"/>
          <p:cNvSpPr>
            <a:spLocks noChangeArrowheads="1"/>
          </p:cNvSpPr>
          <p:nvPr/>
        </p:nvSpPr>
        <p:spPr bwMode="auto">
          <a:xfrm>
            <a:off x="0" y="876300"/>
            <a:ext cx="9144000" cy="570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Önceki slayttaki gömülü stil kullanımı etiketlerin tamamı için geçerli olacaktır.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Ancak bir tasarımcı bazı paragraflarda belirli kuralların, bazı paragraflarda ise diğer belirli kuralların geçerli olmasını isteyebilir.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durumda kurallar listesinin (</a:t>
            </a:r>
            <a:r>
              <a:rPr lang="tr-TR" dirty="0" err="1">
                <a:solidFill>
                  <a:srgbClr val="000000"/>
                </a:solidFill>
                <a:latin typeface="Arial" pitchFamily="34" charset="0"/>
              </a:rPr>
              <a:t>class</a:t>
            </a:r>
            <a:r>
              <a:rPr lang="tr-TR" dirty="0">
                <a:solidFill>
                  <a:srgbClr val="000000"/>
                </a:solidFill>
                <a:latin typeface="Arial" pitchFamily="34" charset="0"/>
              </a:rPr>
              <a:t> seçici veya </a:t>
            </a:r>
            <a:r>
              <a:rPr lang="tr-TR" dirty="0" err="1">
                <a:solidFill>
                  <a:srgbClr val="000000"/>
                </a:solidFill>
                <a:latin typeface="Arial" pitchFamily="34" charset="0"/>
              </a:rPr>
              <a:t>id</a:t>
            </a:r>
            <a:r>
              <a:rPr lang="tr-TR" dirty="0">
                <a:solidFill>
                  <a:srgbClr val="000000"/>
                </a:solidFill>
                <a:latin typeface="Arial" pitchFamily="34" charset="0"/>
              </a:rPr>
              <a:t> seçici) belirli bir isimle gömülü stil olarak tanımlanması gerekir.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Özel tanımlı stil kullanımına örnek olarak bir web sitesi için üç stil ismi ve bunlara ait kuralları belirleyelim. baslik1 isimli stil kırmızı, ortalı; prgrf1 ismindeki stil </a:t>
            </a:r>
            <a:r>
              <a:rPr lang="tr-TR" dirty="0" err="1">
                <a:solidFill>
                  <a:srgbClr val="000000"/>
                </a:solidFill>
                <a:latin typeface="Arial" pitchFamily="34" charset="0"/>
              </a:rPr>
              <a:t>arial</a:t>
            </a:r>
            <a:r>
              <a:rPr lang="tr-TR" dirty="0">
                <a:solidFill>
                  <a:srgbClr val="000000"/>
                </a:solidFill>
                <a:latin typeface="Arial" pitchFamily="34" charset="0"/>
              </a:rPr>
              <a:t>, iki yana yaslı; prgrf2 isimli stil ise </a:t>
            </a:r>
            <a:r>
              <a:rPr lang="tr-TR" dirty="0" err="1">
                <a:solidFill>
                  <a:srgbClr val="000000"/>
                </a:solidFill>
                <a:latin typeface="Arial" pitchFamily="34" charset="0"/>
              </a:rPr>
              <a:t>times</a:t>
            </a:r>
            <a:r>
              <a:rPr lang="tr-TR" dirty="0">
                <a:solidFill>
                  <a:srgbClr val="000000"/>
                </a:solidFill>
                <a:latin typeface="Arial" pitchFamily="34" charset="0"/>
              </a:rPr>
              <a:t> </a:t>
            </a:r>
            <a:r>
              <a:rPr lang="tr-TR" dirty="0" err="1">
                <a:solidFill>
                  <a:srgbClr val="000000"/>
                </a:solidFill>
                <a:latin typeface="Arial" pitchFamily="34" charset="0"/>
              </a:rPr>
              <a:t>new</a:t>
            </a:r>
            <a:r>
              <a:rPr lang="tr-TR" dirty="0">
                <a:solidFill>
                  <a:srgbClr val="000000"/>
                </a:solidFill>
                <a:latin typeface="Arial" pitchFamily="34" charset="0"/>
              </a:rPr>
              <a:t> roman, mavi renk ve sola </a:t>
            </a:r>
            <a:r>
              <a:rPr lang="tr-TR" dirty="0" err="1">
                <a:solidFill>
                  <a:srgbClr val="000000"/>
                </a:solidFill>
                <a:latin typeface="Arial" pitchFamily="34" charset="0"/>
              </a:rPr>
              <a:t>hizalı</a:t>
            </a:r>
            <a:r>
              <a:rPr lang="tr-TR" dirty="0">
                <a:solidFill>
                  <a:srgbClr val="000000"/>
                </a:solidFill>
                <a:latin typeface="Arial" pitchFamily="34" charset="0"/>
              </a:rPr>
              <a:t> özelliklerine sahip olsun.</a:t>
            </a:r>
          </a:p>
        </p:txBody>
      </p:sp>
    </p:spTree>
    <p:extLst>
      <p:ext uri="{BB962C8B-B14F-4D97-AF65-F5344CB8AC3E}">
        <p14:creationId xmlns:p14="http://schemas.microsoft.com/office/powerpoint/2010/main" val="14169050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Gömülü Stil Kullanımı</a:t>
            </a:r>
            <a:endParaRPr lang="en-US" sz="3200" dirty="0"/>
          </a:p>
        </p:txBody>
      </p:sp>
      <p:sp>
        <p:nvSpPr>
          <p:cNvPr id="154627" name="Rectangle 3"/>
          <p:cNvSpPr>
            <a:spLocks noChangeArrowheads="1"/>
          </p:cNvSpPr>
          <p:nvPr/>
        </p:nvSpPr>
        <p:spPr bwMode="auto">
          <a:xfrm>
            <a:off x="0" y="876300"/>
            <a:ext cx="9144000" cy="570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işlemin gerçekleştirilmesi için </a:t>
            </a:r>
            <a:r>
              <a:rPr lang="tr-TR" dirty="0" err="1">
                <a:solidFill>
                  <a:srgbClr val="000000"/>
                </a:solidFill>
                <a:latin typeface="Arial" pitchFamily="34" charset="0"/>
              </a:rPr>
              <a:t>class</a:t>
            </a:r>
            <a:r>
              <a:rPr lang="tr-TR" dirty="0">
                <a:solidFill>
                  <a:srgbClr val="000000"/>
                </a:solidFill>
                <a:latin typeface="Arial" pitchFamily="34" charset="0"/>
              </a:rPr>
              <a:t> ve </a:t>
            </a:r>
            <a:r>
              <a:rPr lang="tr-TR" dirty="0" err="1">
                <a:solidFill>
                  <a:srgbClr val="000000"/>
                </a:solidFill>
                <a:latin typeface="Arial" pitchFamily="34" charset="0"/>
              </a:rPr>
              <a:t>id</a:t>
            </a:r>
            <a:r>
              <a:rPr lang="tr-TR" dirty="0">
                <a:solidFill>
                  <a:srgbClr val="000000"/>
                </a:solidFill>
                <a:latin typeface="Arial" pitchFamily="34" charset="0"/>
              </a:rPr>
              <a:t> seçicilerin açıklanması gerekir.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Class seçiciler ve </a:t>
            </a:r>
            <a:r>
              <a:rPr lang="tr-TR" dirty="0" err="1">
                <a:solidFill>
                  <a:srgbClr val="000000"/>
                </a:solidFill>
                <a:latin typeface="Arial" pitchFamily="34" charset="0"/>
              </a:rPr>
              <a:t>id</a:t>
            </a:r>
            <a:r>
              <a:rPr lang="tr-TR" dirty="0">
                <a:solidFill>
                  <a:srgbClr val="000000"/>
                </a:solidFill>
                <a:latin typeface="Arial" pitchFamily="34" charset="0"/>
              </a:rPr>
              <a:t> seçiciler temelde aynı işlevi yerine getirmektedir ve belirli özelliklerin bir isim altında gruplanmasını sağlamaktadırlar.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Tanımlama sırasında isim önce belirlenirken, { } işaretleri arasında da kurallar belirlenir.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Seçici olarak </a:t>
            </a:r>
            <a:r>
              <a:rPr lang="tr-TR" dirty="0" err="1">
                <a:solidFill>
                  <a:srgbClr val="000000"/>
                </a:solidFill>
                <a:latin typeface="Arial" pitchFamily="34" charset="0"/>
              </a:rPr>
              <a:t>class</a:t>
            </a:r>
            <a:r>
              <a:rPr lang="tr-TR" dirty="0">
                <a:solidFill>
                  <a:srgbClr val="000000"/>
                </a:solidFill>
                <a:latin typeface="Arial" pitchFamily="34" charset="0"/>
              </a:rPr>
              <a:t> kullanılması durumunda ismin önüne . işareti, </a:t>
            </a:r>
            <a:r>
              <a:rPr lang="tr-TR" dirty="0" err="1">
                <a:solidFill>
                  <a:srgbClr val="000000"/>
                </a:solidFill>
                <a:latin typeface="Arial" pitchFamily="34" charset="0"/>
              </a:rPr>
              <a:t>id</a:t>
            </a:r>
            <a:r>
              <a:rPr lang="tr-TR" dirty="0">
                <a:solidFill>
                  <a:srgbClr val="000000"/>
                </a:solidFill>
                <a:latin typeface="Arial" pitchFamily="34" charset="0"/>
              </a:rPr>
              <a:t> kullanılması durumunda ise # işareti konulur. Yukarıda ifade edilen baslik1, prgrf1 ve prgrf2 isimli stillerin </a:t>
            </a:r>
            <a:r>
              <a:rPr lang="tr-TR" dirty="0" err="1">
                <a:solidFill>
                  <a:srgbClr val="000000"/>
                </a:solidFill>
                <a:latin typeface="Arial" pitchFamily="34" charset="0"/>
              </a:rPr>
              <a:t>class</a:t>
            </a:r>
            <a:r>
              <a:rPr lang="tr-TR" dirty="0">
                <a:solidFill>
                  <a:srgbClr val="000000"/>
                </a:solidFill>
                <a:latin typeface="Arial" pitchFamily="34" charset="0"/>
              </a:rPr>
              <a:t> ve </a:t>
            </a:r>
            <a:r>
              <a:rPr lang="tr-TR" dirty="0" err="1">
                <a:solidFill>
                  <a:srgbClr val="000000"/>
                </a:solidFill>
                <a:latin typeface="Arial" pitchFamily="34" charset="0"/>
              </a:rPr>
              <a:t>id</a:t>
            </a:r>
            <a:r>
              <a:rPr lang="tr-TR" dirty="0">
                <a:solidFill>
                  <a:srgbClr val="000000"/>
                </a:solidFill>
                <a:latin typeface="Arial" pitchFamily="34" charset="0"/>
              </a:rPr>
              <a:t> seçiciler ile tanımlanması ve kullanımları ise aşağıdaki şekilde olacaktır.</a:t>
            </a:r>
          </a:p>
        </p:txBody>
      </p:sp>
    </p:spTree>
    <p:extLst>
      <p:ext uri="{BB962C8B-B14F-4D97-AF65-F5344CB8AC3E}">
        <p14:creationId xmlns:p14="http://schemas.microsoft.com/office/powerpoint/2010/main" val="40933512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Gömülü Stil Kullanımı</a:t>
            </a:r>
            <a:endParaRPr lang="en-US" sz="3200" dirty="0"/>
          </a:p>
        </p:txBody>
      </p:sp>
      <p:pic>
        <p:nvPicPr>
          <p:cNvPr id="3" name="Resim 2">
            <a:extLst>
              <a:ext uri="{FF2B5EF4-FFF2-40B4-BE49-F238E27FC236}">
                <a16:creationId xmlns:a16="http://schemas.microsoft.com/office/drawing/2014/main" id="{1441E8F6-4BC9-416D-BCBB-63AC8D73B0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2361" y="964734"/>
            <a:ext cx="5959277" cy="5665632"/>
          </a:xfrm>
          <a:prstGeom prst="rect">
            <a:avLst/>
          </a:prstGeom>
        </p:spPr>
      </p:pic>
    </p:spTree>
    <p:extLst>
      <p:ext uri="{BB962C8B-B14F-4D97-AF65-F5344CB8AC3E}">
        <p14:creationId xmlns:p14="http://schemas.microsoft.com/office/powerpoint/2010/main" val="3580109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Gömülü Stil Kullanımı</a:t>
            </a:r>
            <a:endParaRPr lang="en-US" sz="3200" dirty="0"/>
          </a:p>
        </p:txBody>
      </p:sp>
      <p:sp>
        <p:nvSpPr>
          <p:cNvPr id="154627" name="Rectangle 3"/>
          <p:cNvSpPr>
            <a:spLocks noChangeArrowheads="1"/>
          </p:cNvSpPr>
          <p:nvPr/>
        </p:nvSpPr>
        <p:spPr bwMode="auto">
          <a:xfrm>
            <a:off x="0" y="876300"/>
            <a:ext cx="9144000" cy="570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Seçiciler ile metin kullanımı konusunda anlatılması gereken önemli bir etiket ise &lt;</a:t>
            </a:r>
            <a:r>
              <a:rPr lang="tr-TR" dirty="0" err="1">
                <a:solidFill>
                  <a:srgbClr val="000000"/>
                </a:solidFill>
                <a:latin typeface="Arial" pitchFamily="34" charset="0"/>
              </a:rPr>
              <a:t>span</a:t>
            </a:r>
            <a:r>
              <a:rPr lang="tr-TR" dirty="0">
                <a:solidFill>
                  <a:srgbClr val="000000"/>
                </a:solidFill>
                <a:latin typeface="Arial" pitchFamily="34" charset="0"/>
              </a:rPr>
              <a:t>&gt; &lt;/</a:t>
            </a:r>
            <a:r>
              <a:rPr lang="tr-TR" dirty="0" err="1">
                <a:solidFill>
                  <a:srgbClr val="000000"/>
                </a:solidFill>
                <a:latin typeface="Arial" pitchFamily="34" charset="0"/>
              </a:rPr>
              <a:t>span</a:t>
            </a:r>
            <a:r>
              <a:rPr lang="tr-TR" dirty="0">
                <a:solidFill>
                  <a:srgbClr val="000000"/>
                </a:solidFill>
                <a:latin typeface="Arial" pitchFamily="34" charset="0"/>
              </a:rPr>
              <a:t>&gt; etiketleridir.</a:t>
            </a:r>
          </a:p>
          <a:p>
            <a:pPr marL="171450" lvl="1">
              <a:spcBef>
                <a:spcPct val="20000"/>
              </a:spcBef>
              <a:buClr>
                <a:srgbClr val="0066CC"/>
              </a:buClr>
              <a:buSzPct val="75000"/>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etiket bir yazı içerisinden istenilen aralığı belirlemek için kullanılır. &lt;p&gt; &lt;/p&gt; etiketi paragrafı etkilerken, &lt;</a:t>
            </a:r>
            <a:r>
              <a:rPr lang="tr-TR" dirty="0" err="1">
                <a:solidFill>
                  <a:srgbClr val="000000"/>
                </a:solidFill>
                <a:latin typeface="Arial" pitchFamily="34" charset="0"/>
              </a:rPr>
              <a:t>span</a:t>
            </a:r>
            <a:r>
              <a:rPr lang="tr-TR" dirty="0">
                <a:solidFill>
                  <a:srgbClr val="000000"/>
                </a:solidFill>
                <a:latin typeface="Arial" pitchFamily="34" charset="0"/>
              </a:rPr>
              <a:t>&gt; &lt;/</a:t>
            </a:r>
            <a:r>
              <a:rPr lang="tr-TR" dirty="0" err="1">
                <a:solidFill>
                  <a:srgbClr val="000000"/>
                </a:solidFill>
                <a:latin typeface="Arial" pitchFamily="34" charset="0"/>
              </a:rPr>
              <a:t>span</a:t>
            </a:r>
            <a:r>
              <a:rPr lang="tr-TR" dirty="0">
                <a:solidFill>
                  <a:srgbClr val="000000"/>
                </a:solidFill>
                <a:latin typeface="Arial" pitchFamily="34" charset="0"/>
              </a:rPr>
              <a:t>&gt; etiketleri daha özel seçimler (kelime, cümle veya paragraflar) seçiminde kullanılır ve yanına </a:t>
            </a:r>
            <a:r>
              <a:rPr lang="tr-TR" dirty="0" err="1">
                <a:solidFill>
                  <a:srgbClr val="000000"/>
                </a:solidFill>
                <a:latin typeface="Arial" pitchFamily="34" charset="0"/>
              </a:rPr>
              <a:t>class</a:t>
            </a:r>
            <a:r>
              <a:rPr lang="tr-TR" dirty="0">
                <a:solidFill>
                  <a:srgbClr val="000000"/>
                </a:solidFill>
                <a:latin typeface="Arial" pitchFamily="34" charset="0"/>
              </a:rPr>
              <a:t> veya </a:t>
            </a:r>
            <a:r>
              <a:rPr lang="tr-TR" dirty="0" err="1">
                <a:solidFill>
                  <a:srgbClr val="000000"/>
                </a:solidFill>
                <a:latin typeface="Arial" pitchFamily="34" charset="0"/>
              </a:rPr>
              <a:t>id</a:t>
            </a:r>
            <a:r>
              <a:rPr lang="tr-TR" dirty="0">
                <a:solidFill>
                  <a:srgbClr val="000000"/>
                </a:solidFill>
                <a:latin typeface="Arial" pitchFamily="34" charset="0"/>
              </a:rPr>
              <a:t> etiketi alabilmesi ile stil kullanımında önemli işleve sahiptir. </a:t>
            </a:r>
          </a:p>
        </p:txBody>
      </p:sp>
    </p:spTree>
    <p:extLst>
      <p:ext uri="{BB962C8B-B14F-4D97-AF65-F5344CB8AC3E}">
        <p14:creationId xmlns:p14="http://schemas.microsoft.com/office/powerpoint/2010/main" val="5736046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Gömülü Stil Kullanımı</a:t>
            </a:r>
            <a:endParaRPr lang="en-US" sz="3200" dirty="0"/>
          </a:p>
        </p:txBody>
      </p:sp>
      <p:sp>
        <p:nvSpPr>
          <p:cNvPr id="154627" name="Rectangle 3"/>
          <p:cNvSpPr>
            <a:spLocks noChangeArrowheads="1"/>
          </p:cNvSpPr>
          <p:nvPr/>
        </p:nvSpPr>
        <p:spPr bwMode="auto">
          <a:xfrm>
            <a:off x="0" y="876300"/>
            <a:ext cx="9144000" cy="1581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Örnek olarak yukarıdaki cümlede sadece “eğer </a:t>
            </a:r>
            <a:r>
              <a:rPr lang="tr-TR" dirty="0" err="1">
                <a:solidFill>
                  <a:srgbClr val="000000"/>
                </a:solidFill>
                <a:latin typeface="Arial" pitchFamily="34" charset="0"/>
              </a:rPr>
              <a:t>class</a:t>
            </a:r>
            <a:r>
              <a:rPr lang="tr-TR" dirty="0">
                <a:solidFill>
                  <a:srgbClr val="000000"/>
                </a:solidFill>
                <a:latin typeface="Arial" pitchFamily="34" charset="0"/>
              </a:rPr>
              <a:t> seçici kullanılmışsa” kelimelerinin altı çizili, kırmızı renkli yapılacaksa vurgu isimli bir </a:t>
            </a:r>
            <a:r>
              <a:rPr lang="tr-TR" dirty="0" err="1">
                <a:solidFill>
                  <a:srgbClr val="000000"/>
                </a:solidFill>
                <a:latin typeface="Arial" pitchFamily="34" charset="0"/>
              </a:rPr>
              <a:t>class</a:t>
            </a:r>
            <a:r>
              <a:rPr lang="tr-TR" dirty="0">
                <a:solidFill>
                  <a:srgbClr val="000000"/>
                </a:solidFill>
                <a:latin typeface="Arial" pitchFamily="34" charset="0"/>
              </a:rPr>
              <a:t> veya </a:t>
            </a:r>
            <a:r>
              <a:rPr lang="tr-TR" dirty="0" err="1">
                <a:solidFill>
                  <a:srgbClr val="000000"/>
                </a:solidFill>
                <a:latin typeface="Arial" pitchFamily="34" charset="0"/>
              </a:rPr>
              <a:t>id</a:t>
            </a:r>
            <a:r>
              <a:rPr lang="tr-TR" dirty="0">
                <a:solidFill>
                  <a:srgbClr val="000000"/>
                </a:solidFill>
                <a:latin typeface="Arial" pitchFamily="34" charset="0"/>
              </a:rPr>
              <a:t> seçici aşağıdaki şekilde tanımlanabilir ve </a:t>
            </a:r>
            <a:r>
              <a:rPr lang="tr-TR" dirty="0" err="1">
                <a:solidFill>
                  <a:srgbClr val="000000"/>
                </a:solidFill>
                <a:latin typeface="Arial" pitchFamily="34" charset="0"/>
              </a:rPr>
              <a:t>span</a:t>
            </a:r>
            <a:r>
              <a:rPr lang="tr-TR" dirty="0">
                <a:solidFill>
                  <a:srgbClr val="000000"/>
                </a:solidFill>
                <a:latin typeface="Arial" pitchFamily="34" charset="0"/>
              </a:rPr>
              <a:t> ile kullanılabilir</a:t>
            </a:r>
          </a:p>
        </p:txBody>
      </p:sp>
      <p:pic>
        <p:nvPicPr>
          <p:cNvPr id="3" name="Resim 2">
            <a:extLst>
              <a:ext uri="{FF2B5EF4-FFF2-40B4-BE49-F238E27FC236}">
                <a16:creationId xmlns:a16="http://schemas.microsoft.com/office/drawing/2014/main" id="{644D1AD7-A1C3-4E16-82F7-FFF5113E58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430" y="3152044"/>
            <a:ext cx="6401693" cy="2953162"/>
          </a:xfrm>
          <a:prstGeom prst="rect">
            <a:avLst/>
          </a:prstGeom>
        </p:spPr>
      </p:pic>
    </p:spTree>
    <p:extLst>
      <p:ext uri="{BB962C8B-B14F-4D97-AF65-F5344CB8AC3E}">
        <p14:creationId xmlns:p14="http://schemas.microsoft.com/office/powerpoint/2010/main" val="25486186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Dışarıdan CSS Dosyası Kullanma</a:t>
            </a:r>
            <a:endParaRPr lang="en-US" sz="3200" dirty="0"/>
          </a:p>
        </p:txBody>
      </p:sp>
      <p:sp>
        <p:nvSpPr>
          <p:cNvPr id="154627" name="Rectangle 3"/>
          <p:cNvSpPr>
            <a:spLocks noChangeArrowheads="1"/>
          </p:cNvSpPr>
          <p:nvPr/>
        </p:nvSpPr>
        <p:spPr bwMode="auto">
          <a:xfrm>
            <a:off x="0" y="876300"/>
            <a:ext cx="9144000" cy="570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Bir sitenin birden fazla html’den meydana geldiği ve bunların aynı şablon üzerinden tasarlanacağı varsayılırsa her html için stil tanımı hem karmaşaya neden olacak hem de uzun satırlardan oluşan html dosyaları ortaya çıkacaktır.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Bunun yerine html’in temel özellikleri body, p, h1,h2 ..h6 başlıkları, </a:t>
            </a:r>
            <a:r>
              <a:rPr lang="tr-TR" dirty="0" err="1">
                <a:solidFill>
                  <a:srgbClr val="000000"/>
                </a:solidFill>
                <a:latin typeface="Arial" pitchFamily="34" charset="0"/>
              </a:rPr>
              <a:t>pre</a:t>
            </a:r>
            <a:r>
              <a:rPr lang="tr-TR" dirty="0">
                <a:solidFill>
                  <a:srgbClr val="000000"/>
                </a:solidFill>
                <a:latin typeface="Arial" pitchFamily="34" charset="0"/>
              </a:rPr>
              <a:t>, </a:t>
            </a:r>
            <a:r>
              <a:rPr lang="tr-TR" dirty="0" err="1">
                <a:solidFill>
                  <a:srgbClr val="000000"/>
                </a:solidFill>
                <a:latin typeface="Arial" pitchFamily="34" charset="0"/>
              </a:rPr>
              <a:t>ul</a:t>
            </a:r>
            <a:r>
              <a:rPr lang="tr-TR" dirty="0">
                <a:solidFill>
                  <a:srgbClr val="000000"/>
                </a:solidFill>
                <a:latin typeface="Arial" pitchFamily="34" charset="0"/>
              </a:rPr>
              <a:t>, ol, </a:t>
            </a:r>
            <a:r>
              <a:rPr lang="tr-TR" dirty="0" err="1">
                <a:solidFill>
                  <a:srgbClr val="000000"/>
                </a:solidFill>
                <a:latin typeface="Arial" pitchFamily="34" charset="0"/>
              </a:rPr>
              <a:t>li</a:t>
            </a:r>
            <a:r>
              <a:rPr lang="tr-TR" dirty="0">
                <a:solidFill>
                  <a:srgbClr val="000000"/>
                </a:solidFill>
                <a:latin typeface="Arial" pitchFamily="34" charset="0"/>
              </a:rPr>
              <a:t> gibi tüm özellikleri tek bir dosyada bir kez yazılıp, </a:t>
            </a:r>
            <a:r>
              <a:rPr lang="tr-TR" dirty="0" err="1">
                <a:solidFill>
                  <a:srgbClr val="000000"/>
                </a:solidFill>
                <a:latin typeface="Arial" pitchFamily="34" charset="0"/>
              </a:rPr>
              <a:t>css</a:t>
            </a:r>
            <a:r>
              <a:rPr lang="tr-TR" dirty="0">
                <a:solidFill>
                  <a:srgbClr val="000000"/>
                </a:solidFill>
                <a:latin typeface="Arial" pitchFamily="34" charset="0"/>
              </a:rPr>
              <a:t> uzantılı olarak kaydedilebilir ve her html içerisinden tek bir satırla çağrılabilir.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Bir </a:t>
            </a:r>
            <a:r>
              <a:rPr lang="tr-TR" dirty="0" err="1">
                <a:solidFill>
                  <a:srgbClr val="000000"/>
                </a:solidFill>
                <a:latin typeface="Arial" pitchFamily="34" charset="0"/>
              </a:rPr>
              <a:t>css</a:t>
            </a:r>
            <a:r>
              <a:rPr lang="tr-TR" dirty="0">
                <a:solidFill>
                  <a:srgbClr val="000000"/>
                </a:solidFill>
                <a:latin typeface="Arial" pitchFamily="34" charset="0"/>
              </a:rPr>
              <a:t> dosyası not defteri gibi basit programla da yazılabilir.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Sadece dosya uzantısının .</a:t>
            </a:r>
            <a:r>
              <a:rPr lang="tr-TR" dirty="0" err="1">
                <a:solidFill>
                  <a:srgbClr val="000000"/>
                </a:solidFill>
                <a:latin typeface="Arial" pitchFamily="34" charset="0"/>
              </a:rPr>
              <a:t>css</a:t>
            </a:r>
            <a:r>
              <a:rPr lang="tr-TR" dirty="0">
                <a:solidFill>
                  <a:srgbClr val="000000"/>
                </a:solidFill>
                <a:latin typeface="Arial" pitchFamily="34" charset="0"/>
              </a:rPr>
              <a:t> olması gerekir. html ile dışarıdan </a:t>
            </a:r>
            <a:r>
              <a:rPr lang="tr-TR" dirty="0" err="1">
                <a:solidFill>
                  <a:srgbClr val="000000"/>
                </a:solidFill>
                <a:latin typeface="Arial" pitchFamily="34" charset="0"/>
              </a:rPr>
              <a:t>css</a:t>
            </a:r>
            <a:r>
              <a:rPr lang="tr-TR" dirty="0">
                <a:solidFill>
                  <a:srgbClr val="000000"/>
                </a:solidFill>
                <a:latin typeface="Arial" pitchFamily="34" charset="0"/>
              </a:rPr>
              <a:t> dosyasının çağrılması ise link ve @import etiketleri kullanılarak iki farklı şekilde gerçekleştirilmektedir.</a:t>
            </a:r>
          </a:p>
        </p:txBody>
      </p:sp>
    </p:spTree>
    <p:extLst>
      <p:ext uri="{BB962C8B-B14F-4D97-AF65-F5344CB8AC3E}">
        <p14:creationId xmlns:p14="http://schemas.microsoft.com/office/powerpoint/2010/main" val="13239942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Dışarıdan CSS Dosyası Kullanma</a:t>
            </a:r>
            <a:endParaRPr lang="en-US" sz="3200" dirty="0"/>
          </a:p>
        </p:txBody>
      </p:sp>
      <p:sp>
        <p:nvSpPr>
          <p:cNvPr id="154627" name="Rectangle 3"/>
          <p:cNvSpPr>
            <a:spLocks noChangeArrowheads="1"/>
          </p:cNvSpPr>
          <p:nvPr/>
        </p:nvSpPr>
        <p:spPr bwMode="auto">
          <a:xfrm>
            <a:off x="0" y="876300"/>
            <a:ext cx="9144000" cy="570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Örnek olarak style.css isimli </a:t>
            </a:r>
            <a:r>
              <a:rPr lang="tr-TR" dirty="0" err="1">
                <a:solidFill>
                  <a:srgbClr val="000000"/>
                </a:solidFill>
                <a:latin typeface="Arial" pitchFamily="34" charset="0"/>
              </a:rPr>
              <a:t>css</a:t>
            </a:r>
            <a:r>
              <a:rPr lang="tr-TR" dirty="0">
                <a:solidFill>
                  <a:srgbClr val="000000"/>
                </a:solidFill>
                <a:latin typeface="Arial" pitchFamily="34" charset="0"/>
              </a:rPr>
              <a:t> dosyasının çağrılması aşağıdaki şekilde yapılmaktadır.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Eğer bu </a:t>
            </a:r>
            <a:r>
              <a:rPr lang="tr-TR" dirty="0" err="1">
                <a:solidFill>
                  <a:srgbClr val="000000"/>
                </a:solidFill>
                <a:latin typeface="Arial" pitchFamily="34" charset="0"/>
              </a:rPr>
              <a:t>css</a:t>
            </a:r>
            <a:r>
              <a:rPr lang="tr-TR" dirty="0">
                <a:solidFill>
                  <a:srgbClr val="000000"/>
                </a:solidFill>
                <a:latin typeface="Arial" pitchFamily="34" charset="0"/>
              </a:rPr>
              <a:t> dosyası alt klasörler içerisinde saklanırsa bu durumda klasörle beraber adresi verilmelidir. (</a:t>
            </a:r>
            <a:r>
              <a:rPr lang="tr-TR" dirty="0" err="1">
                <a:solidFill>
                  <a:srgbClr val="000000"/>
                </a:solidFill>
                <a:latin typeface="Arial" pitchFamily="34" charset="0"/>
              </a:rPr>
              <a:t>ör:href</a:t>
            </a:r>
            <a:r>
              <a:rPr lang="tr-TR" dirty="0">
                <a:solidFill>
                  <a:srgbClr val="000000"/>
                </a:solidFill>
                <a:latin typeface="Arial" pitchFamily="34" charset="0"/>
              </a:rPr>
              <a:t>= “</a:t>
            </a:r>
            <a:r>
              <a:rPr lang="tr-TR" dirty="0" err="1">
                <a:solidFill>
                  <a:srgbClr val="000000"/>
                </a:solidFill>
                <a:latin typeface="Arial" pitchFamily="34" charset="0"/>
              </a:rPr>
              <a:t>css</a:t>
            </a:r>
            <a:r>
              <a:rPr lang="tr-TR" dirty="0">
                <a:solidFill>
                  <a:srgbClr val="000000"/>
                </a:solidFill>
                <a:latin typeface="Arial" pitchFamily="34" charset="0"/>
              </a:rPr>
              <a:t>/style.css” gibi)</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171450" lvl="1">
              <a:spcBef>
                <a:spcPct val="20000"/>
              </a:spcBef>
              <a:buClr>
                <a:srgbClr val="0066CC"/>
              </a:buClr>
              <a:buSzPct val="75000"/>
            </a:pPr>
            <a:r>
              <a:rPr lang="tr-TR" i="1" dirty="0" err="1">
                <a:solidFill>
                  <a:srgbClr val="000000"/>
                </a:solidFill>
                <a:latin typeface="Arial" pitchFamily="34" charset="0"/>
              </a:rPr>
              <a:t>Css</a:t>
            </a:r>
            <a:r>
              <a:rPr lang="tr-TR" i="1" dirty="0">
                <a:solidFill>
                  <a:srgbClr val="000000"/>
                </a:solidFill>
                <a:latin typeface="Arial" pitchFamily="34" charset="0"/>
              </a:rPr>
              <a:t> dosyasının link etiketi ile çağrılması</a:t>
            </a:r>
          </a:p>
          <a:p>
            <a:pPr marL="171450" lvl="1">
              <a:spcBef>
                <a:spcPct val="20000"/>
              </a:spcBef>
              <a:buClr>
                <a:srgbClr val="0066CC"/>
              </a:buClr>
              <a:buSzPct val="75000"/>
            </a:pPr>
            <a:r>
              <a:rPr lang="tr-TR" i="1" dirty="0">
                <a:solidFill>
                  <a:srgbClr val="000000"/>
                </a:solidFill>
                <a:latin typeface="Arial" pitchFamily="34" charset="0"/>
              </a:rPr>
              <a:t>&lt;link </a:t>
            </a:r>
            <a:r>
              <a:rPr lang="tr-TR" i="1" dirty="0" err="1">
                <a:solidFill>
                  <a:srgbClr val="000000"/>
                </a:solidFill>
                <a:latin typeface="Arial" pitchFamily="34" charset="0"/>
              </a:rPr>
              <a:t>rel</a:t>
            </a:r>
            <a:r>
              <a:rPr lang="tr-TR" i="1" dirty="0">
                <a:solidFill>
                  <a:srgbClr val="000000"/>
                </a:solidFill>
                <a:latin typeface="Arial" pitchFamily="34" charset="0"/>
              </a:rPr>
              <a:t>=”</a:t>
            </a:r>
            <a:r>
              <a:rPr lang="tr-TR" i="1" dirty="0" err="1">
                <a:solidFill>
                  <a:srgbClr val="000000"/>
                </a:solidFill>
                <a:latin typeface="Arial" pitchFamily="34" charset="0"/>
              </a:rPr>
              <a:t>stylesheet</a:t>
            </a:r>
            <a:r>
              <a:rPr lang="tr-TR" i="1" dirty="0">
                <a:solidFill>
                  <a:srgbClr val="000000"/>
                </a:solidFill>
                <a:latin typeface="Arial" pitchFamily="34" charset="0"/>
              </a:rPr>
              <a:t>” </a:t>
            </a:r>
            <a:r>
              <a:rPr lang="tr-TR" i="1" dirty="0" err="1">
                <a:solidFill>
                  <a:srgbClr val="000000"/>
                </a:solidFill>
                <a:latin typeface="Arial" pitchFamily="34" charset="0"/>
              </a:rPr>
              <a:t>type</a:t>
            </a:r>
            <a:r>
              <a:rPr lang="tr-TR" i="1" dirty="0">
                <a:solidFill>
                  <a:srgbClr val="000000"/>
                </a:solidFill>
                <a:latin typeface="Arial" pitchFamily="34" charset="0"/>
              </a:rPr>
              <a:t>=”</a:t>
            </a:r>
            <a:r>
              <a:rPr lang="tr-TR" i="1" dirty="0" err="1">
                <a:solidFill>
                  <a:srgbClr val="000000"/>
                </a:solidFill>
                <a:latin typeface="Arial" pitchFamily="34" charset="0"/>
              </a:rPr>
              <a:t>text</a:t>
            </a:r>
            <a:r>
              <a:rPr lang="tr-TR" i="1" dirty="0">
                <a:solidFill>
                  <a:srgbClr val="000000"/>
                </a:solidFill>
                <a:latin typeface="Arial" pitchFamily="34" charset="0"/>
              </a:rPr>
              <a:t>/</a:t>
            </a:r>
            <a:r>
              <a:rPr lang="tr-TR" i="1" dirty="0" err="1">
                <a:solidFill>
                  <a:srgbClr val="000000"/>
                </a:solidFill>
                <a:latin typeface="Arial" pitchFamily="34" charset="0"/>
              </a:rPr>
              <a:t>css</a:t>
            </a:r>
            <a:r>
              <a:rPr lang="tr-TR" i="1" dirty="0">
                <a:solidFill>
                  <a:srgbClr val="000000"/>
                </a:solidFill>
                <a:latin typeface="Arial" pitchFamily="34" charset="0"/>
              </a:rPr>
              <a:t>” </a:t>
            </a:r>
            <a:r>
              <a:rPr lang="tr-TR" i="1" dirty="0" err="1">
                <a:solidFill>
                  <a:srgbClr val="000000"/>
                </a:solidFill>
                <a:latin typeface="Arial" pitchFamily="34" charset="0"/>
              </a:rPr>
              <a:t>href</a:t>
            </a:r>
            <a:r>
              <a:rPr lang="tr-TR" i="1" dirty="0">
                <a:solidFill>
                  <a:srgbClr val="000000"/>
                </a:solidFill>
                <a:latin typeface="Arial" pitchFamily="34" charset="0"/>
              </a:rPr>
              <a:t>=”style.css” /&gt;</a:t>
            </a:r>
          </a:p>
          <a:p>
            <a:pPr marL="171450" lvl="1">
              <a:spcBef>
                <a:spcPct val="20000"/>
              </a:spcBef>
              <a:buClr>
                <a:srgbClr val="0066CC"/>
              </a:buClr>
              <a:buSzPct val="75000"/>
            </a:pPr>
            <a:r>
              <a:rPr lang="tr-TR" i="1" dirty="0" err="1">
                <a:solidFill>
                  <a:srgbClr val="000000"/>
                </a:solidFill>
                <a:latin typeface="Arial" pitchFamily="34" charset="0"/>
              </a:rPr>
              <a:t>Css</a:t>
            </a:r>
            <a:r>
              <a:rPr lang="tr-TR" i="1" dirty="0">
                <a:solidFill>
                  <a:srgbClr val="000000"/>
                </a:solidFill>
                <a:latin typeface="Arial" pitchFamily="34" charset="0"/>
              </a:rPr>
              <a:t> dosyasının @import etiketi ile çağrılması</a:t>
            </a:r>
          </a:p>
          <a:p>
            <a:pPr marL="171450" lvl="1">
              <a:spcBef>
                <a:spcPct val="20000"/>
              </a:spcBef>
              <a:buClr>
                <a:srgbClr val="0066CC"/>
              </a:buClr>
              <a:buSzPct val="75000"/>
            </a:pPr>
            <a:r>
              <a:rPr lang="tr-TR" i="1" dirty="0">
                <a:solidFill>
                  <a:srgbClr val="000000"/>
                </a:solidFill>
                <a:latin typeface="Arial" pitchFamily="34" charset="0"/>
              </a:rPr>
              <a:t>&lt;</a:t>
            </a:r>
            <a:r>
              <a:rPr lang="tr-TR" i="1" dirty="0" err="1">
                <a:solidFill>
                  <a:srgbClr val="000000"/>
                </a:solidFill>
                <a:latin typeface="Arial" pitchFamily="34" charset="0"/>
              </a:rPr>
              <a:t>style</a:t>
            </a:r>
            <a:r>
              <a:rPr lang="tr-TR" i="1" dirty="0">
                <a:solidFill>
                  <a:srgbClr val="000000"/>
                </a:solidFill>
                <a:latin typeface="Arial" pitchFamily="34" charset="0"/>
              </a:rPr>
              <a:t> </a:t>
            </a:r>
            <a:r>
              <a:rPr lang="tr-TR" i="1" dirty="0" err="1">
                <a:solidFill>
                  <a:srgbClr val="000000"/>
                </a:solidFill>
                <a:latin typeface="Arial" pitchFamily="34" charset="0"/>
              </a:rPr>
              <a:t>type</a:t>
            </a:r>
            <a:r>
              <a:rPr lang="tr-TR" i="1" dirty="0">
                <a:solidFill>
                  <a:srgbClr val="000000"/>
                </a:solidFill>
                <a:latin typeface="Arial" pitchFamily="34" charset="0"/>
              </a:rPr>
              <a:t>=”</a:t>
            </a:r>
            <a:r>
              <a:rPr lang="tr-TR" i="1" dirty="0" err="1">
                <a:solidFill>
                  <a:srgbClr val="000000"/>
                </a:solidFill>
                <a:latin typeface="Arial" pitchFamily="34" charset="0"/>
              </a:rPr>
              <a:t>text</a:t>
            </a:r>
            <a:r>
              <a:rPr lang="tr-TR" i="1" dirty="0">
                <a:solidFill>
                  <a:srgbClr val="000000"/>
                </a:solidFill>
                <a:latin typeface="Arial" pitchFamily="34" charset="0"/>
              </a:rPr>
              <a:t>/</a:t>
            </a:r>
            <a:r>
              <a:rPr lang="tr-TR" i="1" dirty="0" err="1">
                <a:solidFill>
                  <a:srgbClr val="000000"/>
                </a:solidFill>
                <a:latin typeface="Arial" pitchFamily="34" charset="0"/>
              </a:rPr>
              <a:t>css</a:t>
            </a:r>
            <a:r>
              <a:rPr lang="tr-TR" i="1" dirty="0">
                <a:solidFill>
                  <a:srgbClr val="000000"/>
                </a:solidFill>
                <a:latin typeface="Arial" pitchFamily="34" charset="0"/>
              </a:rPr>
              <a:t>”&gt;</a:t>
            </a:r>
          </a:p>
          <a:p>
            <a:pPr marL="171450" lvl="1">
              <a:spcBef>
                <a:spcPct val="20000"/>
              </a:spcBef>
              <a:buClr>
                <a:srgbClr val="0066CC"/>
              </a:buClr>
              <a:buSzPct val="75000"/>
            </a:pPr>
            <a:r>
              <a:rPr lang="tr-TR" i="1" dirty="0">
                <a:solidFill>
                  <a:srgbClr val="000000"/>
                </a:solidFill>
                <a:latin typeface="Arial" pitchFamily="34" charset="0"/>
              </a:rPr>
              <a:t>@import “style.css”;</a:t>
            </a:r>
          </a:p>
          <a:p>
            <a:pPr marL="171450" lvl="1">
              <a:spcBef>
                <a:spcPct val="20000"/>
              </a:spcBef>
              <a:buClr>
                <a:srgbClr val="0066CC"/>
              </a:buClr>
              <a:buSzPct val="75000"/>
            </a:pPr>
            <a:r>
              <a:rPr lang="tr-TR" i="1" dirty="0">
                <a:solidFill>
                  <a:srgbClr val="000000"/>
                </a:solidFill>
                <a:latin typeface="Arial" pitchFamily="34" charset="0"/>
              </a:rPr>
              <a:t>&lt;/</a:t>
            </a:r>
            <a:r>
              <a:rPr lang="tr-TR" i="1" dirty="0" err="1">
                <a:solidFill>
                  <a:srgbClr val="000000"/>
                </a:solidFill>
                <a:latin typeface="Arial" pitchFamily="34" charset="0"/>
              </a:rPr>
              <a:t>style</a:t>
            </a:r>
            <a:r>
              <a:rPr lang="tr-TR" i="1" dirty="0">
                <a:solidFill>
                  <a:srgbClr val="000000"/>
                </a:solidFill>
                <a:latin typeface="Arial" pitchFamily="34" charset="0"/>
              </a:rPr>
              <a:t>&gt;</a:t>
            </a:r>
          </a:p>
        </p:txBody>
      </p:sp>
    </p:spTree>
    <p:extLst>
      <p:ext uri="{BB962C8B-B14F-4D97-AF65-F5344CB8AC3E}">
        <p14:creationId xmlns:p14="http://schemas.microsoft.com/office/powerpoint/2010/main" val="12328070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Dışarıdan CSS Dosyası Kullanma</a:t>
            </a:r>
            <a:endParaRPr lang="en-US" sz="3200" dirty="0"/>
          </a:p>
        </p:txBody>
      </p:sp>
      <p:sp>
        <p:nvSpPr>
          <p:cNvPr id="154627" name="Rectangle 3"/>
          <p:cNvSpPr>
            <a:spLocks noChangeArrowheads="1"/>
          </p:cNvSpPr>
          <p:nvPr/>
        </p:nvSpPr>
        <p:spPr bwMode="auto">
          <a:xfrm>
            <a:off x="0" y="876300"/>
            <a:ext cx="9144000" cy="570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Her iki etikette style.css dosyası içerisindeki ayarlamaları aktif hâle getirmektedir. </a:t>
            </a:r>
          </a:p>
          <a:p>
            <a:pPr marL="514350" lvl="1" indent="-342900">
              <a:spcBef>
                <a:spcPct val="20000"/>
              </a:spcBef>
              <a:buClr>
                <a:srgbClr val="0066CC"/>
              </a:buClr>
              <a:buSzPct val="75000"/>
              <a:buFont typeface="Wingdings" panose="05000000000000000000" pitchFamily="2" charset="2"/>
              <a:buChar char="q"/>
            </a:pPr>
            <a:r>
              <a:rPr lang="tr-TR" dirty="0" err="1">
                <a:solidFill>
                  <a:srgbClr val="000000"/>
                </a:solidFill>
                <a:latin typeface="Arial" pitchFamily="34" charset="0"/>
              </a:rPr>
              <a:t>İmport</a:t>
            </a:r>
            <a:r>
              <a:rPr lang="tr-TR" dirty="0">
                <a:solidFill>
                  <a:srgbClr val="000000"/>
                </a:solidFill>
                <a:latin typeface="Arial" pitchFamily="34" charset="0"/>
              </a:rPr>
              <a:t> etiketi tarayıcı tarafından öncelikli yorumlanmakta, bu etikete kadar olan html etiketleri </a:t>
            </a:r>
            <a:r>
              <a:rPr lang="tr-TR">
                <a:solidFill>
                  <a:srgbClr val="000000"/>
                </a:solidFill>
                <a:latin typeface="Arial" pitchFamily="34" charset="0"/>
              </a:rPr>
              <a:t>de style.</a:t>
            </a:r>
            <a:r>
              <a:rPr lang="tr-TR" dirty="0">
                <a:solidFill>
                  <a:srgbClr val="000000"/>
                </a:solidFill>
                <a:latin typeface="Arial" pitchFamily="34" charset="0"/>
              </a:rPr>
              <a:t>css dosyasındaki talimatlara göre biçimlendirilmektedir.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Link komutunda ise kendisinden önceki komutlar harici </a:t>
            </a:r>
            <a:r>
              <a:rPr lang="tr-TR" dirty="0" err="1">
                <a:solidFill>
                  <a:srgbClr val="000000"/>
                </a:solidFill>
                <a:latin typeface="Arial" pitchFamily="34" charset="0"/>
              </a:rPr>
              <a:t>css</a:t>
            </a:r>
            <a:r>
              <a:rPr lang="tr-TR" dirty="0">
                <a:solidFill>
                  <a:srgbClr val="000000"/>
                </a:solidFill>
                <a:latin typeface="Arial" pitchFamily="34" charset="0"/>
              </a:rPr>
              <a:t> dosyasındaki ayarlardan etkilenmemekte, ancak sonrasındaki ayarlar bu komuta göre yapılandırılmaktadır.</a:t>
            </a:r>
            <a:endParaRPr lang="tr-TR" i="1" dirty="0">
              <a:solidFill>
                <a:srgbClr val="000000"/>
              </a:solidFill>
              <a:latin typeface="Arial" pitchFamily="34" charset="0"/>
            </a:endParaRPr>
          </a:p>
        </p:txBody>
      </p:sp>
    </p:spTree>
    <p:extLst>
      <p:ext uri="{BB962C8B-B14F-4D97-AF65-F5344CB8AC3E}">
        <p14:creationId xmlns:p14="http://schemas.microsoft.com/office/powerpoint/2010/main" val="42796510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Dışarıdan CSS Dosyası Kullanma</a:t>
            </a:r>
            <a:endParaRPr lang="en-US" sz="3200" dirty="0"/>
          </a:p>
        </p:txBody>
      </p:sp>
      <p:sp>
        <p:nvSpPr>
          <p:cNvPr id="154627" name="Rectangle 3"/>
          <p:cNvSpPr>
            <a:spLocks noChangeArrowheads="1"/>
          </p:cNvSpPr>
          <p:nvPr/>
        </p:nvSpPr>
        <p:spPr bwMode="auto">
          <a:xfrm>
            <a:off x="0" y="876300"/>
            <a:ext cx="9144000" cy="570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style.css dosyasının içeriği (örnek CSS dosyası)</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BODY { background-</a:t>
            </a:r>
            <a:r>
              <a:rPr lang="tr-TR" dirty="0" err="1">
                <a:solidFill>
                  <a:srgbClr val="000000"/>
                </a:solidFill>
                <a:latin typeface="Arial" pitchFamily="34" charset="0"/>
              </a:rPr>
              <a:t>color</a:t>
            </a:r>
            <a:r>
              <a:rPr lang="tr-TR" dirty="0">
                <a:solidFill>
                  <a:srgbClr val="000000"/>
                </a:solidFill>
                <a:latin typeface="Arial" pitchFamily="34" charset="0"/>
              </a:rPr>
              <a:t>: #FFFFCC; Font-</a:t>
            </a:r>
            <a:r>
              <a:rPr lang="tr-TR" dirty="0" err="1">
                <a:solidFill>
                  <a:srgbClr val="000000"/>
                </a:solidFill>
                <a:latin typeface="Arial" pitchFamily="34" charset="0"/>
              </a:rPr>
              <a:t>Family</a:t>
            </a:r>
            <a:r>
              <a:rPr lang="tr-TR" dirty="0">
                <a:solidFill>
                  <a:srgbClr val="000000"/>
                </a:solidFill>
                <a:latin typeface="Arial" pitchFamily="34" charset="0"/>
              </a:rPr>
              <a:t>: </a:t>
            </a:r>
            <a:r>
              <a:rPr lang="tr-TR" dirty="0" err="1">
                <a:solidFill>
                  <a:srgbClr val="000000"/>
                </a:solidFill>
                <a:latin typeface="Arial" pitchFamily="34" charset="0"/>
              </a:rPr>
              <a:t>Verdana</a:t>
            </a:r>
            <a:r>
              <a:rPr lang="tr-TR" dirty="0">
                <a:solidFill>
                  <a:srgbClr val="000000"/>
                </a:solidFill>
                <a:latin typeface="Arial" pitchFamily="34" charset="0"/>
              </a:rPr>
              <a:t>, </a:t>
            </a:r>
            <a:r>
              <a:rPr lang="tr-TR" dirty="0" err="1">
                <a:solidFill>
                  <a:srgbClr val="000000"/>
                </a:solidFill>
                <a:latin typeface="Arial" pitchFamily="34" charset="0"/>
              </a:rPr>
              <a:t>Arial</a:t>
            </a:r>
            <a:r>
              <a:rPr lang="tr-TR" dirty="0">
                <a:solidFill>
                  <a:srgbClr val="000000"/>
                </a:solidFill>
                <a:latin typeface="Arial" pitchFamily="34" charset="0"/>
              </a:rPr>
              <a:t>, </a:t>
            </a:r>
            <a:r>
              <a:rPr lang="tr-TR" dirty="0" err="1">
                <a:solidFill>
                  <a:srgbClr val="000000"/>
                </a:solidFill>
                <a:latin typeface="Arial" pitchFamily="34" charset="0"/>
              </a:rPr>
              <a:t>Helvetica</a:t>
            </a:r>
            <a:r>
              <a:rPr lang="tr-TR" dirty="0">
                <a:solidFill>
                  <a:srgbClr val="000000"/>
                </a:solidFill>
                <a:latin typeface="Arial" pitchFamily="34" charset="0"/>
              </a:rPr>
              <a:t>, </a:t>
            </a:r>
            <a:r>
              <a:rPr lang="tr-TR" dirty="0" err="1">
                <a:solidFill>
                  <a:srgbClr val="000000"/>
                </a:solidFill>
                <a:latin typeface="Arial" pitchFamily="34" charset="0"/>
              </a:rPr>
              <a:t>sans-serif</a:t>
            </a:r>
            <a:r>
              <a:rPr lang="tr-TR" dirty="0">
                <a:solidFill>
                  <a:srgbClr val="000000"/>
                </a:solidFill>
                <a:latin typeface="Arial" pitchFamily="34" charset="0"/>
              </a:rPr>
              <a:t>; font-size: 120%;background-</a:t>
            </a:r>
            <a:r>
              <a:rPr lang="tr-TR" dirty="0" err="1">
                <a:solidFill>
                  <a:srgbClr val="000000"/>
                </a:solidFill>
                <a:latin typeface="Arial" pitchFamily="34" charset="0"/>
              </a:rPr>
              <a:t>image</a:t>
            </a:r>
            <a:r>
              <a:rPr lang="tr-TR" dirty="0">
                <a:solidFill>
                  <a:srgbClr val="000000"/>
                </a:solidFill>
                <a:latin typeface="Arial" pitchFamily="34" charset="0"/>
              </a:rPr>
              <a:t> : zemin.jpg;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H1 { </a:t>
            </a:r>
            <a:r>
              <a:rPr lang="tr-TR" dirty="0" err="1">
                <a:solidFill>
                  <a:srgbClr val="000000"/>
                </a:solidFill>
                <a:latin typeface="Arial" pitchFamily="34" charset="0"/>
              </a:rPr>
              <a:t>text-align</a:t>
            </a:r>
            <a:r>
              <a:rPr lang="tr-TR" dirty="0">
                <a:solidFill>
                  <a:srgbClr val="000000"/>
                </a:solidFill>
                <a:latin typeface="Arial" pitchFamily="34" charset="0"/>
              </a:rPr>
              <a:t>: </a:t>
            </a:r>
            <a:r>
              <a:rPr lang="tr-TR" dirty="0" err="1">
                <a:solidFill>
                  <a:srgbClr val="000000"/>
                </a:solidFill>
                <a:latin typeface="Arial" pitchFamily="34" charset="0"/>
              </a:rPr>
              <a:t>center</a:t>
            </a:r>
            <a:r>
              <a:rPr lang="tr-TR" dirty="0">
                <a:solidFill>
                  <a:srgbClr val="000000"/>
                </a:solidFill>
                <a:latin typeface="Arial" pitchFamily="34" charset="0"/>
              </a:rPr>
              <a:t>; </a:t>
            </a:r>
            <a:r>
              <a:rPr lang="tr-TR" dirty="0" err="1">
                <a:solidFill>
                  <a:srgbClr val="000000"/>
                </a:solidFill>
                <a:latin typeface="Arial" pitchFamily="34" charset="0"/>
              </a:rPr>
              <a:t>color</a:t>
            </a:r>
            <a:r>
              <a:rPr lang="tr-TR" dirty="0">
                <a:solidFill>
                  <a:srgbClr val="000000"/>
                </a:solidFill>
                <a:latin typeface="Arial" pitchFamily="34" charset="0"/>
              </a:rPr>
              <a:t> : #ff0000;}</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H3,H4,H5 { </a:t>
            </a:r>
            <a:r>
              <a:rPr lang="tr-TR" dirty="0" err="1">
                <a:solidFill>
                  <a:srgbClr val="000000"/>
                </a:solidFill>
                <a:latin typeface="Arial" pitchFamily="34" charset="0"/>
              </a:rPr>
              <a:t>color</a:t>
            </a:r>
            <a:r>
              <a:rPr lang="tr-TR" dirty="0">
                <a:solidFill>
                  <a:srgbClr val="000000"/>
                </a:solidFill>
                <a:latin typeface="Arial" pitchFamily="34" charset="0"/>
              </a:rPr>
              <a:t> : </a:t>
            </a:r>
            <a:r>
              <a:rPr lang="tr-TR" dirty="0" err="1">
                <a:solidFill>
                  <a:srgbClr val="000000"/>
                </a:solidFill>
                <a:latin typeface="Arial" pitchFamily="34" charset="0"/>
              </a:rPr>
              <a:t>green</a:t>
            </a:r>
            <a:r>
              <a:rPr lang="tr-TR" dirty="0">
                <a:solidFill>
                  <a:srgbClr val="000000"/>
                </a:solidFill>
                <a:latin typeface="Arial" pitchFamily="34" charset="0"/>
              </a:rPr>
              <a:t> ;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P {</a:t>
            </a:r>
            <a:r>
              <a:rPr lang="tr-TR" dirty="0" err="1">
                <a:solidFill>
                  <a:srgbClr val="000000"/>
                </a:solidFill>
                <a:latin typeface="Arial" pitchFamily="34" charset="0"/>
              </a:rPr>
              <a:t>color</a:t>
            </a:r>
            <a:r>
              <a:rPr lang="tr-TR" dirty="0">
                <a:solidFill>
                  <a:srgbClr val="000000"/>
                </a:solidFill>
                <a:latin typeface="Arial" pitchFamily="34" charset="0"/>
              </a:rPr>
              <a:t>: Brown; </a:t>
            </a:r>
            <a:r>
              <a:rPr lang="tr-TR" dirty="0" err="1">
                <a:solidFill>
                  <a:srgbClr val="000000"/>
                </a:solidFill>
                <a:latin typeface="Arial" pitchFamily="34" charset="0"/>
              </a:rPr>
              <a:t>text-align</a:t>
            </a:r>
            <a:r>
              <a:rPr lang="tr-TR" dirty="0">
                <a:solidFill>
                  <a:srgbClr val="000000"/>
                </a:solidFill>
                <a:latin typeface="Arial" pitchFamily="34" charset="0"/>
              </a:rPr>
              <a:t>: </a:t>
            </a:r>
            <a:r>
              <a:rPr lang="tr-TR" dirty="0" err="1">
                <a:solidFill>
                  <a:srgbClr val="000000"/>
                </a:solidFill>
                <a:latin typeface="Arial" pitchFamily="34" charset="0"/>
              </a:rPr>
              <a:t>justify</a:t>
            </a:r>
            <a:r>
              <a:rPr lang="tr-TR" dirty="0">
                <a:solidFill>
                  <a:srgbClr val="000000"/>
                </a:solidFill>
                <a:latin typeface="Arial" pitchFamily="34" charset="0"/>
              </a:rPr>
              <a:t>;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PRE{ font-size : 100%; </a:t>
            </a:r>
            <a:r>
              <a:rPr lang="tr-TR" dirty="0" err="1">
                <a:solidFill>
                  <a:srgbClr val="000000"/>
                </a:solidFill>
                <a:latin typeface="Arial" pitchFamily="34" charset="0"/>
              </a:rPr>
              <a:t>color</a:t>
            </a:r>
            <a:r>
              <a:rPr lang="tr-TR" dirty="0">
                <a:solidFill>
                  <a:srgbClr val="000000"/>
                </a:solidFill>
                <a:latin typeface="Arial" pitchFamily="34" charset="0"/>
              </a:rPr>
              <a:t>: </a:t>
            </a:r>
            <a:r>
              <a:rPr lang="tr-TR" dirty="0" err="1">
                <a:solidFill>
                  <a:srgbClr val="000000"/>
                </a:solidFill>
                <a:latin typeface="Arial" pitchFamily="34" charset="0"/>
              </a:rPr>
              <a:t>blue</a:t>
            </a:r>
            <a:r>
              <a:rPr lang="tr-TR" dirty="0">
                <a:solidFill>
                  <a:srgbClr val="000000"/>
                </a:solidFill>
                <a:latin typeface="Arial" pitchFamily="34" charset="0"/>
              </a:rPr>
              <a:t>; font-</a:t>
            </a:r>
            <a:r>
              <a:rPr lang="tr-TR" dirty="0" err="1">
                <a:solidFill>
                  <a:srgbClr val="000000"/>
                </a:solidFill>
                <a:latin typeface="Arial" pitchFamily="34" charset="0"/>
              </a:rPr>
              <a:t>weight</a:t>
            </a:r>
            <a:r>
              <a:rPr lang="tr-TR" dirty="0">
                <a:solidFill>
                  <a:srgbClr val="000000"/>
                </a:solidFill>
                <a:latin typeface="Arial" pitchFamily="34" charset="0"/>
              </a:rPr>
              <a:t> : </a:t>
            </a:r>
            <a:r>
              <a:rPr lang="tr-TR" dirty="0" err="1">
                <a:solidFill>
                  <a:srgbClr val="000000"/>
                </a:solidFill>
                <a:latin typeface="Arial" pitchFamily="34" charset="0"/>
              </a:rPr>
              <a:t>bold</a:t>
            </a:r>
            <a:r>
              <a:rPr lang="tr-TR" dirty="0">
                <a:solidFill>
                  <a:srgbClr val="000000"/>
                </a:solidFill>
                <a:latin typeface="Arial" pitchFamily="34" charset="0"/>
              </a:rPr>
              <a:t>;}</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SELECT { Font-Size: 12px; </a:t>
            </a:r>
            <a:r>
              <a:rPr lang="tr-TR" dirty="0" err="1">
                <a:solidFill>
                  <a:srgbClr val="000000"/>
                </a:solidFill>
                <a:latin typeface="Arial" pitchFamily="34" charset="0"/>
              </a:rPr>
              <a:t>color</a:t>
            </a:r>
            <a:r>
              <a:rPr lang="tr-TR" dirty="0">
                <a:solidFill>
                  <a:srgbClr val="000000"/>
                </a:solidFill>
                <a:latin typeface="Arial" pitchFamily="34" charset="0"/>
              </a:rPr>
              <a:t>: </a:t>
            </a:r>
            <a:r>
              <a:rPr lang="tr-TR" dirty="0" err="1">
                <a:solidFill>
                  <a:srgbClr val="000000"/>
                </a:solidFill>
                <a:latin typeface="Arial" pitchFamily="34" charset="0"/>
              </a:rPr>
              <a:t>blue</a:t>
            </a:r>
            <a:r>
              <a:rPr lang="tr-TR" dirty="0">
                <a:solidFill>
                  <a:srgbClr val="000000"/>
                </a:solidFill>
                <a:latin typeface="Arial" pitchFamily="34" charset="0"/>
              </a:rPr>
              <a:t>;}</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A:link {COLOR: “</a:t>
            </a:r>
            <a:r>
              <a:rPr lang="tr-TR" dirty="0" err="1">
                <a:solidFill>
                  <a:srgbClr val="000000"/>
                </a:solidFill>
                <a:latin typeface="Arial" pitchFamily="34" charset="0"/>
              </a:rPr>
              <a:t>blue</a:t>
            </a:r>
            <a:r>
              <a:rPr lang="tr-TR" dirty="0">
                <a:solidFill>
                  <a:srgbClr val="000000"/>
                </a:solidFill>
                <a:latin typeface="Arial" pitchFamily="34" charset="0"/>
              </a:rPr>
              <a:t>”; TEXT-DECORATION: </a:t>
            </a:r>
            <a:r>
              <a:rPr lang="tr-TR" dirty="0" err="1">
                <a:solidFill>
                  <a:srgbClr val="000000"/>
                </a:solidFill>
                <a:latin typeface="Arial" pitchFamily="34" charset="0"/>
              </a:rPr>
              <a:t>none</a:t>
            </a:r>
            <a:r>
              <a:rPr lang="tr-TR" dirty="0">
                <a:solidFill>
                  <a:srgbClr val="000000"/>
                </a:solidFill>
                <a:latin typeface="Arial" pitchFamily="34" charset="0"/>
              </a:rPr>
              <a:t>;}</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A:visited { COLOR: “</a:t>
            </a:r>
            <a:r>
              <a:rPr lang="tr-TR" dirty="0" err="1">
                <a:solidFill>
                  <a:srgbClr val="000000"/>
                </a:solidFill>
                <a:latin typeface="Arial" pitchFamily="34" charset="0"/>
              </a:rPr>
              <a:t>red</a:t>
            </a:r>
            <a:r>
              <a:rPr lang="tr-TR" dirty="0">
                <a:solidFill>
                  <a:srgbClr val="000000"/>
                </a:solidFill>
                <a:latin typeface="Arial" pitchFamily="34" charset="0"/>
              </a:rPr>
              <a:t>”; TEXT-DECORATION: </a:t>
            </a:r>
            <a:r>
              <a:rPr lang="tr-TR" dirty="0" err="1">
                <a:solidFill>
                  <a:srgbClr val="000000"/>
                </a:solidFill>
                <a:latin typeface="Arial" pitchFamily="34" charset="0"/>
              </a:rPr>
              <a:t>none</a:t>
            </a:r>
            <a:r>
              <a:rPr lang="tr-TR" dirty="0">
                <a:solidFill>
                  <a:srgbClr val="000000"/>
                </a:solidFill>
                <a:latin typeface="Arial" pitchFamily="34" charset="0"/>
              </a:rPr>
              <a:t>;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A:hover { COLOR: “</a:t>
            </a:r>
            <a:r>
              <a:rPr lang="tr-TR" dirty="0" err="1">
                <a:solidFill>
                  <a:srgbClr val="000000"/>
                </a:solidFill>
                <a:latin typeface="Arial" pitchFamily="34" charset="0"/>
              </a:rPr>
              <a:t>green</a:t>
            </a:r>
            <a:r>
              <a:rPr lang="tr-TR" dirty="0">
                <a:solidFill>
                  <a:srgbClr val="000000"/>
                </a:solidFill>
                <a:latin typeface="Arial" pitchFamily="34" charset="0"/>
              </a:rPr>
              <a:t>”;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A:active { COLOR: “</a:t>
            </a:r>
            <a:r>
              <a:rPr lang="tr-TR" dirty="0" err="1">
                <a:solidFill>
                  <a:srgbClr val="000000"/>
                </a:solidFill>
                <a:latin typeface="Arial" pitchFamily="34" charset="0"/>
              </a:rPr>
              <a:t>black</a:t>
            </a:r>
            <a:r>
              <a:rPr lang="tr-TR" dirty="0">
                <a:solidFill>
                  <a:srgbClr val="000000"/>
                </a:solidFill>
                <a:latin typeface="Arial" pitchFamily="34" charset="0"/>
              </a:rPr>
              <a:t>”;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t>
            </a:r>
          </a:p>
        </p:txBody>
      </p:sp>
    </p:spTree>
    <p:extLst>
      <p:ext uri="{BB962C8B-B14F-4D97-AF65-F5344CB8AC3E}">
        <p14:creationId xmlns:p14="http://schemas.microsoft.com/office/powerpoint/2010/main" val="10609853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Dışarıdan CSS Dosyası Kullanma</a:t>
            </a:r>
            <a:endParaRPr lang="en-US" sz="3200" dirty="0"/>
          </a:p>
        </p:txBody>
      </p:sp>
      <p:pic>
        <p:nvPicPr>
          <p:cNvPr id="3" name="Resim 2">
            <a:extLst>
              <a:ext uri="{FF2B5EF4-FFF2-40B4-BE49-F238E27FC236}">
                <a16:creationId xmlns:a16="http://schemas.microsoft.com/office/drawing/2014/main" id="{99F0EBCB-1E27-4148-AC04-3F1A003AAD3A}"/>
              </a:ext>
            </a:extLst>
          </p:cNvPr>
          <p:cNvPicPr>
            <a:picLocks noChangeAspect="1"/>
          </p:cNvPicPr>
          <p:nvPr/>
        </p:nvPicPr>
        <p:blipFill>
          <a:blip r:embed="rId2"/>
          <a:stretch>
            <a:fillRect/>
          </a:stretch>
        </p:blipFill>
        <p:spPr>
          <a:xfrm>
            <a:off x="1484358" y="1361894"/>
            <a:ext cx="6024282" cy="4939553"/>
          </a:xfrm>
          <a:prstGeom prst="rect">
            <a:avLst/>
          </a:prstGeom>
        </p:spPr>
      </p:pic>
    </p:spTree>
    <p:extLst>
      <p:ext uri="{BB962C8B-B14F-4D97-AF65-F5344CB8AC3E}">
        <p14:creationId xmlns:p14="http://schemas.microsoft.com/office/powerpoint/2010/main" val="227530315"/>
      </p:ext>
    </p:extLst>
  </p:cSld>
  <p:clrMapOvr>
    <a:masterClrMapping/>
  </p:clrMapOvr>
</p:sld>
</file>

<file path=ppt/theme/theme1.xml><?xml version="1.0" encoding="utf-8"?>
<a:theme xmlns:a="http://schemas.openxmlformats.org/drawingml/2006/main" name="1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5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166734</TotalTime>
  <Words>4055</Words>
  <Application>Microsoft Office PowerPoint</Application>
  <PresentationFormat>Ekran Gösterisi (4:3)</PresentationFormat>
  <Paragraphs>259</Paragraphs>
  <Slides>55</Slides>
  <Notes>0</Notes>
  <HiddenSlides>0</HiddenSlides>
  <MMClips>0</MMClips>
  <ScaleCrop>false</ScaleCrop>
  <HeadingPairs>
    <vt:vector size="6" baseType="variant">
      <vt:variant>
        <vt:lpstr>Kullanılan Yazı Tipleri</vt:lpstr>
      </vt:variant>
      <vt:variant>
        <vt:i4>3</vt:i4>
      </vt:variant>
      <vt:variant>
        <vt:lpstr>Tema</vt:lpstr>
      </vt:variant>
      <vt:variant>
        <vt:i4>6</vt:i4>
      </vt:variant>
      <vt:variant>
        <vt:lpstr>Slayt Başlıkları</vt:lpstr>
      </vt:variant>
      <vt:variant>
        <vt:i4>55</vt:i4>
      </vt:variant>
    </vt:vector>
  </HeadingPairs>
  <TitlesOfParts>
    <vt:vector size="64" baseType="lpstr">
      <vt:lpstr>Arial</vt:lpstr>
      <vt:lpstr>Times New Roman</vt:lpstr>
      <vt:lpstr>Wingdings</vt:lpstr>
      <vt:lpstr>1_UMd_Draft4-8Oct</vt:lpstr>
      <vt:lpstr>2_UMd_Draft4-8Oct</vt:lpstr>
      <vt:lpstr>3_UMd_Draft4-8Oct</vt:lpstr>
      <vt:lpstr>4_UMd_Draft4-8Oct</vt:lpstr>
      <vt:lpstr>5_UMd_Draft4-8Oct</vt:lpstr>
      <vt:lpstr>15_UMd_Draft4-8Oct</vt:lpstr>
      <vt:lpstr>PowerPoint Sunusu</vt:lpstr>
      <vt:lpstr>İletişim Bilgileri</vt:lpstr>
      <vt:lpstr>Notlandırma</vt:lpstr>
      <vt:lpstr>Web Sayfasının Yapısı Ve Temel Özellikleri</vt:lpstr>
      <vt:lpstr>Web Sayfasının Yapısı Ve Temel Özellikleri</vt:lpstr>
      <vt:lpstr>Web Sayfasının Yapısı Ve Temel Özellikleri</vt:lpstr>
      <vt:lpstr>Web Sayfasının Yapısı Ve Temel Özellikleri</vt:lpstr>
      <vt:lpstr>Web Sayfasının Yapısı Ve Temel Özellikleri</vt:lpstr>
      <vt:lpstr>Web Sayfasının Yapısı Ve Temel Özellikleri</vt:lpstr>
      <vt:lpstr>Web Sayfasının Yapısı Ve Temel Özellikleri</vt:lpstr>
      <vt:lpstr>Web Sayfasının Yapısı Ve Temel Özellikleri</vt:lpstr>
      <vt:lpstr>Web Sayfasının Yapısı Ve Temel Özellikleri</vt:lpstr>
      <vt:lpstr>Web Sayfasının Yapısı Ve Temel Özellikleri</vt:lpstr>
      <vt:lpstr>Web Sayfasının Yapısı Ve Temel Özellikleri</vt:lpstr>
      <vt:lpstr>Web Sayfasının Yapısı Ve Temel Özellikleri</vt:lpstr>
      <vt:lpstr>Web Sayfasının Yapısı Ve Temel Özellikleri</vt:lpstr>
      <vt:lpstr>Web Sayfasının Yapısı Ve Temel Özellikleri</vt:lpstr>
      <vt:lpstr>Web Sayfasının Yapısı Ve Temel Özellikleri</vt:lpstr>
      <vt:lpstr>Web Sayfasının Yapısı Ve Temel Özellikleri</vt:lpstr>
      <vt:lpstr>HTML’de Metin Kullanımı</vt:lpstr>
      <vt:lpstr>HTML’de Metin Kullanımı</vt:lpstr>
      <vt:lpstr>HTML’de Metin Kullanımı</vt:lpstr>
      <vt:lpstr>Karakter Seti Özelliklerinin Belirlenmesi</vt:lpstr>
      <vt:lpstr>Karakter Seti Özelliklerinin Belirlenmesi</vt:lpstr>
      <vt:lpstr>Karakter Seti Özelliklerinin Belirlenmesi</vt:lpstr>
      <vt:lpstr>Karakter Seti Özelliklerinin Belirlenmesi</vt:lpstr>
      <vt:lpstr>Metin Özelliklerinin Düzenlenmesi</vt:lpstr>
      <vt:lpstr>Metin Özelliklerinin Düzenlenmesi</vt:lpstr>
      <vt:lpstr>Paragrafların Biçimlendirilmesi</vt:lpstr>
      <vt:lpstr>Paragrafların Biçimlendirilmesi</vt:lpstr>
      <vt:lpstr>Listelerin Oluşturulması</vt:lpstr>
      <vt:lpstr>Listelerin Oluşturulması</vt:lpstr>
      <vt:lpstr>Listelerin Oluşturulması</vt:lpstr>
      <vt:lpstr>Listelerin Oluşturulması</vt:lpstr>
      <vt:lpstr>Köprü ve Bağlantıların Kurulması</vt:lpstr>
      <vt:lpstr>Köprü ve Bağlantıların Kurulması</vt:lpstr>
      <vt:lpstr>Köprü ve Bağlantıların Kurulması</vt:lpstr>
      <vt:lpstr>Köprü ve Bağlantıların Kurulması</vt:lpstr>
      <vt:lpstr>Metinlerde Stil Kullanımı</vt:lpstr>
      <vt:lpstr>Metinlerde Stil Kullanımı</vt:lpstr>
      <vt:lpstr>Metinlerde Stil Kullanımı</vt:lpstr>
      <vt:lpstr>Etiketin İçerisinde Stil Kullanımı</vt:lpstr>
      <vt:lpstr>Etiketin İçerisinde Stil Kullanımı</vt:lpstr>
      <vt:lpstr>Gömülü Stil Kullanımı</vt:lpstr>
      <vt:lpstr>Gömülü Stil Kullanımı</vt:lpstr>
      <vt:lpstr>Gömülü Stil Kullanımı</vt:lpstr>
      <vt:lpstr>Gömülü Stil Kullanımı</vt:lpstr>
      <vt:lpstr>Gömülü Stil Kullanımı</vt:lpstr>
      <vt:lpstr>Gömülü Stil Kullanımı</vt:lpstr>
      <vt:lpstr>Gömülü Stil Kullanımı</vt:lpstr>
      <vt:lpstr>Dışarıdan CSS Dosyası Kullanma</vt:lpstr>
      <vt:lpstr>Dışarıdan CSS Dosyası Kullanma</vt:lpstr>
      <vt:lpstr>Dışarıdan CSS Dosyası Kullanma</vt:lpstr>
      <vt:lpstr>Dışarıdan CSS Dosyası Kullanma</vt:lpstr>
      <vt:lpstr>Dışarıdan CSS Dosyası Kullanma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JK/KR, modified by C.Xu/E.Attalla</dc:creator>
  <cp:lastModifiedBy>Zihni KAYA</cp:lastModifiedBy>
  <cp:revision>1241</cp:revision>
  <cp:lastPrinted>2013-04-21T19:31:14Z</cp:lastPrinted>
  <dcterms:created xsi:type="dcterms:W3CDTF">1999-10-08T19:08:27Z</dcterms:created>
  <dcterms:modified xsi:type="dcterms:W3CDTF">2026-02-06T07:03:03Z</dcterms:modified>
</cp:coreProperties>
</file>