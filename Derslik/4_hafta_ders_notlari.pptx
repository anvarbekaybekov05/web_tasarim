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60"/>
  </p:notesMasterIdLst>
  <p:handoutMasterIdLst>
    <p:handoutMasterId r:id="rId61"/>
  </p:handoutMasterIdLst>
  <p:sldIdLst>
    <p:sldId id="824" r:id="rId7"/>
    <p:sldId id="757" r:id="rId8"/>
    <p:sldId id="771" r:id="rId9"/>
    <p:sldId id="772" r:id="rId10"/>
    <p:sldId id="773" r:id="rId11"/>
    <p:sldId id="774" r:id="rId12"/>
    <p:sldId id="775" r:id="rId13"/>
    <p:sldId id="776" r:id="rId14"/>
    <p:sldId id="777" r:id="rId15"/>
    <p:sldId id="778" r:id="rId16"/>
    <p:sldId id="779" r:id="rId17"/>
    <p:sldId id="780" r:id="rId18"/>
    <p:sldId id="781" r:id="rId19"/>
    <p:sldId id="782" r:id="rId20"/>
    <p:sldId id="785" r:id="rId21"/>
    <p:sldId id="784" r:id="rId22"/>
    <p:sldId id="786" r:id="rId23"/>
    <p:sldId id="787" r:id="rId24"/>
    <p:sldId id="788" r:id="rId25"/>
    <p:sldId id="789" r:id="rId26"/>
    <p:sldId id="790" r:id="rId27"/>
    <p:sldId id="791" r:id="rId28"/>
    <p:sldId id="792" r:id="rId29"/>
    <p:sldId id="793" r:id="rId30"/>
    <p:sldId id="794" r:id="rId31"/>
    <p:sldId id="795" r:id="rId32"/>
    <p:sldId id="796" r:id="rId33"/>
    <p:sldId id="797" r:id="rId34"/>
    <p:sldId id="798" r:id="rId35"/>
    <p:sldId id="799" r:id="rId36"/>
    <p:sldId id="800" r:id="rId37"/>
    <p:sldId id="801" r:id="rId38"/>
    <p:sldId id="802" r:id="rId39"/>
    <p:sldId id="803" r:id="rId40"/>
    <p:sldId id="804" r:id="rId41"/>
    <p:sldId id="805" r:id="rId42"/>
    <p:sldId id="807" r:id="rId43"/>
    <p:sldId id="808" r:id="rId44"/>
    <p:sldId id="809" r:id="rId45"/>
    <p:sldId id="810" r:id="rId46"/>
    <p:sldId id="811" r:id="rId47"/>
    <p:sldId id="812" r:id="rId48"/>
    <p:sldId id="813" r:id="rId49"/>
    <p:sldId id="814" r:id="rId50"/>
    <p:sldId id="815" r:id="rId51"/>
    <p:sldId id="816" r:id="rId52"/>
    <p:sldId id="817" r:id="rId53"/>
    <p:sldId id="818" r:id="rId54"/>
    <p:sldId id="819" r:id="rId55"/>
    <p:sldId id="820" r:id="rId56"/>
    <p:sldId id="821" r:id="rId57"/>
    <p:sldId id="822" r:id="rId58"/>
    <p:sldId id="823" r:id="rId5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ve Programlama</a:t>
            </a: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Bölüm Yapılarının Kullanımı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9C63A1D-0907-4A02-A70F-DA401177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27725"/>
            <a:ext cx="91440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Dr. </a:t>
            </a:r>
            <a:r>
              <a:rPr lang="tr-TR" altLang="tr-TR" b="1" dirty="0" err="1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Öğr</a:t>
            </a: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Üyesi</a:t>
            </a:r>
            <a:r>
              <a:rPr kumimoji="0" lang="tr-TR" altLang="tr-TR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Zihni KAYA</a:t>
            </a:r>
            <a:endParaRPr kumimoji="0" lang="en-US" altLang="tr-TR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tr-TR" sz="2000" b="1" dirty="0">
              <a:solidFill>
                <a:srgbClr val="336699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Uygulamal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ı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Bilimler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Fakültesi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Yönetim Bilişim </a:t>
            </a:r>
            <a:r>
              <a:rPr lang="tr-TR" altLang="tr-TR" sz="2000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istemleri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zihnikaya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@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aydin.edu.tr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95D6CDF-BED1-4B82-A5D5-5C5AD07AAF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60" y="5399328"/>
            <a:ext cx="3520063" cy="11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Web sayfalarının estetik acıdan güzel olması ve kullanıcılar tarafından kolay kullanılabilir olması daha çok kullanıcıya ulaşması bakımından önemlidir.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kullanıcılar web sayfasının tasarımını beğenmezlerse o web sayfasını ziyaret etmekten vazgeçebilirler.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bakımdan web sayfasındaki elemanların görsel tasarımının yapılması ve sayfada yerleşimlerinin doğru şekilde ayarlanması gerekir.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etiketleme dilinde sayfa içi elemanların yerleşimini yapmak için bölümlerin oluşturulması gerekmektedir.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Bölümlerin düzgün şekilde oluşturulması, web sayfasının istenen görünümde olabilmesini sağlamak açısından büyük öneme sahiptir. </a:t>
            </a:r>
          </a:p>
        </p:txBody>
      </p:sp>
    </p:spTree>
    <p:extLst>
      <p:ext uri="{BB962C8B-B14F-4D97-AF65-F5344CB8AC3E}">
        <p14:creationId xmlns:p14="http://schemas.microsoft.com/office/powerpoint/2010/main" val="226981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Günümüzde web sayfaları, sadece düz metinden oluşmamaktadır ve sadece masaüstü/dizüstü bilgisayarlar ile görüntülenmemektedirler.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Web sayfaları; başlık, alt bilgi, gezinti,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temasal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bölümler, makale, yan bilgi, vb. bir çok bölümden oluşabilirler ve masaüstü/dizüstü bilgisayar, tablet bilgisayar ve cep telefonları gibi farklı ortamlarda görüntülenmeleri gerekebilir.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İşte bu noktada web sayfalarının farklı ortamlarda istenen şekilde görüntülenebilmesi için görsel tasarımının yapılması, bölümlerinin çok iyi tasarlanması ve biçimlendirilmesi gerekmektedir.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Özelikle HTML5 ve CSS3 sürümleri ile bölüm tasarımına yönelik olarak web tasarımcılarının kullanabilecekleri bir çok yenilik gelmiştir. </a:t>
            </a:r>
          </a:p>
        </p:txBody>
      </p:sp>
    </p:spTree>
    <p:extLst>
      <p:ext uri="{BB962C8B-B14F-4D97-AF65-F5344CB8AC3E}">
        <p14:creationId xmlns:p14="http://schemas.microsoft.com/office/powerpoint/2010/main" val="180178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dilinde sadece bölüm oluşturmaya yönelik div,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header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footer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article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gibi çeşitli etiketler bulunmaktadır.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tür etiketler kapsayıcı etiketlerdir ve diğer etiketleri kendi etiket bloğu içinde bulundurabilirler.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etiketlerden en önemlisi, genel amaçlı olarak kullanılan div etiketidir.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bölümde HTML dilinde bölüm oluşturma etiketlerinin kullanımı ve CSS dili ile biçimlendirilmesi konusunda bilgi verilecektir.</a:t>
            </a:r>
          </a:p>
        </p:txBody>
      </p:sp>
    </p:spTree>
    <p:extLst>
      <p:ext uri="{BB962C8B-B14F-4D97-AF65-F5344CB8AC3E}">
        <p14:creationId xmlns:p14="http://schemas.microsoft.com/office/powerpoint/2010/main" val="226451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Div etiketi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Div etiketi HTML dilinde sıklıkla bölümler oluşturmak için kullanılan, varsayılan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kapsayıcı bir etikettir.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Div etiketinin kullanım amacı sayfa içinde bölümler oluşturmaktır.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Sayfa tasarımına göre iç içe bölümler de oluşturulabilir.</a:t>
            </a:r>
          </a:p>
        </p:txBody>
      </p:sp>
    </p:spTree>
    <p:extLst>
      <p:ext uri="{BB962C8B-B14F-4D97-AF65-F5344CB8AC3E}">
        <p14:creationId xmlns:p14="http://schemas.microsoft.com/office/powerpoint/2010/main" val="2885430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Div etiketi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3351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6.1’de görüldüğü üzere tüm içerik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id’si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sayfa olan bir div içine alınmıştır. Sayfa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div içinde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ustbolum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ortabolum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altbölüm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div’ler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bulunmaktadır.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Ortabolum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div içinde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menu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içerik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divler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bulunmaktadır.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İcerik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içinde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class’ı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ozet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divler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yer yer almaktadır.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Görüdüğü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üzere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div’ler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kullanılarak bir HTML sayfası bölümlendirilmiştir. 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420F2B9-0E5C-4CA4-A93C-4845DF2BA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89" y="3955745"/>
            <a:ext cx="5135028" cy="27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7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Div etiketi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472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Tabi bu bölümlendirmeler CSS ile biçimlendirildiği zaman daha da anlam kazanacaktır. Şekil 6.2’de yukarıdaki kodun oluşturabileceği web sayfasının taslağı verilmiştir.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E4D9567-0F23-4CCF-8E23-71809891F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93" y="2248735"/>
            <a:ext cx="5563376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2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Bölüm Özelliklerinin Belirlenmesi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Bölümlerin HTML etiketleriyle nasıl oluşturulabileceği yukarıda anlatılmıştır.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Güzel bir görüntü elde edebilmek için HTML etiketleri ile oluşturulan bu bölümlerin CSS ile biçimlendirilmesi gerekmektedir.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bölümde bölümlerin sayfa içindeki yerleşimlerinin CSS ile nasıl ayarlanabileceği konusu işlenecektir.</a:t>
            </a:r>
          </a:p>
        </p:txBody>
      </p:sp>
    </p:spTree>
    <p:extLst>
      <p:ext uri="{BB962C8B-B14F-4D97-AF65-F5344CB8AC3E}">
        <p14:creationId xmlns:p14="http://schemas.microsoft.com/office/powerpoint/2010/main" val="40119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Display özelliği sayfa yerleşimini ayarlamak için kullanılan en önemli CSS özelliklerinden biridir.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dilinde tüm etiketler için varsayılan olarak tanımlanmış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isminde bir CSS özelliği bulunmaktadır.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Varsayılan olarak atanan bu değer, genellikle inline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Örneğin; Div,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section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article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nav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p gibi etiketleri için varsayılan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iken,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img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a gibi etiketleri için ise varsayılan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inline olarak tanımlanmıştır.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Display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tanımlanan elemanlar yeni satırda başlarken,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inline olan elemanlar satır içinde yer almaktadırlar. </a:t>
            </a:r>
          </a:p>
        </p:txBody>
      </p:sp>
    </p:spTree>
    <p:extLst>
      <p:ext uri="{BB962C8B-B14F-4D97-AF65-F5344CB8AC3E}">
        <p14:creationId xmlns:p14="http://schemas.microsoft.com/office/powerpoint/2010/main" val="54337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078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6.5’teki kodun denemesini yaparak sonuçlarını gözleyebilirsiniz.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7FF8612-0751-4B1A-9F29-BE36DDC19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8570"/>
            <a:ext cx="8147265" cy="181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90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CSS kullanılarak etiketlerin varsayılan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özelliğini değiştirmek mümkündür.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Örneğin; a{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display:block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;} CSS kodu kullanılarak normalde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inline olan &lt;a&gt; etiketinin sayfada blok olarak görüntülenmesi sağlanabilir.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bir etikete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display:none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CSS özelliği eklenirse, bu etiket sayfada hiç görüntülenmeyecek, hatta hiç yer dahi kaplamayacaktır.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özellik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JavaScript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diliyle değiştirilebilir ve sayfa içinde bazı etiketlerin kullanıcı etkileşime bağlı olarak görünür ya da görünmez olmasını sağlamak için kullanılabilir. </a:t>
            </a:r>
          </a:p>
        </p:txBody>
      </p:sp>
    </p:spTree>
    <p:extLst>
      <p:ext uri="{BB962C8B-B14F-4D97-AF65-F5344CB8AC3E}">
        <p14:creationId xmlns:p14="http://schemas.microsoft.com/office/powerpoint/2010/main" val="276564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visibility: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hidden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özeliği de etiketlerin sayfa da görünmez olması sağlamak için kullanılan bir etikettir.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visibility: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hidden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ile gizlenen etiketler sayfada yer kaplamaya devam ederler. Ancak görünmez olurlar. Şekil 6.6’daki örnekte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id’si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“deneme” olan div etiketi için CSS özelliğini değiştirerek sonuçlarını gözleyiniz.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A0F457F-8B03-456D-BE31-C113A9951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96" y="3527829"/>
            <a:ext cx="5209943" cy="245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4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Display özelliği kullanılarak bir etiketin tablo veya tablo hücresi gibi davranması da sağlanabilir.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Bunun için 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table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table-row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table-cell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ifadeleri kullanılabilir.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1D4C6A8-791A-4DDC-995F-52411DE13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205" y="2563659"/>
            <a:ext cx="4733365" cy="382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0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Width ve </a:t>
            </a:r>
            <a:r>
              <a:rPr lang="tr-TR" sz="3200" dirty="0" err="1"/>
              <a:t>Max</a:t>
            </a:r>
            <a:r>
              <a:rPr lang="tr-TR" sz="3200" dirty="0"/>
              <a:t>-Width Özellikleri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Display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etiketler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max-width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değerlerini ayarlamak mümkündür.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Varsayılan olarak bu etiketler bulunduğu ortamın tüm genişliğini kullanırlar.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bu etiket doğrudan body etiketinin altında ise tarayıcı penceresinin en solundan en sağına kadar yer kaplayacaktır.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bu etiket başka bir kapsayıcı etiketin altına yer alıyorsa, kapsayıcı etiketin sınırları dâhilinde olabilecek en yüksek genişliğe ulaşacaktır.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Width özelliği ile ise etiketler için sabit bir genişlik tanımlaması yapılır ve bu etiket ve içindeki bileşenler bu genişlik içinde yer alırlar.</a:t>
            </a:r>
          </a:p>
        </p:txBody>
      </p:sp>
    </p:spTree>
    <p:extLst>
      <p:ext uri="{BB962C8B-B14F-4D97-AF65-F5344CB8AC3E}">
        <p14:creationId xmlns:p14="http://schemas.microsoft.com/office/powerpoint/2010/main" val="359564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Width ve </a:t>
            </a:r>
            <a:r>
              <a:rPr lang="tr-TR" sz="3200" dirty="0" err="1"/>
              <a:t>Max</a:t>
            </a:r>
            <a:r>
              <a:rPr lang="tr-TR" sz="3200" dirty="0"/>
              <a:t>-Width Özellikleri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Bazı durumlar tanımlanan genişlik tarayıcının sayfa genişliğinden fazla da olabilir.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Özellikle mobil cihazlarda ekran boyutlarının küçük olmasından dolayı bu durum söz konusu olabilir.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durumda elemanın genişliği tarayıcı penceresine sığmayacaktır ve tarayıcı tarafından yatay kaydırma çubukları görüntülenecektir.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Web sayfalarında yatay kaydırma çubukları web sayfasının kullanılabilirliğini düşürdüğü için tercih edilmemektedirler.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yerine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max-width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kullanıldığında elemanların genişlikleri sabit olmak yerine esnek olacaktır ve bulundukların ortamın genişliğine uyum sağlayarak kullanıcılara daha iyi bir kullanma deneyimi sunabilecektir. </a:t>
            </a:r>
          </a:p>
        </p:txBody>
      </p:sp>
    </p:spTree>
    <p:extLst>
      <p:ext uri="{BB962C8B-B14F-4D97-AF65-F5344CB8AC3E}">
        <p14:creationId xmlns:p14="http://schemas.microsoft.com/office/powerpoint/2010/main" val="295616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Width ve </a:t>
            </a:r>
            <a:r>
              <a:rPr lang="tr-TR" sz="3200" dirty="0" err="1"/>
              <a:t>Max</a:t>
            </a:r>
            <a:r>
              <a:rPr lang="tr-TR" sz="3200" dirty="0"/>
              <a:t>-Width Özellikleri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Max-width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belirlenen değer, elemanın genişliği için en büyük değeri gösterir.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CBEE453-5347-4416-98B8-2128C03A6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26" y="2153299"/>
            <a:ext cx="6220895" cy="242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0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Margin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4815281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Margin özelliği bildiğiniz üzere HTML elemanlarının diğer elemanlarla arasındaki mesafeyi ayarlamak için kullanılmaktadır.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margin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özelliğinin bir başka kullanımı ise blok düzeyindeki etiketlerin yatay olarak ortalanmasını sağlamaktır.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Bunun için etiketin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margin-left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margin-right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özelliklerine ya da sadece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margin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auto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değerinin verilmesi gerekmektedir.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250EB21-AE92-4676-9D07-B26E2CAC1B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942"/>
          <a:stretch/>
        </p:blipFill>
        <p:spPr>
          <a:xfrm>
            <a:off x="4907560" y="1065238"/>
            <a:ext cx="3884102" cy="398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86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Margin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kutu1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div etiketi doğrudan body etiketinin altında yer aldığı için tarayıcı penceresinde yatay olarak ortalanmıştır.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Kutu2 ve kutu3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etiketlere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margin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ile ortalama işlemi uygulanmamıştır.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Kutu3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text-align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center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 uygulanmıştır. Şekilde de görüldüğü üzere kutu içindeki metin yatay olarak ortalanmıştır.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Kutu4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etikete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margin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auto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ile ortalama uygulanmıştır. Kutu4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div etiketi, kutu2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etiketin çocuğu olduğu için kutu4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 kutu2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etiketin sınırları kapsamında ortalanmıştır.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5B4B23C-D511-4F40-96B5-F4C61D655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277" y="5282453"/>
            <a:ext cx="5414682" cy="13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73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Position kelimesi mevki, konum anlamları gelmektedir.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Position özelliği ile elemanların ne tür bir konuma sahip olacağı belirlenir. Position özelliğine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relative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fixed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değerleri verilebilmektedir.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sayfasındaki elemanların konumları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top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 ile ayarlanabilir.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bu ayarlamaların istenilen şekilde çalışabilmesini sağlamak için öncelikle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ile konum türü belirlenmelidir.</a:t>
            </a:r>
          </a:p>
        </p:txBody>
      </p:sp>
    </p:spTree>
    <p:extLst>
      <p:ext uri="{BB962C8B-B14F-4D97-AF65-F5344CB8AC3E}">
        <p14:creationId xmlns:p14="http://schemas.microsoft.com/office/powerpoint/2010/main" val="2371435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 elemanlarının varsayılan konum türü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static’tir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kelimesi sabit, durağan anlamlarına gelmektedir.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tür elamanlar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(sol),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(sağ), top (üst)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(alt) özelliklerinden etkilenmezler ve sayfa akışına göre konumları otomatik olarak ayarlanır.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sahip bir paragrafın üst tarafına başka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özelliğe sahip paragraf eklendiğinde altta kalan paragraf sayfada aşağı doğru kayar.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Özetle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özelliğe sahip elemanların sayfada sabit bir konumları yoktur ve sayfa akışına göre konumları tarayıcı tarafından ayarlanır.</a:t>
            </a:r>
          </a:p>
        </p:txBody>
      </p:sp>
    </p:spTree>
    <p:extLst>
      <p:ext uri="{BB962C8B-B14F-4D97-AF65-F5344CB8AC3E}">
        <p14:creationId xmlns:p14="http://schemas.microsoft.com/office/powerpoint/2010/main" val="2195636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Relative kelimesi göreceli anlamına gelmektedir. Position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relative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ayarlanan bir eleman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top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özelliklerine değer atanmaz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aynı şekilde davranış gösterecek ve sayfa akışına göre elamanın yerleşimi tarayıcı tarafından ayarlanacaktır.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top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özelliklerine bir değer ataması yapılması durumunda bu elaman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düşünüldüğünde normalde bulunması gereken konumdan belirtilen değerler kadar sapma meydana gelecektir. </a:t>
            </a:r>
          </a:p>
        </p:txBody>
      </p:sp>
    </p:spTree>
    <p:extLst>
      <p:ext uri="{BB962C8B-B14F-4D97-AF65-F5344CB8AC3E}">
        <p14:creationId xmlns:p14="http://schemas.microsoft.com/office/powerpoint/2010/main" val="235923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div2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div elemanı normalde bulunması gereken yerden 10px aşağıda ve 20px sağda yer almıştır.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Sayfadaki diğer elamanlar div2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elemanın boşalttığı yeri doldurmaya çalışmamıştır veya yeri değişen div2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elemana göre yer değiştirmemişlerdir.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0BAAA219-D6D6-4E33-B2B7-8859EA8B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56" y="3639547"/>
            <a:ext cx="7189867" cy="234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28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kelimesinin anlamı mutlaktır. Position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ayarlanan bir elaman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top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özelliklerine değer atanmalıdır.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Böylece bu eleman için web sayfasında veya bulunduğu blok içinde sabit bir konum belirlenmiş olur.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Mantık olarak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top ile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 aynı anda kullanılmamalıdır. Bir başka değişle bir elemanın hem sol koordinatını hem de sağ koordinatını ayarlamak mantıklı olmayacaktır.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Birini ayarlayınca diğer koordinat zaten otomatik olarak belirlenmiş olacaktır.</a:t>
            </a:r>
          </a:p>
        </p:txBody>
      </p:sp>
    </p:spTree>
    <p:extLst>
      <p:ext uri="{BB962C8B-B14F-4D97-AF65-F5344CB8AC3E}">
        <p14:creationId xmlns:p14="http://schemas.microsoft.com/office/powerpoint/2010/main" val="171163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ayarlanan bir elaman bir blok içinde yer almıyorsa koordinatları tarayıcı penceresi referans alınarak belirlenir, 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olmayan başka bir blok içinde yer alıyorsa koordinatları bu bloğun sınırları referans alınarak belirlenir.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ayarlanan bir elaman kaydırma çubuğu ile hareket eder.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Ayrıca bu özelliğe sahip elemanlar sayfa akışından bağımsız oldukları için sayfadaki diğer elemanlar ile üst üste gelebilirler.</a:t>
            </a:r>
          </a:p>
        </p:txBody>
      </p:sp>
    </p:spTree>
    <p:extLst>
      <p:ext uri="{BB962C8B-B14F-4D97-AF65-F5344CB8AC3E}">
        <p14:creationId xmlns:p14="http://schemas.microsoft.com/office/powerpoint/2010/main" val="835849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olmayan (örnekte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relative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kullanılmış) başka bir kapsayıcı elamanın içinde kullanıldığında, koordinatları kapsayıcı elemanın sınırları referans alınarak belirlenir. 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FD2E18E-9B51-44EB-B385-E1FD40A27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6" y="2848535"/>
            <a:ext cx="4733365" cy="3827929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D3553E42-56FC-4227-A17B-E690A1D1E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085" y="3372971"/>
            <a:ext cx="5056094" cy="26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39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elemanın bir kapsayıcısı yok ise koordinatları tarayıcı penceresinin sınırları referans alınarak belirlenir.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Fixed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kelimesi sabitlenmiş anlamına gelmektedir. Position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fixed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bir elmanın koordinatları tarayıcı penceresi referans alınarak belirlenir ve bu eleman tarayıcı penceresine sabitlenir.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başka deyişe kaydırma çubukları ile sayfa içinde hareket edildiğinde bu elemanların tarayıcı penceresine göre yerleri değişmez.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elaman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top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bottom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özelliklerine değer atanmalıdır. Şekil 6.16’da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fixed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değerinin kullanımı ile ilgili kod örneği bulunmaktadır.</a:t>
            </a:r>
          </a:p>
        </p:txBody>
      </p:sp>
    </p:spTree>
    <p:extLst>
      <p:ext uri="{BB962C8B-B14F-4D97-AF65-F5344CB8AC3E}">
        <p14:creationId xmlns:p14="http://schemas.microsoft.com/office/powerpoint/2010/main" val="846004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sol pencerede dikey kaydırma çubuğu görüldüğü üzere en üste bulunmaktadır.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Sağdaki pencerede ise kaydırma çubuğu bir miktar aşağıya çekilmiştir.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görüldüğü üzere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fixed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ayarlanmış olan elemanın yeri pencereye göre sabit kalmış ve kaydırma çubuklarından etkilenmemiştir.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FD1496D-2358-41B2-A2E3-DD0A3B227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15" y="3958158"/>
            <a:ext cx="473336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66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Sayfa içinde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position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absolute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relative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fixed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elemanlar olduğu zaman, bu elemanların koordinatlarının kesişme ve üst üstü gelme durumları söz konusu olabilir.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Hangi elemanın üstte hangi elemanın altta görüneceğini ise html kodu içinde yazılma sırası ve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 ile belirlenmektedir.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Yazılma sırası dikkate alındığında kodda en son yazılan eleman en üstte görünecektir.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ile değiştirilebilir.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tam sayı değerler verilmelidir.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yüksek olan eleman, düşük olan elemanın üstünde görünecektir. </a:t>
            </a:r>
          </a:p>
        </p:txBody>
      </p:sp>
    </p:spTree>
    <p:extLst>
      <p:ext uri="{BB962C8B-B14F-4D97-AF65-F5344CB8AC3E}">
        <p14:creationId xmlns:p14="http://schemas.microsoft.com/office/powerpoint/2010/main" val="3518335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3800213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negatif tamsayı değerlerde vermek mümkündür.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elemanın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negatif bir değer verildiği zaman varsayılan olarak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değerleri sıfır olan elemanların altında kalacaktır.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2BCF591-CF03-4595-8105-0E7EA387A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950" y="947668"/>
            <a:ext cx="4733365" cy="412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54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Position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3800213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div1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elemanın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-1 değeri verilmiş ve hem normal sayfa içeriğinin hem de div2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elemanın altında kalmıştır.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Div2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elemana ise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1 değeri verilmiştir ve en büyük z-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index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değerine sahip olduğu için en üstte görünmektedir.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7B04B30-227C-4F4D-B6C5-8CEEF6582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090" y="1385170"/>
            <a:ext cx="4717391" cy="276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39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Overflow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Overflow kelimesi taşmak, dışına taşmak anlamlarına gelmektedir.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özellik, genişlik ve yükseklik özellikleri belirtilen elemanların içeriğinin sığmaması, taşması durumunda nasıl davranılacağı ile ilgilidir.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özellik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visible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hidden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scroll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auto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olmak üzere 4 değer alabilmektedir. Varsayılan değer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visible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Overflow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visible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ayarlandığı zaman taşan içerik görünür durumda olur. </a:t>
            </a:r>
          </a:p>
        </p:txBody>
      </p:sp>
    </p:spTree>
    <p:extLst>
      <p:ext uri="{BB962C8B-B14F-4D97-AF65-F5344CB8AC3E}">
        <p14:creationId xmlns:p14="http://schemas.microsoft.com/office/powerpoint/2010/main" val="3325795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Overflow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75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6.20’de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visible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ile ilgili kod örneği verilmiştir. Div1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overflow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belirtilmemiştir.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durumda varsayılan değer olan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visible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geçerli olacaktır.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BE74848-1CCB-470B-BE8E-9C473CC86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09" y="2961619"/>
            <a:ext cx="4410691" cy="2524477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ED2D935-47FC-4A08-A796-5E60A1EB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713" y="3067450"/>
            <a:ext cx="3621741" cy="21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21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Overflow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42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taşan içerik gizlenmemiş, sayda görünür şekilde yer almıştır.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Overflow özelliğine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hidden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değerinin verilmesi durumunda ise taşan içerik gizlenir.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hidden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değerinin kullanımı ile ilgili örneğe yer verilmiştir.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D5EAD62-5A10-4EA9-A0B2-CF4DCB97F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17" y="3681779"/>
            <a:ext cx="4733365" cy="244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75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Overflow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42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taşan içerik gizlenmiştir, sayfada yer kaplamamaktadır.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Overflow özelliğine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scroll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değerinin verilmesi durumunda ise ilgili elemanın sağ ve alt bölümünde kaydırma çubukları ortaya çıkar ve kullanıcı bu kaydırma çubuklarını kullanarak içeriği inceleyebilir. 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F2C0611-2ACD-4708-AB41-1762D26B6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178" y="4019313"/>
            <a:ext cx="3621741" cy="21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85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Overflow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42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6.24’de, Şekil 6.22’de verilen örnekteki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overflow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scroll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auto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değerinin verilmesi durumunda oluşacak ekran çıktıları verilmiştir.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7501066-5D70-485D-8B27-4F92613BE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57" y="2679626"/>
            <a:ext cx="6763694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27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Float kelimesi yüzmek, süzülmek anlamına gelmektedir. Float özelliği ile elemanların sayfa içinde yüzmesi sağlanabilmektedir.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None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değerleri alabilmektedir. HTML etiketlerinin varsayılan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none’dır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En basit kullanımı ile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kullanılarak sağ ya da sol tarafa yerleştirilen bir resmin etrafından metnin akması sağlanabilir. Bunun ile ilgili kod örneği Şekil 6.25’te verilmiştir.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B2933F7-43D6-4E06-A251-08511E44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59" y="4404344"/>
            <a:ext cx="6386836" cy="166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37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gibi resim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 kullanılmıştır.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durumda resim sayfanın sağına yerleşmiş ve sonrasında gelen metin resmin etrafından akmıştır. Şekil 6.26’nın sağ bölümünde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 kullanılmıştır.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durumda resim sol tarafa yerleşmiş ve sonrasında gelen metin resmin etrafından akmıştır.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Float özelliği sadece resim için kullanılan bir özellik değildir. Farklı etiketler içinde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özelliğinden yararlanılabilir. </a:t>
            </a:r>
          </a:p>
        </p:txBody>
      </p:sp>
    </p:spTree>
    <p:extLst>
      <p:ext uri="{BB962C8B-B14F-4D97-AF65-F5344CB8AC3E}">
        <p14:creationId xmlns:p14="http://schemas.microsoft.com/office/powerpoint/2010/main" val="1737010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C1843DB-BB8F-47F9-B1F3-7078240F5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71" y="2329350"/>
            <a:ext cx="691611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30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 Şekil 6.27’de verilen örnek kodda div etiketi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kullanılmıştır.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7E6FB57-D918-422A-9F19-0F8D643A2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762" y="2108252"/>
            <a:ext cx="6225442" cy="301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40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Soldaki şekilde de görüldüğü üzere 4 adet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div etiketi bulunmaktadır.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elemanlar sola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hizalı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şekilde yan yana yerleşmişlerdir. Ancak 4. div elemanı sayfaya sığmadığı için alta geçmiştir.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etiketlerinden sonra gelen metin ise boşlukları dolduracak şekilde div elemanlarının etrafından akmıştır.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Sağ taraftaki resimde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yerine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kullanılmıştır. Bu durumda ise div etiketlerin sayfanın sağına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hizalı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şekilde yerleştikleri görülmektedir.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1E712955-F1BD-4DE9-BF02-A265EDCA9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772" y="4428718"/>
            <a:ext cx="6154009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603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Yukarıdaki örneğe göre div etiketlerinde sonra gelen metnin daha önce kullanılan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özelliklerinden etkilenmeden yeni bir satırdan başlaması istenirse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kullanılabilir.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değerleri almaktadır.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özelliğini,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özelliğini,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ise hem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hem 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değerini temizler.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ile ilgili kod örneği aşağıda verilmiştir.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CDBCD8D-AA01-466B-A705-BDE6E538B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751" y="3695190"/>
            <a:ext cx="4982270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94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6.29’da verilen kodun çıktısı Şekilde 6.30’da verilmiştir.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metin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kullanıldığında yukarda kullanılan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özellikleri temizlenmiş ve metin yeni bir satırdan başlamıştır.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C44FC541-62CD-4547-A061-82A2581B3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187" y="2786691"/>
            <a:ext cx="4742669" cy="33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43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atanan bir eleman başka bir elemanın içinde yer alıyorsa ve bu elemanın uzunluğu kapsayan elemanın uzunluğundan fazla ise kapsayan elemanın sınırlarının dışına taşma durumu söz konusu olacaktır.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problemle ilgili kod örneği Şekil 6.31’de verilmiştir.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FECC85D-98A2-4412-B9D4-15CC8032F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66" y="2947938"/>
            <a:ext cx="5239481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11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6.31’de verilen kodun çıktısı Şekil 6.32’nin sol bölümünde verilmiştir.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CFC87B7B-1880-4189-8D98-3408042A8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46" y="2128656"/>
            <a:ext cx="687801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50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kapsayici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eleman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class’ı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sagda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elemanı kapsıyor olmasına rağmen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class’ı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sagda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 sınırlarını aşmıştır ya da bir başka ifade ile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id’si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kapsayici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eleman, sınırlarını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class’ı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sagda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elemanı kapsayacak şekilde genişletmemiştir.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durumu düzeltmek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id’si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kapsayici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overflow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auto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özelliğinin eklenmesi gerekmektedir.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id’si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kapsayici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overflow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auto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özelliği eklendiğinde oluşacak görüntü Şeklin sağ bölümünde verilmiştir. Bu şekilde de görüldüğü üzere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id’si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kapsayici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olan eleman sınırlarını uygun şekilde büyütmüştür.</a:t>
            </a:r>
          </a:p>
        </p:txBody>
      </p:sp>
    </p:spTree>
    <p:extLst>
      <p:ext uri="{BB962C8B-B14F-4D97-AF65-F5344CB8AC3E}">
        <p14:creationId xmlns:p14="http://schemas.microsoft.com/office/powerpoint/2010/main" val="2928914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Float özelliği kullanılarak rahatlıkla güzel görünümlü bir resim galerisi yapılabilir.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Bunun ile ilgili örnek bir kod Şekil 6.33’de verilmiştir.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02A0A07E-C686-413D-A325-4B474E896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298" y="2150907"/>
            <a:ext cx="5155627" cy="466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293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Float Özelliği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Şekilde de görüldüğü üzere resimleri kapsayan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div’in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ayarlanmıştır.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Böylece resimleri içeren kutular sola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hızalı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yan yana yer almışlardır. Ayrıca sayfanın genişliği arttırıldığında sayfaya sığacak kutusu sayısı artacağı için sayfa genişliğine göre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Resim 5 ve Resim 6 üst satıra geçebileceklerdir. Böylece mobil cihazlar gibi ekran büyüklüğü farklı olan cihazlarda resim galerisi uygun şekilde görüntülenebilecektir.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A8CB1E6-81B5-4686-A479-3D1E816F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129" y="4296150"/>
            <a:ext cx="3621741" cy="21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427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 İçin </a:t>
            </a:r>
            <a:r>
              <a:rPr lang="tr-TR" sz="3200" dirty="0" err="1"/>
              <a:t>Inline-Block</a:t>
            </a:r>
            <a:r>
              <a:rPr lang="tr-TR" sz="3200" dirty="0"/>
              <a:t> Değeri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Float özelliği dışında resim galerisinde olduğu gibi sayfada yüzen elemanlar oluşturmanın bir başka yolu 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display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özelliğine inline-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vermektir.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özellik kullanıldığında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özelliğini kullanmaya gerek kalmamaktadır. Ayrıca normalde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kullanıldıktan sonra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kullanılarak temizlik yapmak gerekmektedir. Ancak inline-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block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buna da gerek yoktur.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0DCE2747-D4D4-4A21-A81E-08B827176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61" y="3553578"/>
            <a:ext cx="3343742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901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Display Özelliği İçin </a:t>
            </a:r>
            <a:r>
              <a:rPr lang="tr-TR" sz="3200" dirty="0" err="1"/>
              <a:t>Inline-Block</a:t>
            </a:r>
            <a:r>
              <a:rPr lang="tr-TR" sz="3200" dirty="0"/>
              <a:t> Değeri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6.35’te verilen kodun çıktısı Şekil 6.36’da verilmiştir.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7893B94-7F8D-486B-9477-A8D350633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83" y="1911679"/>
            <a:ext cx="6030016" cy="365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644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 Uygulama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299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Buraya kadar web sayfasında nasıl bölümler oluşturulabileceği ve bu bölümlerin nasıl biçimlendirilebileceği konularına değinilmiştir.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bölümde ise HTML5’in anlamsal etiketlerinin kullanıldığı bir web sayfasının genel yapısının nasıl oluşturulabileceği ile ilgili bir örneğe yer verilmiştir.</a:t>
            </a:r>
          </a:p>
        </p:txBody>
      </p:sp>
    </p:spTree>
    <p:extLst>
      <p:ext uri="{BB962C8B-B14F-4D97-AF65-F5344CB8AC3E}">
        <p14:creationId xmlns:p14="http://schemas.microsoft.com/office/powerpoint/2010/main" val="12049806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 Uygulama</a:t>
            </a:r>
            <a:endParaRPr lang="en-US" sz="32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BFAFD12-FE93-409F-BDAF-CD2C23493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55" y="977816"/>
            <a:ext cx="6555168" cy="54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72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 Uygulama</a:t>
            </a:r>
            <a:endParaRPr lang="en-US" sz="3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6E64CEB-EEB7-40E7-B8FC-CD1E75DDC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96" y="1146238"/>
            <a:ext cx="6198923" cy="566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31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 Uygulama</a:t>
            </a:r>
            <a:endParaRPr lang="en-US" sz="32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FF170C8-2D84-4A79-8BDD-BFD1EDB13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85" y="1554229"/>
            <a:ext cx="670653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73264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197539</TotalTime>
  <Words>2687</Words>
  <Application>Microsoft Office PowerPoint</Application>
  <PresentationFormat>Ekran Gösterisi (4:3)</PresentationFormat>
  <Paragraphs>194</Paragraphs>
  <Slides>53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53</vt:i4>
      </vt:variant>
    </vt:vector>
  </HeadingPairs>
  <TitlesOfParts>
    <vt:vector size="62" baseType="lpstr">
      <vt:lpstr>Arial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Giriş</vt:lpstr>
      <vt:lpstr>Giriş</vt:lpstr>
      <vt:lpstr>Giriş</vt:lpstr>
      <vt:lpstr>Div etiketi</vt:lpstr>
      <vt:lpstr>Div etiketi</vt:lpstr>
      <vt:lpstr>Div etiketi</vt:lpstr>
      <vt:lpstr>Bölüm Özelliklerinin Belirlenmesi</vt:lpstr>
      <vt:lpstr>Display Özelliği</vt:lpstr>
      <vt:lpstr>Display Özelliği</vt:lpstr>
      <vt:lpstr>Display Özelliği</vt:lpstr>
      <vt:lpstr>Display Özelliği</vt:lpstr>
      <vt:lpstr>Display Özelliği</vt:lpstr>
      <vt:lpstr>Width ve Max-Width Özellikleri</vt:lpstr>
      <vt:lpstr>Width ve Max-Width Özellikleri</vt:lpstr>
      <vt:lpstr>Width ve Max-Width Özellikleri</vt:lpstr>
      <vt:lpstr>Margin Özelliği</vt:lpstr>
      <vt:lpstr>Margin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Position Özelliği</vt:lpstr>
      <vt:lpstr>Overflow Özelliği</vt:lpstr>
      <vt:lpstr>Overflow Özelliği</vt:lpstr>
      <vt:lpstr>Overflow Özelliği</vt:lpstr>
      <vt:lpstr>Overflow Özelliği</vt:lpstr>
      <vt:lpstr>Overflow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Float Özelliği</vt:lpstr>
      <vt:lpstr>Display Özelliği İçin Inline-Block Değeri</vt:lpstr>
      <vt:lpstr>Display Özelliği İçin Inline-Block Değeri</vt:lpstr>
      <vt:lpstr>Örnek Uygulama</vt:lpstr>
      <vt:lpstr>Örnek Uygulama</vt:lpstr>
      <vt:lpstr>Örnek Uygulama</vt:lpstr>
      <vt:lpstr>Örnek Uygulama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1332</cp:revision>
  <cp:lastPrinted>2013-04-21T19:31:14Z</cp:lastPrinted>
  <dcterms:created xsi:type="dcterms:W3CDTF">1999-10-08T19:08:27Z</dcterms:created>
  <dcterms:modified xsi:type="dcterms:W3CDTF">2026-02-25T11:55:31Z</dcterms:modified>
</cp:coreProperties>
</file>