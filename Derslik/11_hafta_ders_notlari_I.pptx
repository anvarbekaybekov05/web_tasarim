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40"/>
  </p:notesMasterIdLst>
  <p:handoutMasterIdLst>
    <p:handoutMasterId r:id="rId41"/>
  </p:handoutMasterIdLst>
  <p:sldIdLst>
    <p:sldId id="770" r:id="rId7"/>
    <p:sldId id="787" r:id="rId8"/>
    <p:sldId id="789" r:id="rId9"/>
    <p:sldId id="790" r:id="rId10"/>
    <p:sldId id="791" r:id="rId11"/>
    <p:sldId id="792" r:id="rId12"/>
    <p:sldId id="793" r:id="rId13"/>
    <p:sldId id="794" r:id="rId14"/>
    <p:sldId id="795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3" r:id="rId23"/>
    <p:sldId id="805" r:id="rId24"/>
    <p:sldId id="806" r:id="rId25"/>
    <p:sldId id="807" r:id="rId26"/>
    <p:sldId id="808" r:id="rId27"/>
    <p:sldId id="809" r:id="rId28"/>
    <p:sldId id="810" r:id="rId29"/>
    <p:sldId id="811" r:id="rId30"/>
    <p:sldId id="812" r:id="rId31"/>
    <p:sldId id="813" r:id="rId32"/>
    <p:sldId id="814" r:id="rId33"/>
    <p:sldId id="815" r:id="rId34"/>
    <p:sldId id="816" r:id="rId35"/>
    <p:sldId id="817" r:id="rId36"/>
    <p:sldId id="818" r:id="rId37"/>
    <p:sldId id="819" r:id="rId38"/>
    <p:sldId id="820" r:id="rId3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Form İşleme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 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Süper küresel değişkenler, betiğin içindeki herhangi bir kısımda, fonksiyon içinde ya da sınıfta herhangi özel bir şey yapmaksızın erişilebilen ön tanımlı değişkenlerdir.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içindeki süper küresel değişkenler şunlardır;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$GLOBALS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$_SERVER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$_REQUEST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$_POST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$_GET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$_FILES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$_ENV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$_COOKIE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$_SESSION</a:t>
            </a:r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$GLOBALS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808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betiği içinde herhangi bir yerden ulaşılabilen değişkenlerdir. (Fonksiyonlar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metodların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içinden dahi ulaşılabilir.) Bütün değişkenler ismi $GLOBALS[indeks] olan bir dizi içinde saklanır. İndeks ifadesi değişkenin ismidir.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$x, $y değişkenlerine normal şartlarda fonksiyon içinden ulaşılamazken artık ulaşılabilir olduğuna, $z değişkeninin değerine de fonksiyon dışından ulaşılabildiğine dikkat edin.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45284" y="3707851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19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endParaRPr lang="tr-TR" b="0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ekle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'z'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]=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'x'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'y'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ekle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$z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1253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$_SERVER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808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Başlık, yol ve betiğin bulunduğu yer gibi bilgilerin tutulması için $_SERVER küresel değişkeni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 $_SERVER küresel değişkeninin nasıl kullanılabileceğini görüyorsunuz.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78172" y="2860563"/>
            <a:ext cx="8305101" cy="369331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1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'PHP_SELF'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'SERVER_NAME'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'HTTP_HOST'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'HTTP_REFERER'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pt-B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pt-B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pt-B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pt-B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'HTTP_USER_AGENT'</a:t>
            </a:r>
            <a:r>
              <a:rPr lang="pt-B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'SCRIPT_NAME'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b="0" i="0" u="none" strike="noStrike" baseline="0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3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$_SERVER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35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tablo $_SERVER küresel değişkeni ile ulaşılabilecek bilgilerin genel bir listesini sunmaktadır.</a:t>
            </a:r>
          </a:p>
        </p:txBody>
      </p:sp>
      <p:graphicFrame>
        <p:nvGraphicFramePr>
          <p:cNvPr id="2" name="Tablo 2">
            <a:extLst>
              <a:ext uri="{FF2B5EF4-FFF2-40B4-BE49-F238E27FC236}">
                <a16:creationId xmlns:a16="http://schemas.microsoft.com/office/drawing/2014/main" id="{A83255D0-9630-437A-8363-253667E77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90921"/>
              </p:ext>
            </p:extLst>
          </p:nvPr>
        </p:nvGraphicFramePr>
        <p:xfrm>
          <a:off x="478173" y="1818573"/>
          <a:ext cx="7701092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546">
                  <a:extLst>
                    <a:ext uri="{9D8B030D-6E8A-4147-A177-3AD203B41FA5}">
                      <a16:colId xmlns:a16="http://schemas.microsoft.com/office/drawing/2014/main" val="1509667572"/>
                    </a:ext>
                  </a:extLst>
                </a:gridCol>
                <a:gridCol w="3850546">
                  <a:extLst>
                    <a:ext uri="{9D8B030D-6E8A-4147-A177-3AD203B41FA5}">
                      <a16:colId xmlns:a16="http://schemas.microsoft.com/office/drawing/2014/main" val="3434606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Kod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Açıklama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15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$_SERVER['PHP_SELF']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 an çalıştırılan betiğin dosya adını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36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$_SERVER['SERVER_ADDR']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Sunucunun IP adresini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08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$_SERVER['SERVER_NAME']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Sunucu bilgisayarın adını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9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$_SERVER['HTTP_REFERER']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 anki sayfanın tam URL’sini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7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$_SERVER['REMOTE_ADDR']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Tarayıcının çalıştığı istemcinin IP adresini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57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$_SERVER['SCRIPT_NAME']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 an çalışan betiğin çalıştığı yolu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93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$_SERVER['SCRIPT_URI']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Betiğin çalıştırıldığı sayfanın URI bilgisini döndürür.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0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03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96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$_REQUEST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formu tarafından gönderilen bilginin toplanması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&lt;form&gt; etiketleri içinde isim bilgisini aldığımız bir alan ve bunu yollamak için kullandığımız bir düğme html kodlarıyla oluşturulmuş bulunuyor.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Örneğimiz kendi topladığı veriyi kullanabilen bir dosyadan oluşuyor.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Gönder düğmesine bastığında şayet post metodu ile veri gelmişse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kodları gelen datayı $_REQUEST ile topluyor.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Koşullu ifade gelen verinin durumuna göre “İsim alanı boş” ya da girilen ifadeyi yazıyor.</a:t>
            </a:r>
          </a:p>
        </p:txBody>
      </p:sp>
    </p:spTree>
    <p:extLst>
      <p:ext uri="{BB962C8B-B14F-4D97-AF65-F5344CB8AC3E}">
        <p14:creationId xmlns:p14="http://schemas.microsoft.com/office/powerpoint/2010/main" val="86789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$_REQUEST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329C5E5-4146-4C99-88E4-A8282EEF2F4A}"/>
              </a:ext>
            </a:extLst>
          </p:cNvPr>
          <p:cNvSpPr txBox="1"/>
          <p:nvPr/>
        </p:nvSpPr>
        <p:spPr>
          <a:xfrm>
            <a:off x="419449" y="1035609"/>
            <a:ext cx="8305101" cy="563231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&lt;form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method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"post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action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&lt;?php</a:t>
            </a:r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'PHP_SELF'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İsim: 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tr-TR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type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text</a:t>
            </a:r>
            <a:r>
              <a:rPr lang="tr-TR" sz="1800" b="1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name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"isim"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tr-TR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type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submit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&lt;/form&gt;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1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"REQUEST_METHOD"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]==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"POST"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pPr lvl="1"/>
            <a:r>
              <a:rPr lang="tr-TR" sz="18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tr-TR" sz="18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 alanının değeri alınıyor.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$_REQUEST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'isim'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pPr lvl="1"/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empty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)){</a:t>
            </a:r>
          </a:p>
          <a:p>
            <a:pPr lvl="1"/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"İsim alanı boş"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38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$_POST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formundan post yöntemiyle gönderilen veriler toplanırken en yaygın kullanım $_POST yöntemidir.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&lt;form&gt; etiketleri içinde isim bilgisini aldığımız bir alan ve bunu yollamak için kullandığımız bir düğme html kodlarıyla oluşturulmuş bulunuyor.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Örneğimiz kendi topladığı veriyi kullanabilen bir dosyadan oluşuyor.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Gönder düğmesine bastığında şayet post metodu ile veri gelmişse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kodları gelen datayı $_POST ile topluyor.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Koşullu ifade gelen verinin durumuna göre “İsim alanı boş” ya da girilen ifadeyi yazıyor.</a:t>
            </a:r>
          </a:p>
        </p:txBody>
      </p:sp>
    </p:spTree>
    <p:extLst>
      <p:ext uri="{BB962C8B-B14F-4D97-AF65-F5344CB8AC3E}">
        <p14:creationId xmlns:p14="http://schemas.microsoft.com/office/powerpoint/2010/main" val="378573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$_POST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3AF6A3B-BD9B-4471-BFE9-21A869BF7194}"/>
              </a:ext>
            </a:extLst>
          </p:cNvPr>
          <p:cNvSpPr txBox="1"/>
          <p:nvPr/>
        </p:nvSpPr>
        <p:spPr>
          <a:xfrm>
            <a:off x="419449" y="1035609"/>
            <a:ext cx="8305101" cy="563231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&lt;form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method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"post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action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&lt;?php</a:t>
            </a:r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'PHP_SELF'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r>
              <a:rPr lang="en-US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İsim: 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tr-TR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type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text</a:t>
            </a:r>
            <a:r>
              <a:rPr lang="tr-TR" sz="1800" b="1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name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"isim"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tr-TR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type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submit</a:t>
            </a:r>
            <a:r>
              <a:rPr lang="tr-TR" sz="1800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&lt;/form&gt;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1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$_SERVER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"REQUEST_METHOD"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]==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"POST"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pPr lvl="1"/>
            <a:r>
              <a:rPr lang="tr-TR" sz="18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tr-TR" sz="18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Input</a:t>
            </a:r>
            <a:r>
              <a:rPr lang="tr-TR" sz="18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 alanının değeri alınıyor.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$_REQUEST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'isim'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pPr lvl="1"/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empty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)){</a:t>
            </a:r>
          </a:p>
          <a:p>
            <a:pPr lvl="1"/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"İsim alanı boş"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$ad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b="0" i="0" u="none" strike="noStrike" baseline="0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395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$_GET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formundan “GET” yöntemiyle gönderilen veriler $_GET ifadesiyle toplanır.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$_GET aynı zamanda adres çubuğuyla (ya da URL) gönderilen verileri toplamak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Herhangi bir html dosyasına aşağıdaki kodu girin;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BAA78E6-01BE-4AA3-99C7-134D454096E7}"/>
              </a:ext>
            </a:extLst>
          </p:cNvPr>
          <p:cNvSpPr txBox="1"/>
          <p:nvPr/>
        </p:nvSpPr>
        <p:spPr>
          <a:xfrm>
            <a:off x="318781" y="3174802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&lt;a 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href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"</a:t>
            </a:r>
            <a:r>
              <a:rPr lang="tr-TR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denemeget.php?konu</a:t>
            </a:r>
            <a:r>
              <a:rPr lang="tr-TR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PHP&amp;okul</a:t>
            </a:r>
            <a:r>
              <a:rPr lang="tr-TR" b="1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=IIBF"</a:t>
            </a:r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  <a:r>
              <a:rPr lang="tr-TR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&lt;/a&gt;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sz="3200" b="0" i="0" u="none" strike="noStrike" baseline="0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8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$_GET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linki tıkladığında (Deneme) “konu” ve “okul” parametreleri aşağıda kodları bulunan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denemeget.php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dosyasına gönderilecektir.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Gelen URL kodu $_GET ile işlenecektir.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BAA78E6-01BE-4AA3-99C7-134D454096E7}"/>
              </a:ext>
            </a:extLst>
          </p:cNvPr>
          <p:cNvSpPr txBox="1"/>
          <p:nvPr/>
        </p:nvSpPr>
        <p:spPr>
          <a:xfrm>
            <a:off x="318781" y="3174802"/>
            <a:ext cx="8305101" cy="203132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1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en-US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cho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en-US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Ders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$_GET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konu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].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 </a:t>
            </a:r>
            <a:r>
              <a:rPr lang="en-US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ve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burası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en-US" sz="18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$_GET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okul</a:t>
            </a:r>
            <a:r>
              <a:rPr lang="en-US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sz="3200" b="0" i="0" u="none" strike="noStrike" baseline="0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0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HTML Formlarında $_GET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HTML formu,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method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'GET' olarak ayarlandığında bilgileri HTTP GET yöntemiyle gönderir.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BAA78E6-01BE-4AA3-99C7-134D454096E7}"/>
              </a:ext>
            </a:extLst>
          </p:cNvPr>
          <p:cNvSpPr txBox="1"/>
          <p:nvPr/>
        </p:nvSpPr>
        <p:spPr>
          <a:xfrm>
            <a:off x="310392" y="2193290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&lt;body&gt;</a:t>
            </a:r>
          </a:p>
          <a:p>
            <a:endParaRPr lang="tr-TR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action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welcome_get.php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method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="GET"&gt;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Name: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name="name"&gt;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E-mail: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submit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&lt;/form&gt;</a:t>
            </a:r>
          </a:p>
          <a:p>
            <a:endParaRPr lang="tr-TR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&lt;/html&gt;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970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HTML Formlarında $_GET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"Bir kullanıcı gönder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submit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butonuna tıkladığında, form verileri &lt;form&gt; etiketinin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action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özelliğinde belirtilen bir PHP dosyasına gönderilir.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Form alanları, sizin girdinizle birlikte, PHP dosyasına sorgu dizeleri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query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olarak iletilir.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welcome_get.php?name=John&amp;email=john@example.com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BAA78E6-01BE-4AA3-99C7-134D454096E7}"/>
              </a:ext>
            </a:extLst>
          </p:cNvPr>
          <p:cNvSpPr txBox="1"/>
          <p:nvPr/>
        </p:nvSpPr>
        <p:spPr>
          <a:xfrm>
            <a:off x="327170" y="3441680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&lt;body&gt;</a:t>
            </a:r>
          </a:p>
          <a:p>
            <a:endParaRPr lang="en-US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Welcome &lt;?php echo $_GET["name"]; ?&gt;&lt;</a:t>
            </a:r>
            <a:r>
              <a:rPr lang="en-US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Your email address is: &lt;?php echo $_GET["email"]; ?&gt;</a:t>
            </a:r>
          </a:p>
          <a:p>
            <a:endParaRPr lang="en-US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&lt;/html&gt;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10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397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bölümlerde üzerinde çalışacağımız HTML formu, çeşitli giriş alanları içerir: zorunlu ve isteğe bağlı metin alanları, radyo düğmeleri ve bir gönderme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submit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butonu.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E763D98-70BB-4678-9723-EB0BEBB977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50" t="39643" r="76881" b="18278"/>
          <a:stretch/>
        </p:blipFill>
        <p:spPr>
          <a:xfrm>
            <a:off x="528506" y="2407640"/>
            <a:ext cx="4530055" cy="392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5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44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Önce formun sade (düz) HTML koduna bakacağız.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İsim, e-posta ve web sitesi alanları metin giriş öğeleridir ve yorum alanı bir metin alanıdır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textarea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C7201CF-5D49-4A9B-B5DA-585498F30BD3}"/>
              </a:ext>
            </a:extLst>
          </p:cNvPr>
          <p:cNvSpPr txBox="1"/>
          <p:nvPr/>
        </p:nvSpPr>
        <p:spPr>
          <a:xfrm>
            <a:off x="352337" y="2459504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Name: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name="name"&gt;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E-mail: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Comment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: 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comment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rows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="5"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cols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="40"&gt;&lt;/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8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44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Cinsiyet alanları radyo düğmeleridir ve HTML kodu şu şekildedir: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C7201CF-5D49-4A9B-B5DA-585498F30BD3}"/>
              </a:ext>
            </a:extLst>
          </p:cNvPr>
          <p:cNvSpPr txBox="1"/>
          <p:nvPr/>
        </p:nvSpPr>
        <p:spPr>
          <a:xfrm>
            <a:off x="352337" y="2459504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Gender: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radio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value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female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Female</a:t>
            </a:r>
            <a:endParaRPr lang="tr-TR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radio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value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male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"&gt;Male</a:t>
            </a:r>
          </a:p>
          <a:p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input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type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radio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name="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 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value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="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other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Other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49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157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Formun HTML kodu şu şekildedir: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htmlspecialchars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nedir?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htmlspecialchars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fonksiyonu, özel karakterleri HTML varlıklarına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entities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dönüştürür.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Bu, &lt; ve &gt; gibi HTML karakterlerini &amp;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ve &amp;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gibi ifadelerle değiştirir anlamına gelir.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sayede, formlar aracılığıyla HTML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kodu enjekte ederek yapılan saldırılar (Cross-site Scripting saldırıları) engellenir.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C7201CF-5D49-4A9B-B5DA-585498F30BD3}"/>
              </a:ext>
            </a:extLst>
          </p:cNvPr>
          <p:cNvSpPr txBox="1"/>
          <p:nvPr/>
        </p:nvSpPr>
        <p:spPr>
          <a:xfrm>
            <a:off x="293614" y="5272586"/>
            <a:ext cx="8305101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method="post" action="&lt;?php echo </a:t>
            </a:r>
            <a:r>
              <a:rPr lang="en-US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($_SERVER["PHP_SELF"]);?&gt;"&gt;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6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index.php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adlı bir sayfada aşağıdaki formun bulunduğunu varsayalım: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C7201CF-5D49-4A9B-B5DA-585498F30BD3}"/>
              </a:ext>
            </a:extLst>
          </p:cNvPr>
          <p:cNvSpPr txBox="1"/>
          <p:nvPr/>
        </p:nvSpPr>
        <p:spPr>
          <a:xfrm>
            <a:off x="268447" y="2093159"/>
            <a:ext cx="8305101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method="post" action="&lt;?php echo $_SERVER["PHP_SELF"];?&gt;"&gt;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80B45B-7EC6-4595-A185-3174C8728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8895"/>
            <a:ext cx="9144000" cy="105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Şimdi, bir kullanıcı adres çubuğuna "http://localhost/index.php" gibi normal bir URL girerse, yukarıdaki kod şu şekilde çevrilecektir: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8E622FD-9801-42BA-8628-5AC7144DA7F2}"/>
              </a:ext>
            </a:extLst>
          </p:cNvPr>
          <p:cNvSpPr txBox="1"/>
          <p:nvPr/>
        </p:nvSpPr>
        <p:spPr>
          <a:xfrm>
            <a:off x="268446" y="5064260"/>
            <a:ext cx="830510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method="post" action="</a:t>
            </a:r>
            <a:r>
              <a:rPr lang="tr-TR" dirty="0">
                <a:solidFill>
                  <a:schemeClr val="tx2"/>
                </a:solidFill>
                <a:latin typeface="Courier New" panose="02070309020205020404" pitchFamily="49" charset="0"/>
              </a:rPr>
              <a:t>index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.php"&gt;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89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Ancak, bir kullanıcının adres çubuğuna aşağıdaki URL’yi girdiğini düşünün: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C7201CF-5D49-4A9B-B5DA-585498F30BD3}"/>
              </a:ext>
            </a:extLst>
          </p:cNvPr>
          <p:cNvSpPr txBox="1"/>
          <p:nvPr/>
        </p:nvSpPr>
        <p:spPr>
          <a:xfrm>
            <a:off x="268447" y="2093159"/>
            <a:ext cx="8305101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http://</a:t>
            </a:r>
            <a:r>
              <a:rPr lang="tr-TR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localhost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/</a:t>
            </a:r>
            <a:r>
              <a:rPr lang="tr-TR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index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.php/%22%3E%3Cscript%3Ealert('hacked')%3C/script%3E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80B45B-7EC6-4595-A185-3174C8728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8895"/>
            <a:ext cx="9144000" cy="105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durumda, yukarıdaki kod şu şekilde çevrilecektir: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8E622FD-9801-42BA-8628-5AC7144DA7F2}"/>
              </a:ext>
            </a:extLst>
          </p:cNvPr>
          <p:cNvSpPr txBox="1"/>
          <p:nvPr/>
        </p:nvSpPr>
        <p:spPr>
          <a:xfrm>
            <a:off x="268446" y="5064260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method="post" action="</a:t>
            </a:r>
            <a:r>
              <a:rPr lang="tr-TR" dirty="0">
                <a:solidFill>
                  <a:schemeClr val="tx2"/>
                </a:solidFill>
                <a:latin typeface="Courier New" panose="02070309020205020404" pitchFamily="49" charset="0"/>
              </a:rPr>
              <a:t>index</a:t>
            </a:r>
            <a:r>
              <a:rPr lang="en-US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.php/"&gt;&lt;script&gt;alert('hacked')&lt;/script&gt;</a:t>
            </a:r>
            <a:endParaRPr lang="tr-TR" sz="4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"Bu kod bir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etiketi ve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alert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komutu ekler. Sayfa yüklendiğinde,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kodu çalıştırılır (kullanıcı bir uyarı kutusu görür). Bu, PHP_SELF değişkeninin nasıl istismar edilebileceğine dair basit ve zararsız bir örnektir.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Unutmayın ki,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etiketi içine herhangi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kodu eklenebilir! Bir hacker, kullanıcıyı başka bir sunucudaki bir dosyaya yönlendirebilir ve bu dosya, küresel değişkenleri değiştirebilecek veya formu farklı bir adrese göndererek kullanıcı verilerini kaydedebilecek kötü amaçlı kod içerebilir.</a:t>
            </a:r>
          </a:p>
        </p:txBody>
      </p:sp>
    </p:spTree>
    <p:extLst>
      <p:ext uri="{BB962C8B-B14F-4D97-AF65-F5344CB8AC3E}">
        <p14:creationId xmlns:p14="http://schemas.microsoft.com/office/powerpoint/2010/main" val="638814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formu gönderdiğinde iki şey daha yapacağız: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Kullanıcının girdiği verilerden gereksiz karakterleri (fazladan boşluk, sekme, yeni satır gibi) kaldıracağız (PHP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trim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ile)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Kullanıcının girdiği verilerden ters eğik çizgi (\) karakterlerini kaldıracağız (PHP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stripslashes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ile)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sonraki adım, tüm bu kontrolleri bizim için yapacak bir fonksiyon oluşturmaktır (bu, aynı kodu tekrar tekrar yazmaktan çok daha kullanışlıdır).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test_input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adını vereceğiz.</a:t>
            </a:r>
          </a:p>
        </p:txBody>
      </p:sp>
    </p:spTree>
    <p:extLst>
      <p:ext uri="{BB962C8B-B14F-4D97-AF65-F5344CB8AC3E}">
        <p14:creationId xmlns:p14="http://schemas.microsoft.com/office/powerpoint/2010/main" val="2964838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Şimdi, her bir $_POST değişkenini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test_input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ile kontrol edebiliriz ve betik şu şekilde görünecektir: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419449" y="1993931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$name = $email = $gender = $comment = $website = "";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if ($_SERVER["REQUEST_METHOD"] == "POST")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$name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($_POST["name"]);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$email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($_POST["email"]);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$website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($_POST["website"]);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$comment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($_POST["comment"]);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$gender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($_POST["gender"]);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function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($data)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$data = trim($data);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$data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stripslashes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($data);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$data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($data);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return $data;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  <a:endParaRPr lang="tr-TR" sz="36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27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Hata Mesajlarını Gösterme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Daha sonra HTML formunda, her zorunlu alanın sonuna küçük bir betik ekliyoruz; bu betik, gerekirse doğru hata mesajını oluşturuyor.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419449" y="1993931"/>
            <a:ext cx="8305101" cy="409342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&lt;form method="post" action="&lt;?php echo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htmlspecialchars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($_SERVER["PHP_SELF"]);?&gt;"&gt;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Name: &lt;input type="text" name="name"&gt;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&lt;span class="error"&gt;* &lt;?php echo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nameErr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;?&gt;&lt;/span&gt;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E-mail: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type="text" name="email"&gt;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&lt;span class="error"&gt;* &lt;?php echo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;?&gt;&lt;/span&gt;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Website: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type="text" name="website"&gt;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&lt;span class="error"&gt;&lt;?php echo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;?&gt;&lt;/span&gt;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66369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Hata Mesajlarını Gösterme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503339" y="1993930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Comment: 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name="comment" rows="5" cols="40"&gt;&lt;/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Gender: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 value="female"&gt;Female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 value="male"&gt;Male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 value="other"&gt;Other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&lt;span class="error"&gt;* &lt;?php echo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;?&gt;&lt;/span&gt;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&gt;&lt;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br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type="submit" name="submit" value="Submit"&gt;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&lt;/form&gt;</a:t>
            </a:r>
            <a:endParaRPr lang="tr-TR" sz="36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67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Name alanı boş ise hata mesajı veriyoruz.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419449" y="2105561"/>
            <a:ext cx="8305101" cy="132343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$name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($_POST["name"]);</a:t>
            </a:r>
            <a:endParaRPr lang="tr-TR" sz="2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if (!</a:t>
            </a:r>
            <a:r>
              <a:rPr lang="tr-TR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name)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nameErr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tr-TR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"İsim alanı boş olamaz.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7751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e-posta adresinin doğru biçimlendirilip biçimlendirilmediğini kontrol etmenin en kolay ve en güvenli yolu,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PHP'nin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filter_var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kullanmaktır.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419449" y="2105561"/>
            <a:ext cx="8305101" cy="132343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$email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($_POST["email"]);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if (!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filter_var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($email, FILTER_VALIDATE_EMAIL))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"Invalid email format";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0999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adresi boş olamaz.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419449" y="2105561"/>
            <a:ext cx="8305101" cy="132343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$website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($_POST["website"]);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if (!</a:t>
            </a:r>
            <a:r>
              <a:rPr lang="tr-TR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</a:t>
            </a:r>
            <a:r>
              <a:rPr lang="tr-TR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)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tr-TR" sz="2000" dirty="0">
                <a:solidFill>
                  <a:schemeClr val="tx2"/>
                </a:solidFill>
                <a:latin typeface="Courier New" panose="02070309020205020404" pitchFamily="49" charset="0"/>
              </a:rPr>
              <a:t>"</a:t>
            </a:r>
            <a:r>
              <a:rPr lang="tr-TR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Geçersiz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URL";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5686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335559" y="1602221"/>
            <a:ext cx="8305101" cy="47089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nameErr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$name = $email = $gender = $comment = $website = "";</a:t>
            </a:r>
          </a:p>
          <a:p>
            <a:endParaRPr lang="en-US" sz="2000" b="0" i="0" u="none" strike="noStrike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if ($_SERVER["REQUEST_METHOD"] == "POST")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if (empty($_POST["name"]))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nameErr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"Name is required";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$name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($_POST["name"]);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// check if name only contains letters and whitespace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if (!name)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nameErr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"Only letters and white space allowed";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065761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335559" y="1602221"/>
            <a:ext cx="8305101" cy="286232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if (empty($_POST["email"]))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"Email is required";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$email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($_POST["email"]);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// check if e-mail address is well-formed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if (!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filter_var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($email, FILTER_VALIDATE_EMAIL))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emailErr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"Invalid email format";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578815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335559" y="1602221"/>
            <a:ext cx="8305101" cy="31700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if (empty($_POST["website"]))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$website = "";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$website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($_POST["website"]);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// check if URL address syntax is valid (this regular expression also allows dashes in the URL)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if (!</a:t>
            </a:r>
            <a:r>
              <a:rPr lang="tr-TR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</a:t>
            </a:r>
            <a:r>
              <a:rPr lang="tr-TR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)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websiteErr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"Invalid URL";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036064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335559" y="1602221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if (empty($_POST["comment"]))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$comment = "";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$comment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($_POST["comment"]);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if (empty($_POST["gender"]))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genderErr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= "Gender is required";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  $gender = </a:t>
            </a:r>
            <a:r>
              <a:rPr lang="en-US" sz="20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test_input</a:t>
            </a:r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($_POST["gender"]);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sz="20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1270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FF11F4E-B4E3-4FC5-8EE8-883087E10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01" y="949962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gönder butonuna bastıktan sonra giriş alanlarındaki değerleri göstermek için, aşağıdaki giriş alanlarının (isim, e-posta ve web sitesi)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value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niteliği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attribute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içine küçük bir PHP betiği ekleriz.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Yorum alanı olan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textarea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içinde ise bu betiği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textarea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ve 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textarea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etiketleri arasına yerleştiririz.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küçük betik, $name,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email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website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comment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değişkenlerinin değerlerini ekrana yazdırır.</a:t>
            </a:r>
          </a:p>
        </p:txBody>
      </p:sp>
    </p:spTree>
    <p:extLst>
      <p:ext uri="{BB962C8B-B14F-4D97-AF65-F5344CB8AC3E}">
        <p14:creationId xmlns:p14="http://schemas.microsoft.com/office/powerpoint/2010/main" val="4249327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Form Doğrulama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4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A09E4D-1659-4126-8704-9C5D03FA7079}"/>
              </a:ext>
            </a:extLst>
          </p:cNvPr>
          <p:cNvSpPr txBox="1"/>
          <p:nvPr/>
        </p:nvSpPr>
        <p:spPr>
          <a:xfrm>
            <a:off x="318782" y="944281"/>
            <a:ext cx="8305101" cy="59093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Name: &lt;input type="text" name="name" value="&lt;?php echo $name;?&gt;"&gt;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E-mail: &lt;input type="text" name="email" value="&lt;?php echo $email;?&gt;"&gt;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Website: &lt;input type="text" name="website" value="&lt;?php echo $website;?&gt;"&gt;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Comment: &lt;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 name="comment" rows="5" cols="40"&gt;&lt;?php echo $comment;?&gt;&lt;/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textarea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Gender: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&lt;?php if (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isset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($gender) &amp;&amp; $gender=="female") echo "checked";?&gt;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value="female"&gt;Female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&lt;?php if (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isset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($gender) &amp;&amp; $gender=="male") echo "checked";?&gt;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value="male"&gt;Male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&lt;input type="radio" name="gender"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&lt;?php if (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ourier New" panose="02070309020205020404" pitchFamily="49" charset="0"/>
              </a:rPr>
              <a:t>isset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($gender) &amp;&amp; $gender=="other") echo "checked";?&gt;</a:t>
            </a:r>
          </a:p>
          <a:p>
            <a:r>
              <a:rPr lang="en-US" sz="1800" b="0" i="0" u="none" strike="noStrike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value="other"&gt;Other</a:t>
            </a:r>
          </a:p>
        </p:txBody>
      </p:sp>
    </p:spTree>
    <p:extLst>
      <p:ext uri="{BB962C8B-B14F-4D97-AF65-F5344CB8AC3E}">
        <p14:creationId xmlns:p14="http://schemas.microsoft.com/office/powerpoint/2010/main" val="2764546346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325236</TotalTime>
  <Words>2766</Words>
  <Application>Microsoft Office PowerPoint</Application>
  <PresentationFormat>Ekran Gösterisi (4:3)</PresentationFormat>
  <Paragraphs>323</Paragraphs>
  <Slides>33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33</vt:i4>
      </vt:variant>
    </vt:vector>
  </HeadingPairs>
  <TitlesOfParts>
    <vt:vector size="43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Giriş </vt:lpstr>
      <vt:lpstr>$GLOBALS</vt:lpstr>
      <vt:lpstr>$_SERVER</vt:lpstr>
      <vt:lpstr>$_SERVER</vt:lpstr>
      <vt:lpstr>$_REQUEST</vt:lpstr>
      <vt:lpstr>$_REQUEST</vt:lpstr>
      <vt:lpstr>$_POST</vt:lpstr>
      <vt:lpstr>$_POST</vt:lpstr>
      <vt:lpstr>$_GET</vt:lpstr>
      <vt:lpstr>$_GET</vt:lpstr>
      <vt:lpstr>HTML Formlarında $_GET</vt:lpstr>
      <vt:lpstr>HTML Formlarında $_GET</vt:lpstr>
      <vt:lpstr>PHP Form Doğrulama</vt:lpstr>
      <vt:lpstr>PHP Form Doğrulama</vt:lpstr>
      <vt:lpstr>PHP Form Doğrulama</vt:lpstr>
      <vt:lpstr>PHP Form Doğrulama</vt:lpstr>
      <vt:lpstr>PHP Form Doğrulama</vt:lpstr>
      <vt:lpstr>PHP Form Doğrulama</vt:lpstr>
      <vt:lpstr>PHP Form Doğrulama</vt:lpstr>
      <vt:lpstr>PHP Form Doğrulama</vt:lpstr>
      <vt:lpstr>PHP Form Doğrulama</vt:lpstr>
      <vt:lpstr>Hata Mesajlarını Gösterme</vt:lpstr>
      <vt:lpstr>Hata Mesajlarını Gösterme</vt:lpstr>
      <vt:lpstr>Form Doğrulama</vt:lpstr>
      <vt:lpstr>Form Doğrulama</vt:lpstr>
      <vt:lpstr>Form Doğrulama</vt:lpstr>
      <vt:lpstr>Form Doğrulama</vt:lpstr>
      <vt:lpstr>Form Doğrulama</vt:lpstr>
      <vt:lpstr>Form Doğrulama</vt:lpstr>
      <vt:lpstr>Form Doğrulama</vt:lpstr>
      <vt:lpstr>Form Doğrulama</vt:lpstr>
      <vt:lpstr>Form Doğrulama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1802</cp:revision>
  <cp:lastPrinted>2013-04-21T19:31:14Z</cp:lastPrinted>
  <dcterms:created xsi:type="dcterms:W3CDTF">1999-10-08T19:08:27Z</dcterms:created>
  <dcterms:modified xsi:type="dcterms:W3CDTF">2026-04-16T07:47:58Z</dcterms:modified>
</cp:coreProperties>
</file>