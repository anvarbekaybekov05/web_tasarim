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34"/>
  </p:notesMasterIdLst>
  <p:handoutMasterIdLst>
    <p:handoutMasterId r:id="rId35"/>
  </p:handoutMasterIdLst>
  <p:sldIdLst>
    <p:sldId id="770" r:id="rId7"/>
    <p:sldId id="798" r:id="rId8"/>
    <p:sldId id="810" r:id="rId9"/>
    <p:sldId id="811" r:id="rId10"/>
    <p:sldId id="813" r:id="rId11"/>
    <p:sldId id="814" r:id="rId12"/>
    <p:sldId id="815" r:id="rId13"/>
    <p:sldId id="809" r:id="rId14"/>
    <p:sldId id="800" r:id="rId15"/>
    <p:sldId id="801" r:id="rId16"/>
    <p:sldId id="802" r:id="rId17"/>
    <p:sldId id="803" r:id="rId18"/>
    <p:sldId id="804" r:id="rId19"/>
    <p:sldId id="805" r:id="rId20"/>
    <p:sldId id="806" r:id="rId21"/>
    <p:sldId id="807" r:id="rId22"/>
    <p:sldId id="808" r:id="rId23"/>
    <p:sldId id="816" r:id="rId24"/>
    <p:sldId id="817" r:id="rId25"/>
    <p:sldId id="818" r:id="rId26"/>
    <p:sldId id="819" r:id="rId27"/>
    <p:sldId id="820" r:id="rId28"/>
    <p:sldId id="821" r:id="rId29"/>
    <p:sldId id="822" r:id="rId30"/>
    <p:sldId id="823" r:id="rId31"/>
    <p:sldId id="824" r:id="rId32"/>
    <p:sldId id="825" r:id="rId3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Sitesi Tasarım </a:t>
            </a:r>
            <a:r>
              <a:rPr lang="tr-TR" sz="36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 Programlama </a:t>
            </a:r>
            <a:endParaRPr lang="tr-T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tr-TR" alt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MySQL </a:t>
            </a:r>
            <a:r>
              <a:rPr kumimoji="0" lang="tr-TR" altLang="tr-T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Veritabanı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İstisna (</a:t>
            </a:r>
            <a:r>
              <a:rPr lang="tr-TR" sz="3200" dirty="0" err="1"/>
              <a:t>exception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istisna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exception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), bir PHP betiğinde meydana gelen bir hata veya beklenmeyen davranışı tanımlayan bir nesnedir.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Pek çok PHP fonksiyonu ve sınıfı tarafından istisnalar fırlatılabilir.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tanımlı fonksiyonlar ve sınıflar da istisna fırlatabilir.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İstisnalar, bir fonksiyonun kullanamayacağı bir veriyle karşılaştığında işlemi durdurması için iyi bir yoldur</a:t>
            </a:r>
          </a:p>
        </p:txBody>
      </p:sp>
    </p:spTree>
    <p:extLst>
      <p:ext uri="{BB962C8B-B14F-4D97-AF65-F5344CB8AC3E}">
        <p14:creationId xmlns:p14="http://schemas.microsoft.com/office/powerpoint/2010/main" val="44026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İstisna Fırlatma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throw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ifadesi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kullanıcı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tanımlı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fonksiyonun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veya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metodun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fırlatmasına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(throw)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olanak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tanır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en-US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Bir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fırlatıldığında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onun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ardından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gelen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kod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çalıştırılmaz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en-US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Eğer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fırlatılan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yakalanmazsa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"Uncaught Exception" (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Yakalanmamış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İstisna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mesajıyla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birlikte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ölümcül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hata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oluşur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9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İstisna Fırlatma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3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throw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ifadesi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kullanıcı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tanımlı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fonksiyonun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veya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metodun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fırlatmasına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(throw)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olanak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tanır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171450" lvl="1">
              <a:spcBef>
                <a:spcPct val="20000"/>
              </a:spcBef>
              <a:buClr>
                <a:srgbClr val="0066CC"/>
              </a:buClr>
              <a:buSzPct val="75000"/>
            </a:pPr>
            <a:endParaRPr lang="en-US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84F8737-8CEC-47DC-B87A-A33766710637}"/>
              </a:ext>
            </a:extLst>
          </p:cNvPr>
          <p:cNvSpPr txBox="1"/>
          <p:nvPr/>
        </p:nvSpPr>
        <p:spPr>
          <a:xfrm>
            <a:off x="222309" y="1828801"/>
            <a:ext cx="8699382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divide($dividend, $divisor)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($divisor ==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Exception(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"Division by zero"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$dividend / $divisor;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divide(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4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38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try...</a:t>
            </a:r>
            <a:r>
              <a:rPr lang="tr-TR" sz="3200" dirty="0" err="1"/>
              <a:t>catch</a:t>
            </a:r>
            <a:r>
              <a:rPr lang="tr-TR" sz="3200" dirty="0"/>
              <a:t> İfadesi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3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Yukarıdaki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örnekteki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hatayı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önlemek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için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try...catch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ifadesini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kullanarak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istisnaları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yakalayabilir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işlemi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sürdürmeye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devam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edebiliriz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Bir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fırlatıldığında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mesaj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göster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: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84F8737-8CEC-47DC-B87A-A33766710637}"/>
              </a:ext>
            </a:extLst>
          </p:cNvPr>
          <p:cNvSpPr txBox="1"/>
          <p:nvPr/>
        </p:nvSpPr>
        <p:spPr>
          <a:xfrm>
            <a:off x="322977" y="2525087"/>
            <a:ext cx="8699382" cy="409342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tr-T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tr-TR" sz="2000" dirty="0"/>
            </a:b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dividend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 </a:t>
            </a:r>
            <a:r>
              <a:rPr lang="tr-T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Division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zero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dividend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sz="2000" dirty="0"/>
            </a:br>
            <a:r>
              <a:rPr lang="tr-T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tr-T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$e)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Unable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sz="2000" dirty="0"/>
            </a:br>
            <a:r>
              <a:rPr lang="tr-T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36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532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try...</a:t>
            </a:r>
            <a:r>
              <a:rPr lang="tr-TR" sz="3200" dirty="0" err="1"/>
              <a:t>catch</a:t>
            </a:r>
            <a:r>
              <a:rPr lang="tr-TR" sz="3200" dirty="0"/>
              <a:t>...</a:t>
            </a:r>
            <a:r>
              <a:rPr lang="tr-TR" sz="3200" dirty="0" err="1"/>
              <a:t>finally</a:t>
            </a:r>
            <a:r>
              <a:rPr lang="tr-TR" sz="3200" dirty="0"/>
              <a:t> İfadesi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try...catch...finally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ifadesi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istisnaları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yakalamak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için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kullanılabilir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en-US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finally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bloğundaki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kod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yakalansa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da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yakalanmasa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da her zaman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çalışır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en-US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Eğer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finally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bloğu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varsa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catch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bloğu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isteğe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bağlıdır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20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try...</a:t>
            </a:r>
            <a:r>
              <a:rPr lang="tr-TR" sz="3200" dirty="0" err="1"/>
              <a:t>catch</a:t>
            </a:r>
            <a:r>
              <a:rPr lang="tr-TR" sz="3200" dirty="0"/>
              <a:t>...</a:t>
            </a:r>
            <a:r>
              <a:rPr lang="tr-TR" sz="3200" dirty="0" err="1"/>
              <a:t>finally</a:t>
            </a:r>
            <a:r>
              <a:rPr lang="tr-TR" sz="3200" dirty="0"/>
              <a:t> İfadesi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3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Bir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istisna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fırlatıldığında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mesaj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göster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ardından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işlemin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sona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erdiğini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belirt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84F8737-8CEC-47DC-B87A-A33766710637}"/>
              </a:ext>
            </a:extLst>
          </p:cNvPr>
          <p:cNvSpPr txBox="1"/>
          <p:nvPr/>
        </p:nvSpPr>
        <p:spPr>
          <a:xfrm>
            <a:off x="297810" y="1828800"/>
            <a:ext cx="8699382" cy="47089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tr-T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tr-TR" sz="2000" dirty="0"/>
            </a:b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dividend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tr-T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Division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zero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dividend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sz="2000" dirty="0"/>
            </a:br>
            <a:r>
              <a:rPr lang="tr-T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tr-T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$e)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Unable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complete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sz="2000" dirty="0"/>
            </a:br>
            <a:r>
              <a:rPr lang="tr-T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36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881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MySQL Nedir?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MySQL, web üzerinde kullanılan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sistemidir.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MySQL, bir sunucu üzerinde çalışan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sistemidir.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MySQL, hem küçük hem de büyük uygulamalar için idealdir.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MySQL, çok hızlı, güvenilir ve kullanımı kolaydır.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MySQL, standart SQL kullanır.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MySQL, birçok platformda derlenebilir.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MySQL, indirip kullanmak için ücretsizdir.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Oracle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Corporation tarafından geliştirilmekte, dağıtılmakta ve desteklenmektedir.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 ismini, kurucu ortak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Monty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Widenius’ın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kızı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My’dan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almıştır.</a:t>
            </a:r>
          </a:p>
        </p:txBody>
      </p:sp>
    </p:spTree>
    <p:extLst>
      <p:ext uri="{BB962C8B-B14F-4D97-AF65-F5344CB8AC3E}">
        <p14:creationId xmlns:p14="http://schemas.microsoft.com/office/powerpoint/2010/main" val="141503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MySQL Nedir?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MySQL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veritabanındaki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veriler tablolar içinde saklanır.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tablo, birbiriyle ilişkili verilerden oluşan bir koleksiyondur ve sütunlar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columns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ile satırlardan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rows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oluşur.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Veritabanları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bilgileri kategorik olarak saklamak için oldukça kullanışlıdır.</a:t>
            </a:r>
          </a:p>
        </p:txBody>
      </p:sp>
    </p:spTree>
    <p:extLst>
      <p:ext uri="{BB962C8B-B14F-4D97-AF65-F5344CB8AC3E}">
        <p14:creationId xmlns:p14="http://schemas.microsoft.com/office/powerpoint/2010/main" val="331758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MySQL Bağlantısı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 5 ve sonrası, bir MySQL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ile şu yollarla çalışabilir: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MySQLi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eklentisi (“i” harfi geliştirilmiş anlamına gelir)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PDO (PHP Data Objects)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PHP’nin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önceki sürümleri MySQL eklentisini kullanıyordu. Ancak bu eklenti 2012 yılında kullanımdan kaldırıldı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deprecated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2617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MySQLi’mi</a:t>
            </a:r>
            <a:r>
              <a:rPr lang="tr-TR" sz="3200" dirty="0"/>
              <a:t> </a:t>
            </a:r>
            <a:r>
              <a:rPr lang="tr-TR" sz="3200" dirty="0" err="1"/>
              <a:t>PDO’mu</a:t>
            </a:r>
            <a:r>
              <a:rPr lang="tr-TR" sz="3200" dirty="0"/>
              <a:t> Kullanmalıyım?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Eğer kısa bir cevap istiyorsanız, bu "Hangisini istersen" olurdu.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Hem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MySQLi'nin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hem de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PDO'nun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avantajları vardır: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PDO, 12 farklı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sistemiyle çalışabilirken,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MySQLi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yalnızca MySQL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veritabanlarıyla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çalışır.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Bu yüzden, eğer projenizi başka bir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veritabanına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geçirmek zorunda kalırsanız, PDO bu süreci kolaylaştırır.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Sadece bağlantı cümlesini (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connection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string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) ve birkaç sorguyu değiştirmeniz yeterlidir.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Ancak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MySQLi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kullanıyorsanız, tüm kodu — sorgular dahil — baştan yazmanız gerekir.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Her ikisi de nesne yönelimlidir (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object-oriented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), fakat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MySQLi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, ayrıca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prosedürel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bir API de sunar.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Her ikisi de Hazırlanmış Sorguları (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Prepared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Statements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) destekler.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Hazırlanmış sorgular, SQL enjeksiyonuna karşı koruma sağlar ve web uygulama güvenliği açısından oldukça önemlidir.</a:t>
            </a:r>
          </a:p>
        </p:txBody>
      </p:sp>
    </p:spTree>
    <p:extLst>
      <p:ext uri="{BB962C8B-B14F-4D97-AF65-F5344CB8AC3E}">
        <p14:creationId xmlns:p14="http://schemas.microsoft.com/office/powerpoint/2010/main" val="1923398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MySQL’e</a:t>
            </a:r>
            <a:r>
              <a:rPr lang="tr-TR" sz="3200" dirty="0"/>
              <a:t> Bağlantı Açma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MySQL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veritabanındaki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verilere erişmeden önce, sunucuya bağlanabilmemiz gerekir.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4C54BDD-2417-4F77-867D-4F4A1D90C786}"/>
              </a:ext>
            </a:extLst>
          </p:cNvPr>
          <p:cNvSpPr txBox="1"/>
          <p:nvPr/>
        </p:nvSpPr>
        <p:spPr>
          <a:xfrm>
            <a:off x="222309" y="1828801"/>
            <a:ext cx="8699382" cy="47089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tr-T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localhost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PDO(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mysql:host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servername;dbname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myDB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set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PDO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exception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(PDO::ATTR_ERRMODE, PDO::ERRMODE_EXCEPTION);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successfully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PDOException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$e)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"Connection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failed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$e-&gt;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sz="2000" dirty="0"/>
            </a:br>
            <a:r>
              <a:rPr lang="tr-T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38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MySQL Bağlantısın Kapatma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Bağlantı, betik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sona erdiğinde otomatik olarak kapatılacaktır.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Bağlantıyı daha önce kapatmak için aşağıdakini kullanın: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4C54BDD-2417-4F77-867D-4F4A1D90C786}"/>
              </a:ext>
            </a:extLst>
          </p:cNvPr>
          <p:cNvSpPr txBox="1"/>
          <p:nvPr/>
        </p:nvSpPr>
        <p:spPr>
          <a:xfrm>
            <a:off x="222309" y="2441197"/>
            <a:ext cx="8699382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4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949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Veritabanı</a:t>
            </a:r>
            <a:r>
              <a:rPr lang="tr-TR" sz="3200" dirty="0"/>
              <a:t> Yaratma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CREATE DATABASE ifadesi,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MySQL'de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oluşturmak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Aşağıdaki örnekler,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myDB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adlı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oluşturur: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4C54BDD-2417-4F77-867D-4F4A1D90C786}"/>
              </a:ext>
            </a:extLst>
          </p:cNvPr>
          <p:cNvSpPr txBox="1"/>
          <p:nvPr/>
        </p:nvSpPr>
        <p:spPr>
          <a:xfrm>
            <a:off x="339755" y="2152035"/>
            <a:ext cx="8699382" cy="452431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tr-TR" sz="16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servername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localhost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600" dirty="0"/>
            </a:br>
            <a:r>
              <a:rPr lang="tr-TR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16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PDO(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mysql:host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servername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set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PDO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exception</a:t>
            </a:r>
            <a:b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(PDO::ATTR_ERRMODE, PDO::ERRMODE_EXCEPTION);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"CREATE DATABASE deneme CHARACTER SET utf8mb4 COLLATE utf8mb4_turkish_ci"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because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no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returned</a:t>
            </a:r>
            <a:br>
              <a:rPr lang="tr-TR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6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"Database 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successfully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tr-TR" sz="16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PDOException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$e) {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6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 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tr-TR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tr-TR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$e-&gt;</a:t>
            </a:r>
            <a:r>
              <a:rPr lang="tr-TR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1600" dirty="0"/>
            </a:br>
            <a:r>
              <a:rPr lang="tr-TR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sz="1600" u="sng" dirty="0"/>
            </a:br>
            <a:r>
              <a:rPr lang="tr-TR" sz="1600" b="0" i="0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1600" b="0" i="0" u="sng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1600" b="0" i="0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tr-TR" sz="1600" b="0" i="0" u="sng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tr-TR" sz="1600" b="0" i="0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600" dirty="0"/>
            </a:br>
            <a:r>
              <a:rPr lang="tr-TR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36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165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Yaratma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CREATE TABLE ifadesi,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MySQL'de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bir tablo oluşturmak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Beş sütunlu "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MyGuests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" adlı bir tablo oluşturacağız: "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id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", "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firstname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" (ad), "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lastname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" (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soyad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), "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email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" (e-posta) ve "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reg_date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" (kayıt tarihi).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4C54BDD-2417-4F77-867D-4F4A1D90C786}"/>
              </a:ext>
            </a:extLst>
          </p:cNvPr>
          <p:cNvSpPr txBox="1"/>
          <p:nvPr/>
        </p:nvSpPr>
        <p:spPr>
          <a:xfrm>
            <a:off x="356533" y="2017811"/>
            <a:ext cx="8699382" cy="480131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PDO(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mysql:host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servername;dbname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dbname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(PDO::ATTR_ERRMODE, PDO::ERRMODE_EXCEPTION);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"CREATE TABLE 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MyGuests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b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INT(6) UNSIGNED AUTO_INCREMENT PRIMARY KEY,</a:t>
            </a:r>
            <a:b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VARCHAR(30) NOT NULL,</a:t>
            </a:r>
            <a:b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VARCHAR(30) NOT NULL,</a:t>
            </a:r>
            <a:b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VARCHAR(50),</a:t>
            </a:r>
            <a:b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reg_date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TIMESTAMP DEFAULT CURRENT_TIMESTAMP ON UPDATE CURRENT_TIMESTAMP</a:t>
            </a:r>
            <a:b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)"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MyGuests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successfully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PDOException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$e) {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 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$e-&gt;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4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299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Ekleme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409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Bir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ve bir tablo oluşturulduktan sonra, bunlara veri eklemeye başlayabiliriz.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İzlenmesi gereken bazı sözdizimi kuralları şunlardır: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sz="2000" dirty="0">
              <a:solidFill>
                <a:srgbClr val="000000"/>
              </a:solidFill>
              <a:latin typeface="Arial" pitchFamily="34" charset="0"/>
            </a:endParaRP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   SQL sorgusu PHP içinde tırnak içine alınmalıdır.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   SQL sorgusu içindeki metin (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string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) değerler tırnak içinde olmalıdır.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   Sayısal (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numeric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) değerler tırnak içine alınmamalıdır.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   NULL kelimesi tırnak içine alınmamalıdır.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sz="2000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INSERT INTO ifadesi, bir MySQL tablosuna yeni kayıtlar eklemek için kullanılır.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8A8C501-CB56-4A73-8B61-BF39485DC28C}"/>
              </a:ext>
            </a:extLst>
          </p:cNvPr>
          <p:cNvSpPr txBox="1"/>
          <p:nvPr/>
        </p:nvSpPr>
        <p:spPr>
          <a:xfrm>
            <a:off x="352338" y="4974673"/>
            <a:ext cx="843932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INSERT INTO </a:t>
            </a:r>
            <a:r>
              <a:rPr lang="en-US" dirty="0" err="1"/>
              <a:t>table_name</a:t>
            </a:r>
            <a:r>
              <a:rPr lang="en-US" dirty="0"/>
              <a:t> (column1, column2, column3,...)</a:t>
            </a:r>
          </a:p>
          <a:p>
            <a:r>
              <a:rPr lang="en-US" dirty="0"/>
              <a:t>VALUES (value1, value2, value3,...)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99280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Ekleme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bir tablo oluşturulduktan sonra, bunlara veri eklemeye başlayabiliriz.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4C54BDD-2417-4F77-867D-4F4A1D90C786}"/>
              </a:ext>
            </a:extLst>
          </p:cNvPr>
          <p:cNvSpPr txBox="1"/>
          <p:nvPr/>
        </p:nvSpPr>
        <p:spPr>
          <a:xfrm>
            <a:off x="356533" y="2017811"/>
            <a:ext cx="8699382" cy="440120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PDO(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mysql:host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servername;dbname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dbname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set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PDO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exception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(PDO::ATTR_ERRMODE, PDO::ERRMODE_EXCEPTION);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"INSERT INTO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MyGuests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VALUES ('John', '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', 'john@example.com')"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because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returned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"New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successfully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PDOException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$e)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$e-&gt;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66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102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Seçme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409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SELECT ifadesi, bir veya daha fazla tablodan veri seçmek için kullanılır.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8A8C501-CB56-4A73-8B61-BF39485DC28C}"/>
              </a:ext>
            </a:extLst>
          </p:cNvPr>
          <p:cNvSpPr txBox="1"/>
          <p:nvPr/>
        </p:nvSpPr>
        <p:spPr>
          <a:xfrm>
            <a:off x="352338" y="1795245"/>
            <a:ext cx="843932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column_name</a:t>
            </a:r>
            <a:r>
              <a:rPr lang="en-US" dirty="0"/>
              <a:t>(s) FROM </a:t>
            </a:r>
            <a:r>
              <a:rPr lang="en-US" dirty="0" err="1"/>
              <a:t>table_name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09172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Seçme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409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ifade,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MyGuests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tablosundan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firstname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lastname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sütunlarını seçer ve bunları bir HTML tablosu içinde görüntüler.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5790A46-6DF1-4A13-B22C-9150A98D1D09}"/>
              </a:ext>
            </a:extLst>
          </p:cNvPr>
          <p:cNvSpPr txBox="1"/>
          <p:nvPr/>
        </p:nvSpPr>
        <p:spPr>
          <a:xfrm>
            <a:off x="444618" y="2026200"/>
            <a:ext cx="8699382" cy="507831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try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new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PDO("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mysql:host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=$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servername;dbname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=$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dbname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",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username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password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setAttribute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(PDO::ATTR_ERRMODE, PDO::ERRMODE_EXCEPTION);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prepare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("SELECT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id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firstname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FROM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MyGuests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execute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tr-TR" sz="1800" dirty="0">
                <a:latin typeface="Consolas" panose="020B0609020204030204" pitchFamily="49" charset="0"/>
              </a:rPr>
              <a:t>  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fetchAll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table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&gt;&lt;tr&gt;&lt;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&gt;ID&lt;/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&gt;Name&lt;/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&gt;&lt;/tr&gt;";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foreach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as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"&lt;tr&gt;&lt;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id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firstname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 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&gt;&lt;/tr&gt;";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table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}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catch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PDOException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$e)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Error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: " . $e-&gt;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getMessage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}</a:t>
            </a:r>
            <a:endParaRPr lang="en-US" sz="6000" b="0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220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Seçme ve Filtreleme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409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WHERE cümleciği verileri filtrelemek için kullanılır.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8A8C501-CB56-4A73-8B61-BF39485DC28C}"/>
              </a:ext>
            </a:extLst>
          </p:cNvPr>
          <p:cNvSpPr txBox="1"/>
          <p:nvPr/>
        </p:nvSpPr>
        <p:spPr>
          <a:xfrm>
            <a:off x="352338" y="1795245"/>
            <a:ext cx="843932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column_name</a:t>
            </a:r>
            <a:r>
              <a:rPr lang="en-US" dirty="0"/>
              <a:t>(s) FROM </a:t>
            </a:r>
            <a:r>
              <a:rPr lang="en-US" dirty="0" err="1"/>
              <a:t>table_name</a:t>
            </a:r>
            <a:r>
              <a:rPr lang="en-US" dirty="0"/>
              <a:t> WHERE </a:t>
            </a:r>
            <a:r>
              <a:rPr lang="en-US" dirty="0" err="1"/>
              <a:t>column_name</a:t>
            </a:r>
            <a:r>
              <a:rPr lang="en-US" dirty="0"/>
              <a:t> operator value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07116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Seçme ve Filtreleme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409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Bu ifade,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MyGuests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tablosundan soyadı "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Doe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" olan kayıtların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id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firstname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lastname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sütunlarını seçer ve bunları bir HTML tablosu içinde görüntüler.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1DC08FB-B14D-4983-837E-D91D5C51733C}"/>
              </a:ext>
            </a:extLst>
          </p:cNvPr>
          <p:cNvSpPr txBox="1"/>
          <p:nvPr/>
        </p:nvSpPr>
        <p:spPr>
          <a:xfrm>
            <a:off x="348144" y="1841642"/>
            <a:ext cx="8699382" cy="507831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try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new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PDO("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mysql:host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=$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servername;dbname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=$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dbname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",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username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password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setAttribute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(PDO::ATTR_ERRMODE, PDO::ERRMODE_EXCEPTION);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prepare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("SELECT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id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firstname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FROM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MyGuests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WHERE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=‘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Doe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’");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execute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tr-TR" sz="1800" dirty="0">
                <a:latin typeface="Consolas" panose="020B0609020204030204" pitchFamily="49" charset="0"/>
              </a:rPr>
              <a:t>  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fetchAll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table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&gt;&lt;tr&gt;&lt;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&gt;ID&lt;/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&gt;Name&lt;/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&gt;&lt;/tr&gt;";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foreach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as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"&lt;tr&gt;&lt;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id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firstname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 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&gt;&lt;/tr&gt;";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table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}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catch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PDOException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$e)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Error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: " . $e-&gt;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getMessage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}</a:t>
            </a:r>
            <a:endParaRPr lang="en-US" sz="6000" b="0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285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Sıralama Ve Seçme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ORDER BY ifadesi, sonuç kümesini artan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ascending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ya da azalan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descending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sıraya göre sıralamak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ORDER BY ifadesi varsayılan olarak kayıtları artan sırayla sıralar.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Kayıtları azalan sırayla sıralamak için DESC anahtar kelimesi kullanılır.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BCD9316-1398-44C9-87CD-CB7B1FD91312}"/>
              </a:ext>
            </a:extLst>
          </p:cNvPr>
          <p:cNvSpPr txBox="1"/>
          <p:nvPr/>
        </p:nvSpPr>
        <p:spPr>
          <a:xfrm>
            <a:off x="352338" y="3495449"/>
            <a:ext cx="843932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column_name</a:t>
            </a:r>
            <a:r>
              <a:rPr lang="en-US" dirty="0"/>
              <a:t>(s) FROM </a:t>
            </a:r>
            <a:r>
              <a:rPr lang="en-US" dirty="0" err="1"/>
              <a:t>table_name</a:t>
            </a:r>
            <a:r>
              <a:rPr lang="en-US" dirty="0"/>
              <a:t> ORDER BY </a:t>
            </a:r>
            <a:r>
              <a:rPr lang="en-US" dirty="0" err="1"/>
              <a:t>column_name</a:t>
            </a:r>
            <a:r>
              <a:rPr lang="en-US" dirty="0"/>
              <a:t>(s) ASC|DESC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9609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Sıralama Ve Seçme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Aşağıdaki örnek,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MyGuests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tablosundan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id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firstname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lastname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sütunlarını seçer. Kayıtlar </a:t>
            </a:r>
            <a:r>
              <a:rPr lang="tr-TR" sz="2000" dirty="0" err="1">
                <a:solidFill>
                  <a:srgbClr val="000000"/>
                </a:solidFill>
                <a:latin typeface="Arial" pitchFamily="34" charset="0"/>
              </a:rPr>
              <a:t>lastname</a:t>
            </a:r>
            <a:r>
              <a:rPr lang="tr-TR" sz="2000" dirty="0">
                <a:solidFill>
                  <a:srgbClr val="000000"/>
                </a:solidFill>
                <a:latin typeface="Arial" pitchFamily="34" charset="0"/>
              </a:rPr>
              <a:t> sütununa göre sıralanacaktır.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A46A14A-74B7-4B44-A652-7A1795A43C38}"/>
              </a:ext>
            </a:extLst>
          </p:cNvPr>
          <p:cNvSpPr txBox="1"/>
          <p:nvPr/>
        </p:nvSpPr>
        <p:spPr>
          <a:xfrm>
            <a:off x="348144" y="1580704"/>
            <a:ext cx="8699382" cy="507831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try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new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PDO("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mysql:host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=$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servername;dbname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=$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dbname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",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username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password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setAttribute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(PDO::ATTR_ERRMODE, PDO::ERRMODE_EXCEPTION);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conn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prepare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("SELECT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id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firstname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,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FROM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MyGuests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ORDER BY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execute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tr-TR" sz="1800" dirty="0">
                <a:latin typeface="Consolas" panose="020B0609020204030204" pitchFamily="49" charset="0"/>
              </a:rPr>
              <a:t>  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=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stmt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fetchAll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table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&gt;&lt;tr&gt;&lt;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&gt;ID&lt;/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&gt;Name&lt;/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&gt;&lt;/tr&gt;";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foreach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results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as 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"&lt;tr&gt;&lt;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id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firstname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 ".$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["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lastname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"]."&lt;/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td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&gt;&lt;/tr&gt;";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"&lt;/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table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&gt;";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}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catch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PDOException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$e) {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  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echo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 "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Error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: " . $e-&gt;</a:t>
            </a:r>
            <a:r>
              <a:rPr lang="tr-TR" sz="1800" b="0" i="0" dirty="0" err="1">
                <a:effectLst/>
                <a:latin typeface="Consolas" panose="020B0609020204030204" pitchFamily="49" charset="0"/>
              </a:rPr>
              <a:t>getMessage</a:t>
            </a:r>
            <a:r>
              <a:rPr lang="tr-TR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tr-TR" sz="1800" b="0" i="0" dirty="0">
                <a:effectLst/>
                <a:latin typeface="Consolas" panose="020B0609020204030204" pitchFamily="49" charset="0"/>
              </a:rPr>
              <a:t>}</a:t>
            </a:r>
            <a:endParaRPr lang="en-US" sz="6000" b="0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801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Silme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DELETE ifadesi, bir tablodan kayıt silmek için kullanılır. 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BCD9316-1398-44C9-87CD-CB7B1FD91312}"/>
              </a:ext>
            </a:extLst>
          </p:cNvPr>
          <p:cNvSpPr txBox="1"/>
          <p:nvPr/>
        </p:nvSpPr>
        <p:spPr>
          <a:xfrm>
            <a:off x="352338" y="2035765"/>
            <a:ext cx="843932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DELETE FROM </a:t>
            </a:r>
            <a:r>
              <a:rPr lang="en-US" dirty="0" err="1"/>
              <a:t>table_name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some_column</a:t>
            </a:r>
            <a:r>
              <a:rPr lang="en-US" dirty="0"/>
              <a:t> = </a:t>
            </a:r>
            <a:r>
              <a:rPr lang="en-US" dirty="0" err="1"/>
              <a:t>some_value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26109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Silme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örnekler,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MyGuests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tablosundaki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=3 olan kaydı siler.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B2EBC8C-29B4-46A7-84B7-89CAF84F3E4A}"/>
              </a:ext>
            </a:extLst>
          </p:cNvPr>
          <p:cNvSpPr txBox="1"/>
          <p:nvPr/>
        </p:nvSpPr>
        <p:spPr>
          <a:xfrm>
            <a:off x="356533" y="1876376"/>
            <a:ext cx="8699382" cy="47089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PDO(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mysql:host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servername;dbname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dbname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set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PDO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exception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(PDO::ATTR_ERRMODE, PDO::ERRMODE_EXCEPTION);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record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"DELETE FROM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MyGuests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WHERE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=3"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because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returned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deleted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successfully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PDOException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$e)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$e-&gt;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8000" b="0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057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Güncelleme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UPDATE ifadesi, bir tablodan bulunan bir kaydı güncellemek için kullanılır. 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BCD9316-1398-44C9-87CD-CB7B1FD91312}"/>
              </a:ext>
            </a:extLst>
          </p:cNvPr>
          <p:cNvSpPr txBox="1"/>
          <p:nvPr/>
        </p:nvSpPr>
        <p:spPr>
          <a:xfrm>
            <a:off x="352338" y="2035765"/>
            <a:ext cx="8439324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UPDATE </a:t>
            </a:r>
            <a:r>
              <a:rPr lang="en-US" dirty="0" err="1"/>
              <a:t>table_name</a:t>
            </a:r>
            <a:endParaRPr lang="en-US" dirty="0"/>
          </a:p>
          <a:p>
            <a:r>
              <a:rPr lang="en-US" dirty="0"/>
              <a:t>SET column1=value, column2=value2,...</a:t>
            </a:r>
          </a:p>
          <a:p>
            <a:r>
              <a:rPr lang="en-US" dirty="0"/>
              <a:t>WHERE </a:t>
            </a:r>
            <a:r>
              <a:rPr lang="en-US" dirty="0" err="1"/>
              <a:t>some_column</a:t>
            </a:r>
            <a:r>
              <a:rPr lang="en-US" dirty="0"/>
              <a:t>=</a:t>
            </a:r>
            <a:r>
              <a:rPr lang="en-US" dirty="0" err="1"/>
              <a:t>some_value</a:t>
            </a:r>
            <a:r>
              <a:rPr lang="en-US" dirty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93212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Veri Güncelleme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örnekler, "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MyGuests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" tablosundaki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=2 olan kaydı günceller.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5274B27-1342-4420-B869-7CCDED2A4825}"/>
              </a:ext>
            </a:extLst>
          </p:cNvPr>
          <p:cNvSpPr txBox="1"/>
          <p:nvPr/>
        </p:nvSpPr>
        <p:spPr>
          <a:xfrm>
            <a:off x="348144" y="1580704"/>
            <a:ext cx="8699382" cy="501675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PDO(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mysql:host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servername;dbname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=$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dbname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set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PDO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exception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(PDO::ATTR_ERRMODE, PDO::ERRMODE_EXCEPTION);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"UPDATE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MyGuests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SET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='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Doe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 WHERE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=2"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statement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query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say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UPDATE </a:t>
            </a:r>
            <a:r>
              <a:rPr lang="tr-T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succeeded</a:t>
            </a:r>
            <a:br>
              <a:rPr lang="tr-T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rowCount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.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records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UPDATED 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successfully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PDOException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$e) 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$e-&gt;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9600" b="0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337926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357376</TotalTime>
  <Words>2695</Words>
  <Application>Microsoft Office PowerPoint</Application>
  <PresentationFormat>Ekran Gösterisi (4:3)</PresentationFormat>
  <Paragraphs>171</Paragraphs>
  <Slides>27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27</vt:i4>
      </vt:variant>
    </vt:vector>
  </HeadingPairs>
  <TitlesOfParts>
    <vt:vector size="38" baseType="lpstr">
      <vt:lpstr>Arial</vt:lpstr>
      <vt:lpstr>Consolas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İstisna (exception)</vt:lpstr>
      <vt:lpstr>İstisna Fırlatma</vt:lpstr>
      <vt:lpstr>İstisna Fırlatma</vt:lpstr>
      <vt:lpstr>try...catch İfadesi</vt:lpstr>
      <vt:lpstr>try...catch...finally İfadesi</vt:lpstr>
      <vt:lpstr>try...catch...finally İfadesi</vt:lpstr>
      <vt:lpstr>MySQL Nedir?</vt:lpstr>
      <vt:lpstr>MySQL Nedir?</vt:lpstr>
      <vt:lpstr>MySQL Bağlantısı</vt:lpstr>
      <vt:lpstr>MySQLi’mi PDO’mu Kullanmalıyım?</vt:lpstr>
      <vt:lpstr>MySQL’e Bağlantı Açma</vt:lpstr>
      <vt:lpstr>MySQL Bağlantısın Kapatma</vt:lpstr>
      <vt:lpstr>Veritabanı Yaratma</vt:lpstr>
      <vt:lpstr>Tablo Yaratma</vt:lpstr>
      <vt:lpstr>Veri Ekleme</vt:lpstr>
      <vt:lpstr>Veri Ekleme</vt:lpstr>
      <vt:lpstr>Veri Seçme</vt:lpstr>
      <vt:lpstr>Veri Seçme</vt:lpstr>
      <vt:lpstr>Veri Seçme ve Filtreleme</vt:lpstr>
      <vt:lpstr>Veri Seçme ve Filtreleme</vt:lpstr>
      <vt:lpstr>Veri Sıralama Ve Seçme</vt:lpstr>
      <vt:lpstr>Veri Sıralama Ve Seçme</vt:lpstr>
      <vt:lpstr>Veri Silme</vt:lpstr>
      <vt:lpstr>Veri Silme</vt:lpstr>
      <vt:lpstr>Veri Güncelleme</vt:lpstr>
      <vt:lpstr>Veri Güncelleme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2014</cp:revision>
  <cp:lastPrinted>2013-04-21T19:31:14Z</cp:lastPrinted>
  <dcterms:created xsi:type="dcterms:W3CDTF">1999-10-08T19:08:27Z</dcterms:created>
  <dcterms:modified xsi:type="dcterms:W3CDTF">2026-05-14T10:12:22Z</dcterms:modified>
</cp:coreProperties>
</file>