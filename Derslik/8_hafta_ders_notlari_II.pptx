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"/>
    <p:sldMasterId id="2147483664" r:id="rId2"/>
    <p:sldMasterId id="2147483787" r:id="rId3"/>
    <p:sldMasterId id="2147483800" r:id="rId4"/>
    <p:sldMasterId id="2147483813" r:id="rId5"/>
    <p:sldMasterId id="2147483826" r:id="rId6"/>
  </p:sldMasterIdLst>
  <p:notesMasterIdLst>
    <p:notesMasterId r:id="rId26"/>
  </p:notesMasterIdLst>
  <p:handoutMasterIdLst>
    <p:handoutMasterId r:id="rId27"/>
  </p:handoutMasterIdLst>
  <p:sldIdLst>
    <p:sldId id="770" r:id="rId7"/>
    <p:sldId id="787" r:id="rId8"/>
    <p:sldId id="788" r:id="rId9"/>
    <p:sldId id="789" r:id="rId10"/>
    <p:sldId id="790" r:id="rId11"/>
    <p:sldId id="791" r:id="rId12"/>
    <p:sldId id="792" r:id="rId13"/>
    <p:sldId id="793" r:id="rId14"/>
    <p:sldId id="794" r:id="rId15"/>
    <p:sldId id="799" r:id="rId16"/>
    <p:sldId id="800" r:id="rId17"/>
    <p:sldId id="801" r:id="rId18"/>
    <p:sldId id="802" r:id="rId19"/>
    <p:sldId id="803" r:id="rId20"/>
    <p:sldId id="804" r:id="rId21"/>
    <p:sldId id="795" r:id="rId22"/>
    <p:sldId id="796" r:id="rId23"/>
    <p:sldId id="797" r:id="rId24"/>
    <p:sldId id="798" r:id="rId2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kaya" initials="z" lastIdx="4" clrIdx="0">
    <p:extLst>
      <p:ext uri="{19B8F6BF-5375-455C-9EA6-DF929625EA0E}">
        <p15:presenceInfo xmlns:p15="http://schemas.microsoft.com/office/powerpoint/2012/main" userId="zka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3CCCC"/>
    <a:srgbClr val="CCFFCC"/>
    <a:srgbClr val="FFFFCC"/>
    <a:srgbClr val="CCFFFF"/>
    <a:srgbClr val="FFFF00"/>
    <a:srgbClr val="DDDDDD"/>
    <a:srgbClr val="FFCCFF"/>
    <a:srgbClr val="FF99CC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Açık Stil 2 - Vurgu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1786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4008" y="12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E00D6C2-52E2-460C-9B58-3CD61A24B0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6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629" y="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tr-TR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957" y="4861781"/>
            <a:ext cx="5207386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56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629" y="9723560"/>
            <a:ext cx="3076671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94F9E22C-A560-44E3-9891-E6761E7FE4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8BCA47C0-B7EB-403B-A39B-0D22BA9C7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2237"/>
          </a:xfrm>
          <a:prstGeom prst="rect">
            <a:avLst/>
          </a:prstGeom>
        </p:spPr>
        <p:txBody>
          <a:bodyPr/>
          <a:lstStyle>
            <a:lvl1pPr eaLnBrk="0" hangingPunct="0">
              <a:lnSpc>
                <a:spcPct val="100000"/>
              </a:lnSpc>
              <a:spcAft>
                <a:spcPct val="0"/>
              </a:spcAft>
              <a:buFontTx/>
              <a:buNone/>
              <a:defRPr sz="2400">
                <a:solidFill>
                  <a:srgbClr val="000000"/>
                </a:solidFill>
                <a:latin typeface="Times New Roman" pitchFamily="18" charset="0"/>
                <a:ea typeface="+mn-ea"/>
                <a:sym typeface="Times" pitchFamily="60" charset="0"/>
              </a:defRPr>
            </a:lvl1pPr>
          </a:lstStyle>
          <a:p>
            <a:pPr>
              <a:defRPr/>
            </a:pPr>
            <a:fld id="{54BBEDAF-4CAD-4687-AECE-1E45E0407E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0F005141-3E15-4B0D-989A-F17E2C0B290D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2255F62-7E68-45B6-B8BB-EE0FA6E0AE2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787566AF-3F22-4EEC-ADED-0001FD731C9E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06148"/>
            <a:ext cx="7772400" cy="40075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1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3" y="1524003"/>
            <a:ext cx="3624263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3"/>
            <a:ext cx="3624262" cy="2862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ECD2814-999E-4032-906C-2175D48D707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3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240"/>
            <a:ext cx="4040188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343240"/>
            <a:ext cx="4041775" cy="8316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2124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F53B03B3-6070-425A-B684-6AF20A3CD5E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9C0316F6-F3E1-4B87-BA86-E40838D53467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376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CB335D22-03A4-4154-A105-3651724AD01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9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AB0EDAF9-0480-4BA6-8E13-B61891626FB5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77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7DD5AB4A-A33A-4525-8D78-3D63E3001279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Rectangle 19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00800"/>
            <a:ext cx="914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27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D1CE32CB-7F51-480E-A104-8947DCC1C2AC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07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19888"/>
            <a:ext cx="19050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/>
            </a:lvl1pPr>
          </a:lstStyle>
          <a:p>
            <a:pPr>
              <a:spcAft>
                <a:spcPct val="50000"/>
              </a:spcAft>
              <a:buFontTx/>
              <a:buChar char="•"/>
              <a:defRPr/>
            </a:pPr>
            <a:fld id="{18AB817D-8C5B-4BCE-B44B-882C88C9BF9B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52D630E-1F6A-4FB2-A386-9A349C5B3F66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98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5073B400-6E83-48BF-87B6-725E47C03D88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199"/>
          <p:cNvSpPr txBox="1">
            <a:spLocks noChangeArrowheads="1"/>
          </p:cNvSpPr>
          <p:nvPr userDrawn="1"/>
        </p:nvSpPr>
        <p:spPr>
          <a:xfrm>
            <a:off x="0" y="6604000"/>
            <a:ext cx="9144000" cy="25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None/>
              <a:defRPr sz="12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50000"/>
              </a:spcAft>
              <a:buChar char="•"/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 dirty="0">
                <a:solidFill>
                  <a:srgbClr val="336699"/>
                </a:solidFill>
              </a:rPr>
              <a:t>ue.aydin.edu.tr</a:t>
            </a:r>
          </a:p>
        </p:txBody>
      </p:sp>
    </p:spTree>
    <p:extLst>
      <p:ext uri="{BB962C8B-B14F-4D97-AF65-F5344CB8AC3E}">
        <p14:creationId xmlns:p14="http://schemas.microsoft.com/office/powerpoint/2010/main" val="65116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41026968-BEFE-44F1-97B6-7E577FCA360F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4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2776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07D3A64E-D33D-44D4-B6C2-F6248345F7F2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348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58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308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42913ACF-11A0-4838-B2F0-D74E91052A91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97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-101927" y="1524000"/>
            <a:ext cx="8372805" cy="1982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124045F6-0237-4FB2-9E43-F13F9F29C4D7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61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1275" y="-38100"/>
            <a:ext cx="252505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694488"/>
            <a:ext cx="260350" cy="1254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  <a:defRPr/>
            </a:pPr>
            <a:fld id="{2DEE1EEE-97C2-4C42-B32D-7B7D93AEEBD3}" type="slidenum">
              <a:rPr lang="en-US" sz="2200">
                <a:solidFill>
                  <a:srgbClr val="000000"/>
                </a:solidFill>
                <a:latin typeface="Arial" charset="0"/>
              </a:rPr>
              <a:pPr>
                <a:lnSpc>
                  <a:spcPct val="90000"/>
                </a:lnSpc>
                <a:spcAft>
                  <a:spcPct val="50000"/>
                </a:spcAft>
                <a:buFontTx/>
                <a:buChar char="•"/>
                <a:defRPr/>
              </a:pPr>
              <a:t>‹#›</a:t>
            </a:fld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815C9AE7-7D7A-439A-A584-208B138EA1A9}" type="slidenum">
              <a:rPr lang="en-US" sz="1400" smtClean="0">
                <a:solidFill>
                  <a:srgbClr val="000000"/>
                </a:solidFill>
                <a:latin typeface="Arial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charset="0"/>
              <a:ea typeface="ヒラギノ明朝 ProN W3" pitchFamily="60" charset="-128"/>
              <a:sym typeface="Times" pitchFamily="60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2001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2325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5191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721475"/>
            <a:ext cx="1905000" cy="1365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00000"/>
              </a:lnSpc>
              <a:spcBef>
                <a:spcPct val="0"/>
              </a:spcBef>
              <a:defRPr b="1"/>
            </a:lvl1pPr>
          </a:lstStyle>
          <a:p>
            <a:pPr>
              <a:defRPr/>
            </a:pPr>
            <a:fld id="{74034AEE-21EC-4108-831A-6EA98F8DFE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8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defRPr/>
            </a:pPr>
            <a:fld id="{66D4143D-D413-4B65-BE5B-68ED75509604}" type="slidenum">
              <a:rPr lang="en-US" altLang="tr-TR" sz="1400" smtClean="0">
                <a:solidFill>
                  <a:srgbClr val="000000"/>
                </a:solidFill>
                <a:latin typeface="Arial" panose="020B0604020202020204" pitchFamily="34" charset="0"/>
                <a:ea typeface="ヒラギノ明朝 ProN W3"/>
                <a:cs typeface="ヒラギノ明朝 ProN W3"/>
                <a:sym typeface="Times" panose="02020603050405020304" pitchFamily="18" charset="0"/>
              </a:rPr>
              <a:pPr algn="r">
                <a:defRPr/>
              </a:pPr>
              <a:t>‹#›</a:t>
            </a:fld>
            <a:endParaRPr lang="en-US" altLang="tr-TR" sz="1400" dirty="0">
              <a:solidFill>
                <a:srgbClr val="000000"/>
              </a:solidFill>
              <a:latin typeface="Arial" panose="020B0604020202020204" pitchFamily="34" charset="0"/>
              <a:ea typeface="ヒラギノ明朝 ProN W3"/>
              <a:cs typeface="ヒラギノ明朝 ProN W3"/>
              <a:sym typeface="Times" panose="02020603050405020304" pitchFamily="18" charset="0"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F5F935-ABB1-4E93-AEFD-0D4486CAD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 smtClean="0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2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051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9950" y="1524000"/>
            <a:ext cx="3624263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24000"/>
            <a:ext cx="3624262" cy="19827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2958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8594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0998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50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0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342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2692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08725" y="-38100"/>
            <a:ext cx="1981200" cy="3544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125" y="-38100"/>
            <a:ext cx="5791200" cy="3544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1481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996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61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874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284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65125" y="-38100"/>
            <a:ext cx="7924800" cy="3544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9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381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2053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EABF3948-6436-4873-87BF-0CE3FE2D4B8E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07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 sz="2000"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 sz="2000"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Line 5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077" name="Rectangle 201"/>
          <p:cNvSpPr>
            <a:spLocks noChangeArrowheads="1"/>
          </p:cNvSpPr>
          <p:nvPr userDrawn="1"/>
        </p:nvSpPr>
        <p:spPr bwMode="auto">
          <a:xfrm>
            <a:off x="8574088" y="6515100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/>
          <a:p>
            <a:pPr algn="r"/>
            <a:fld id="{1DA75B1C-1FC8-4677-A6B8-31AFE1B3CD3C}" type="slidenum">
              <a:rPr lang="en-US" sz="1400" smtClean="0">
                <a:solidFill>
                  <a:srgbClr val="000000"/>
                </a:solidFill>
                <a:latin typeface="Arial" pitchFamily="34" charset="0"/>
                <a:ea typeface="ヒラギノ明朝 ProN W3" pitchFamily="60" charset="-128"/>
                <a:sym typeface="Times" pitchFamily="60" charset="0"/>
              </a:rPr>
              <a:pPr algn="r"/>
              <a:t>‹#›</a:t>
            </a:fld>
            <a:endParaRPr lang="en-US" sz="1400" dirty="0">
              <a:solidFill>
                <a:srgbClr val="000000"/>
              </a:solidFill>
              <a:latin typeface="Arial" pitchFamily="34" charset="0"/>
              <a:ea typeface="ヒラギノ明朝 ProN W3" pitchFamily="60" charset="-128"/>
              <a:sym typeface="Times" pitchFamily="6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2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9" r:id="rId10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1028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en-US" sz="2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26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</a:defRPr>
            </a:lvl1pPr>
          </a:lstStyle>
          <a:p>
            <a:pPr>
              <a:lnSpc>
                <a:spcPct val="90000"/>
              </a:lnSpc>
              <a:defRPr/>
            </a:pPr>
            <a:fld id="{8BDC377B-EC9C-4253-A88C-5B0E49C4E108}" type="slidenum">
              <a:rPr lang="en-US">
                <a:latin typeface="Arial" pitchFamily="34" charset="0"/>
              </a:rPr>
              <a:pPr>
                <a:lnSpc>
                  <a:spcPct val="90000"/>
                </a:lnSpc>
                <a:defRPr/>
              </a:pPr>
              <a:t>‹#›</a:t>
            </a:fld>
            <a:endParaRPr lang="en-US">
              <a:latin typeface="Arial" pitchFamily="34" charset="0"/>
            </a:endParaRPr>
          </a:p>
        </p:txBody>
      </p:sp>
      <p:sp>
        <p:nvSpPr>
          <p:cNvPr id="9221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endParaRPr lang="tr-TR" sz="2200" b="1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-381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0" y="1524000"/>
            <a:ext cx="7400925" cy="198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 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94488"/>
            <a:ext cx="26035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Tx/>
              <a:buNone/>
              <a:defRPr sz="900" b="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8E6CDD4-4A55-4656-9F51-403AD196A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0" y="819150"/>
            <a:ext cx="9144000" cy="0"/>
          </a:xfrm>
          <a:prstGeom prst="line">
            <a:avLst/>
          </a:prstGeom>
          <a:noFill/>
          <a:ln w="47625" cmpd="thickThin">
            <a:solidFill>
              <a:srgbClr val="3366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1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2" r:id="rId2"/>
    <p:sldLayoutId id="2147483835" r:id="rId3"/>
    <p:sldLayoutId id="2147483838" r:id="rId4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rgbClr val="336699"/>
          </a:solidFill>
          <a:latin typeface="Arial" pitchFamily="34" charset="0"/>
        </a:defRPr>
      </a:lvl9pPr>
    </p:titleStyle>
    <p:bodyStyle>
      <a:lvl1pPr marL="457200" indent="-457200" algn="l" rtl="0" eaLnBrk="0" fontAlgn="base" hangingPunct="0">
        <a:spcBef>
          <a:spcPct val="75000"/>
        </a:spcBef>
        <a:spcAft>
          <a:spcPct val="0"/>
        </a:spcAft>
        <a:buClr>
          <a:srgbClr val="006699"/>
        </a:buClr>
        <a:buSzPct val="85000"/>
        <a:buFont typeface="Wingdings" panose="05000000000000000000" pitchFamily="2" charset="2"/>
        <a:buChar char="u"/>
        <a:defRPr sz="2800" b="1">
          <a:solidFill>
            <a:srgbClr val="336699"/>
          </a:solidFill>
          <a:latin typeface="+mn-lt"/>
          <a:ea typeface="+mn-ea"/>
          <a:cs typeface="+mn-cs"/>
        </a:defRPr>
      </a:lvl1pPr>
      <a:lvl2pPr marL="863600" indent="-292100" algn="l" rtl="0" eaLnBrk="0" fontAlgn="base" hangingPunct="0">
        <a:spcBef>
          <a:spcPct val="20000"/>
        </a:spcBef>
        <a:spcAft>
          <a:spcPct val="0"/>
        </a:spcAft>
        <a:buClr>
          <a:srgbClr val="7FDFC4"/>
        </a:buClr>
        <a:buSzPct val="110000"/>
        <a:buChar char="–"/>
        <a:defRPr sz="2400">
          <a:solidFill>
            <a:srgbClr val="336699"/>
          </a:solidFill>
          <a:latin typeface="+mn-lt"/>
        </a:defRPr>
      </a:lvl2pPr>
      <a:lvl3pPr marL="1201738" indent="-223838" algn="l" rtl="0" eaLnBrk="0" fontAlgn="base" hangingPunct="0">
        <a:spcBef>
          <a:spcPct val="20000"/>
        </a:spcBef>
        <a:spcAft>
          <a:spcPct val="0"/>
        </a:spcAft>
        <a:buClr>
          <a:srgbClr val="99FFCC"/>
        </a:buClr>
        <a:buFont typeface="Wingdings" panose="05000000000000000000" pitchFamily="2" charset="2"/>
        <a:buChar char=""/>
        <a:defRPr sz="2000">
          <a:solidFill>
            <a:srgbClr val="336699"/>
          </a:solidFill>
          <a:latin typeface="+mn-lt"/>
        </a:defRPr>
      </a:lvl3pPr>
      <a:lvl4pPr marL="1541463" indent="-2254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-"/>
        <a:defRPr>
          <a:solidFill>
            <a:srgbClr val="336699"/>
          </a:solidFill>
          <a:latin typeface="+mn-lt"/>
        </a:defRPr>
      </a:lvl4pPr>
      <a:lvl5pPr marL="18288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anose="05000000000000000000" pitchFamily="2" charset="2"/>
        <a:buChar char="w"/>
        <a:defRPr>
          <a:solidFill>
            <a:srgbClr val="336699"/>
          </a:solidFill>
          <a:latin typeface="+mn-lt"/>
        </a:defRPr>
      </a:lvl5pPr>
      <a:lvl6pPr marL="22860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6pPr>
      <a:lvl7pPr marL="27432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7pPr>
      <a:lvl8pPr marL="32004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8pPr>
      <a:lvl9pPr marL="3657600" indent="-173038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SzPct val="75000"/>
        <a:buFont typeface="Wingdings" pitchFamily="2" charset="2"/>
        <a:buChar char="w"/>
        <a:defRPr>
          <a:solidFill>
            <a:srgbClr val="336699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0" y="698500"/>
            <a:ext cx="9144000" cy="240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tr-T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tr-TR" sz="36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Tasarım ve Programlama</a:t>
            </a:r>
            <a:endParaRPr lang="tr-TR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95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tr-TR" altLang="tr-TR" sz="3200" b="1" dirty="0">
                <a:solidFill>
                  <a:srgbClr val="0070C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Fonksiyonlar</a:t>
            </a:r>
            <a:endParaRPr kumimoji="0" lang="en-US" altLang="tr-TR" sz="2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6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Fonksiyonlar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65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PHP’nin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en güçlü yönü fonksiyonlardır.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Sırf kendi içinde 1000’den fazla fonksiyon barındırır.</a:t>
            </a:r>
          </a:p>
        </p:txBody>
      </p:sp>
    </p:spTree>
    <p:extLst>
      <p:ext uri="{BB962C8B-B14F-4D97-AF65-F5344CB8AC3E}">
        <p14:creationId xmlns:p14="http://schemas.microsoft.com/office/powerpoint/2010/main" val="127889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Kullanıcı Tanımlı Fonksiyonlar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5700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Kendi içinde tanımlı fonksiyonların yanı sıra kendi tanımladığınız fonksiyonları da PHP içinde kullanabilirsiniz.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Fonksiyon program içinde defalarca kullanabileceğiniz bir kod bloğudur.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Fonksiyon sayfa çağrılır çağrılmaz çalıştırılmaz.</a:t>
            </a:r>
          </a:p>
          <a:p>
            <a:pPr marL="971550" lvl="2" indent="-342900">
              <a:spcBef>
                <a:spcPct val="20000"/>
              </a:spcBef>
              <a:buClr>
                <a:srgbClr val="0066CC"/>
              </a:buClr>
              <a:buSzPct val="75000"/>
              <a:buFont typeface="Courier New" panose="02070309020205020404" pitchFamily="49" charset="0"/>
              <a:buChar char="o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Fonksiyonu ancak program içinde bir yerden çağırdığınızda kullanabilirsiniz.</a:t>
            </a:r>
          </a:p>
        </p:txBody>
      </p:sp>
    </p:spTree>
    <p:extLst>
      <p:ext uri="{BB962C8B-B14F-4D97-AF65-F5344CB8AC3E}">
        <p14:creationId xmlns:p14="http://schemas.microsoft.com/office/powerpoint/2010/main" val="3184409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Kullanıcı Tanımlı Fonksiyonlar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3293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tanımlı fonksiyon bildirimi “function” kelimesi kullanılarak yapılır.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Fonksiyon adlarının içinde Türkçe karakter bulunmaz, mutlaka bir harfle başlamalıdır, sayı içerebilir, özel karakterler bulunmaz. Büyük/küçük harf duyarlı değildir.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mesajYaz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()” isimli bir fonksiyon oluşturuyoruz. Süslü parantezler “{“, “}” fonksiyonun başladığı ve bittiği yeri gösteriyor. Fonksiyonun çıktısı “Merhaba Dünya”.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645952" y="4246158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unction 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mesajYaz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"Merhaba Dünya!"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mesajYaz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();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fonksiyon çağrılıyor.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7200" dirty="0"/>
          </a:p>
        </p:txBody>
      </p:sp>
    </p:spTree>
    <p:extLst>
      <p:ext uri="{BB962C8B-B14F-4D97-AF65-F5344CB8AC3E}">
        <p14:creationId xmlns:p14="http://schemas.microsoft.com/office/powerpoint/2010/main" val="91253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Fonksiyon Argümanları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0"/>
            <a:ext cx="9144000" cy="3293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Fonksiyonun içine değer atamak için argümanlar kullanılır. Argüman değişken gibi düşünülmelidir.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Argümanlar fonksiyon tanımlanırken kullanılan parantezler içinde belirtilir.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Birden fazla argüman kullanılacaksa argümanların arasına virgül konur.</a:t>
            </a:r>
          </a:p>
        </p:txBody>
      </p:sp>
    </p:spTree>
    <p:extLst>
      <p:ext uri="{BB962C8B-B14F-4D97-AF65-F5344CB8AC3E}">
        <p14:creationId xmlns:p14="http://schemas.microsoft.com/office/powerpoint/2010/main" val="1517806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Fonksiyon Argümanları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73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fonksiyon içinde tek bir argüman ($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sad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kullanılmıştır. Bir isimle birlikte (Örneğin Ali) tanımlanan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Soyad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() fonksiyonu çağrıldığında, isimler için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soyadla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birlikte görüntülenecektir.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87229" y="2611843"/>
            <a:ext cx="8305101" cy="415498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unction 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s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oyad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sad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</a:t>
            </a:r>
            <a:r>
              <a:rPr lang="tr-TR" b="1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sad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</a:t>
            </a:r>
            <a:r>
              <a:rPr lang="tr-TR" dirty="0">
                <a:solidFill>
                  <a:srgbClr val="808080"/>
                </a:solidFill>
                <a:latin typeface="Courier New" panose="02070309020205020404" pitchFamily="49" charset="0"/>
              </a:rPr>
              <a:t>KAYA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.&lt;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endParaRPr lang="tr-TR" b="0" i="0" u="none" strike="noStrike" baseline="0" dirty="0"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Soyad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"Ali"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Soyad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"Ayşe"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Soyad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"Veli"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Soyad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"Burak Zahit"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Soyad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"Züleyha"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8800" dirty="0"/>
          </a:p>
        </p:txBody>
      </p:sp>
    </p:spTree>
    <p:extLst>
      <p:ext uri="{BB962C8B-B14F-4D97-AF65-F5344CB8AC3E}">
        <p14:creationId xmlns:p14="http://schemas.microsoft.com/office/powerpoint/2010/main" val="46942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Fonksiyon Argümanları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986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 iki argüman kullanılmıştır. ($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sad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ve $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yil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87229" y="2611843"/>
            <a:ext cx="8305101" cy="34163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unction 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Soyad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sad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yil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</a:t>
            </a:r>
            <a:r>
              <a:rPr lang="tr-TR" b="1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sad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AK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. </a:t>
            </a:r>
            <a:r>
              <a:rPr lang="tr-TR" b="1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$</a:t>
            </a:r>
            <a:r>
              <a:rPr lang="tr-TR" b="1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yil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yılında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 doğmuştur. &lt;</a:t>
            </a:r>
            <a:r>
              <a:rPr lang="tr-TR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Soyad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"Ali"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"1975"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Soyad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"Veli"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"1978"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Soyad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"Burak Zahit"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"1983"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1500" dirty="0"/>
          </a:p>
        </p:txBody>
      </p:sp>
    </p:spTree>
    <p:extLst>
      <p:ext uri="{BB962C8B-B14F-4D97-AF65-F5344CB8AC3E}">
        <p14:creationId xmlns:p14="http://schemas.microsoft.com/office/powerpoint/2010/main" val="331173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Varsayılan Argüman Değeri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28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fonksiyon şayet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argümansız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çağrılırsa fonksiyonun döndüreceği değer önceden belirlenebilir. Aşağıdaki örnekte bu tür kullanımı görmektesiniz.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87229" y="2611843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unction </a:t>
            </a:r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ukseklik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enkucuk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50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“Yükseklik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: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enkucuk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&lt;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br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&gt;”;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ukseklik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350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ukseklik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()</a:t>
            </a:r>
            <a:r>
              <a:rPr lang="tr-TR" b="0" i="0" u="none" strike="noStrike" baseline="0" dirty="0">
                <a:solidFill>
                  <a:srgbClr val="008000"/>
                </a:solidFill>
                <a:latin typeface="Courier New" panose="02070309020205020404" pitchFamily="49" charset="0"/>
              </a:rPr>
              <a:t>// fonksiyon varsayılan değer 50’yi kullanır.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ukseklik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135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tr-TR" dirty="0" err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tr-TR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ukseklik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80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16600" dirty="0"/>
          </a:p>
        </p:txBody>
      </p:sp>
    </p:spTree>
    <p:extLst>
      <p:ext uri="{BB962C8B-B14F-4D97-AF65-F5344CB8AC3E}">
        <p14:creationId xmlns:p14="http://schemas.microsoft.com/office/powerpoint/2010/main" val="2877640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Fonksiyon İçinden Döndürülen Değerler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28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Fonksiyon içinden değer getirmek için “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return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” ifadesi kullanılır.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87229" y="2611843"/>
            <a:ext cx="8305101" cy="34163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tr-TR" b="0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endParaRPr lang="tr-TR" b="0" i="0" u="none" strike="noStrike" baseline="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tr-TR" b="1" dirty="0">
                <a:solidFill>
                  <a:srgbClr val="0000FF"/>
                </a:solidFill>
                <a:latin typeface="Courier New" panose="02070309020205020404" pitchFamily="49" charset="0"/>
              </a:rPr>
              <a:t>f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unction </a:t>
            </a:r>
            <a:r>
              <a:rPr lang="tr-TR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topla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x</a:t>
            </a:r>
            <a:r>
              <a:rPr lang="tr-TR" b="0" i="0" u="none" strike="noStrike" baseline="0" dirty="0" err="1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tr-TR" b="0" i="0" u="none" strike="noStrike" baseline="0" dirty="0" err="1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){</a:t>
            </a:r>
          </a:p>
          <a:p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	$z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=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$x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+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$y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	</a:t>
            </a:r>
            <a:r>
              <a:rPr lang="tr-TR" b="1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>
                <a:solidFill>
                  <a:srgbClr val="000080"/>
                </a:solidFill>
                <a:latin typeface="Courier New" panose="02070309020205020404" pitchFamily="49" charset="0"/>
              </a:rPr>
              <a:t>$z</a:t>
            </a:r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s-ES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s-ES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"5 + 10 = "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es-ES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topla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es-ES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es-ES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).</a:t>
            </a:r>
            <a:r>
              <a:rPr lang="es-ES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es-ES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es-ES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s-ES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s-ES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"7 + 13 = "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es-ES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topla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es-ES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7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es-ES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13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).</a:t>
            </a:r>
            <a:r>
              <a:rPr lang="es-ES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"&lt;</a:t>
            </a:r>
            <a:r>
              <a:rPr lang="es-ES" b="0" i="0" u="none" strike="noStrike" baseline="0" dirty="0" err="1">
                <a:solidFill>
                  <a:srgbClr val="808080"/>
                </a:solidFill>
                <a:latin typeface="Courier New" panose="02070309020205020404" pitchFamily="49" charset="0"/>
              </a:rPr>
              <a:t>br</a:t>
            </a:r>
            <a:r>
              <a:rPr lang="es-ES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&gt;"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s-ES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Echo</a:t>
            </a:r>
            <a:r>
              <a:rPr lang="tr-TR" b="1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es-ES" b="0" i="0" u="none" strike="noStrike" baseline="0" dirty="0">
                <a:solidFill>
                  <a:srgbClr val="808080"/>
                </a:solidFill>
                <a:latin typeface="Courier New" panose="02070309020205020404" pitchFamily="49" charset="0"/>
              </a:rPr>
              <a:t>"2 + 4 = "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.</a:t>
            </a:r>
            <a:r>
              <a:rPr lang="es-ES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topla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(</a:t>
            </a:r>
            <a:r>
              <a:rPr lang="es-ES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2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,</a:t>
            </a:r>
            <a:r>
              <a:rPr lang="es-ES" b="0" i="0" u="none" strike="noStrike" baseline="0" dirty="0">
                <a:solidFill>
                  <a:srgbClr val="FF8000"/>
                </a:solidFill>
                <a:latin typeface="Courier New" panose="02070309020205020404" pitchFamily="49" charset="0"/>
              </a:rPr>
              <a:t>4</a:t>
            </a:r>
            <a:r>
              <a:rPr lang="es-ES" b="0" i="0" u="none" strike="noStrike" baseline="0" dirty="0">
                <a:solidFill>
                  <a:srgbClr val="8000FF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  <a:endParaRPr lang="tr-TR" sz="23900" dirty="0"/>
          </a:p>
        </p:txBody>
      </p:sp>
    </p:spTree>
    <p:extLst>
      <p:ext uri="{BB962C8B-B14F-4D97-AF65-F5344CB8AC3E}">
        <p14:creationId xmlns:p14="http://schemas.microsoft.com/office/powerpoint/2010/main" val="4065814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Argümanları Referansla Geçirme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28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fonksiyon argümanı referansla geçirildiğinde, argümandaki değişiklikler, geçirilen değişkeni de değiştirir. </a:t>
            </a:r>
          </a:p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Bir fonksiyon argümanını referansa dönüştürmek için &amp; operatörü kullanılır: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87229" y="2611843"/>
            <a:ext cx="8305101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function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add_five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(&amp;$value)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$value += 5;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$num = 2;</a:t>
            </a:r>
          </a:p>
          <a:p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add_five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($num);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$num;</a:t>
            </a:r>
            <a:endParaRPr lang="tr-TR" sz="23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57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Değişken Sayıda Argüman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28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Fonksiyon parametresinin önüne ... operatörü eklenerek, fonksiyon bilinmeyen sayıda argüman kabul edebilir.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45284" y="2164360"/>
            <a:ext cx="8305101" cy="415498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function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sumMyNumbers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(...$x)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$n = 0;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len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count($x);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for($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0;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&lt;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len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;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++)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$n += $x[$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}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return $n;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$a =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sumMyNumbers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(5, 2, 6, 2, 7, 7);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$a;</a:t>
            </a:r>
            <a:endParaRPr lang="tr-TR" sz="23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905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Değişken Sayıda Argüman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2"/>
            <a:ext cx="91440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Varyadik argüman son argüman olmalıdır.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86561" y="1795244"/>
            <a:ext cx="8305101" cy="489364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function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myFamily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lastname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...$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firstname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txt = "";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len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count($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firstname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for($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0;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&lt;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len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;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++)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$txt =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txt."Hi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firstname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[$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] $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lastname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.&lt;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br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&gt;";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}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return $txt;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$a =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myFamily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("Doe", "Jane", "John", "Joey");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$a;</a:t>
            </a:r>
            <a:endParaRPr lang="tr-TR" sz="23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433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Argüman Tipi Bildirimi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2"/>
            <a:ext cx="9144000" cy="1564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PHP, değişkenin değerine bağlı olarak otomatik olarak bir veri türü atar. Veri türleri kesin olarak belirlenmediği için, bir 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 ile bir tam sayıyı toplamak gibi işlemleri hata almadan yapabilirsiniz.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20117" y="2441196"/>
            <a:ext cx="8305101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function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addNumbers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(int $a, int $b)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return $a + $b;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addNumbers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(5, "5 days");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since strict is NOT enabled "5 days" is changed to int(5), and it will return 10</a:t>
            </a:r>
            <a:endParaRPr lang="tr-TR" sz="23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006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Argüman Tipi Bildirimi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2"/>
            <a:ext cx="91440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Aşağıdaki örnekte, bir sayıyı ve bir metin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değeri fonksiyona göndermeye çalışıyoruz, ancak burada sıkı (</a:t>
            </a:r>
            <a:r>
              <a:rPr lang="tr-TR" dirty="0" err="1">
                <a:solidFill>
                  <a:srgbClr val="000000"/>
                </a:solidFill>
                <a:latin typeface="Arial" pitchFamily="34" charset="0"/>
              </a:rPr>
              <a:t>strict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) bildirim ekledik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20117" y="2441196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 declare(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strict_types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=1); // strict requirement</a:t>
            </a:r>
          </a:p>
          <a:p>
            <a:endParaRPr lang="en-US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function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addNumbers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(int $a, int $b)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return $a + $b;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addNumbers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(5, "5 days");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since strict is enabled and "5 days" is not an integer, an error will be thrown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sz="23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227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Geri Dönüş Tipi Bildirimi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2"/>
            <a:ext cx="9144000" cy="1204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Fonksiyonun dönüş türünü belirtmek için, fonksiyonu tanımlarken iki nokta (:) ve </a:t>
            </a:r>
            <a:r>
              <a:rPr lang="tr-TR">
                <a:solidFill>
                  <a:srgbClr val="000000"/>
                </a:solidFill>
                <a:latin typeface="Arial" pitchFamily="34" charset="0"/>
              </a:rPr>
              <a:t>türü süslü </a:t>
            </a: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parantez ({) öncesine ekleyin.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20117" y="2441196"/>
            <a:ext cx="8305101" cy="304698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&lt;?php declare(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strict_types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=1); // strict requirement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function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addNumbers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(float $a, float $b) : float {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return $a + $b;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echo </a:t>
            </a:r>
            <a:r>
              <a:rPr lang="en-US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addNumbers</a:t>
            </a:r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(1.2, 5.2);</a:t>
            </a:r>
          </a:p>
          <a:p>
            <a:r>
              <a:rPr lang="en-US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?&gt;</a:t>
            </a:r>
            <a:endParaRPr lang="tr-TR" sz="23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081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28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 adı ve şifresini doğrulamak için bir fonksiyon yazılabilir.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70451" y="1781333"/>
            <a:ext cx="8305101" cy="489364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function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checkLogin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username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password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storedUsername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"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admin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storedPassword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"password123";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if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username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==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storedUsername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&amp;&amp;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password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==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storedPassword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return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"Giriş başarılı!";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} else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return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"Kullanıcı adı veya şifre hatalı.";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checkLogin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admin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", "password123");</a:t>
            </a:r>
            <a:endParaRPr lang="tr-TR" sz="23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21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28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Kullanıcıya doğum tarihinden kaç yaşında olduğunu hesaplamak için bir fonksiyon yazılabilir.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553673" y="2238021"/>
            <a:ext cx="8305101" cy="37856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function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calculateAge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birthDate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birthDate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new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DateTime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birthDate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today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new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DateTime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();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age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today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-&gt;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diff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birthDate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return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age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-&gt;y; // Yaşı döndür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Kullanım:</a:t>
            </a: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"Yaşınız: " .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calculateAge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("1977-01-08");</a:t>
            </a:r>
            <a:endParaRPr lang="tr-TR" sz="23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748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28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Alışveriş sepetinde ürünlerin toplam fiyatını hesaplamak.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1675958"/>
            <a:ext cx="8305101" cy="489364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function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calculateTotal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items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$total = 0;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foreach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items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as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item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    $total +=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item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['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price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'];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}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return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$total;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items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[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['name' =&gt; 'Elma', '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price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' =&gt; 2.5],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['name' =&gt; 'Portakal', '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price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' =&gt; 3.0],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];</a:t>
            </a: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"Toplam Fiyat: " .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calculateTotal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items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</a:t>
            </a:r>
            <a:endParaRPr lang="tr-TR" sz="23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093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40"/>
            <a:ext cx="9144000" cy="800100"/>
          </a:xfrm>
        </p:spPr>
        <p:txBody>
          <a:bodyPr/>
          <a:lstStyle/>
          <a:p>
            <a:r>
              <a:rPr lang="tr-TR" sz="3200" dirty="0"/>
              <a:t>Örnek</a:t>
            </a:r>
            <a:endParaRPr lang="en-US" sz="3200" dirty="0"/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0" y="876301"/>
            <a:ext cx="9144000" cy="128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514350" lvl="1" indent="-342900">
              <a:spcBef>
                <a:spcPct val="20000"/>
              </a:spcBef>
              <a:buClr>
                <a:srgbClr val="0066CC"/>
              </a:buClr>
              <a:buSzPct val="75000"/>
              <a:buFont typeface="Wingdings" panose="05000000000000000000" pitchFamily="2" charset="2"/>
              <a:buChar char="q"/>
            </a:pPr>
            <a:r>
              <a:rPr lang="tr-TR" dirty="0">
                <a:solidFill>
                  <a:srgbClr val="000000"/>
                </a:solidFill>
                <a:latin typeface="Arial" pitchFamily="34" charset="0"/>
              </a:rPr>
              <a:t>Ürün ve vergi hesaplaması ile bir fatura oluşturmak.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81C4ED4-C784-49CE-89F6-19A7C9B7184E}"/>
              </a:ext>
            </a:extLst>
          </p:cNvPr>
          <p:cNvSpPr txBox="1"/>
          <p:nvPr/>
        </p:nvSpPr>
        <p:spPr>
          <a:xfrm>
            <a:off x="419449" y="1675958"/>
            <a:ext cx="8305101" cy="489364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function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calculateInvoice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productPrice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,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taxRate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taxAmount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productPrice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* ($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taxRate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/ 100);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totalPrice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=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productPrice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+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taxAmount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  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return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$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totalPrice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}</a:t>
            </a:r>
          </a:p>
          <a:p>
            <a:endParaRPr lang="tr-TR" b="0" i="0" u="none" strike="noStrike" baseline="0" dirty="0">
              <a:solidFill>
                <a:schemeClr val="accent4"/>
              </a:solidFill>
              <a:latin typeface="Courier New" panose="02070309020205020404" pitchFamily="49" charset="0"/>
            </a:endParaRPr>
          </a:p>
          <a:p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// Kullanım:</a:t>
            </a:r>
          </a:p>
          <a:p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echo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 "Fatura Tutarı: " . </a:t>
            </a:r>
            <a:r>
              <a:rPr lang="tr-TR" b="0" i="0" u="none" strike="noStrike" baseline="0" dirty="0" err="1">
                <a:solidFill>
                  <a:schemeClr val="accent4"/>
                </a:solidFill>
                <a:latin typeface="Courier New" panose="02070309020205020404" pitchFamily="49" charset="0"/>
              </a:rPr>
              <a:t>calculateInvoice</a:t>
            </a:r>
            <a:r>
              <a:rPr lang="tr-TR" b="0" i="0" u="none" strike="noStrike" baseline="0" dirty="0">
                <a:solidFill>
                  <a:schemeClr val="accent4"/>
                </a:solidFill>
                <a:latin typeface="Courier New" panose="02070309020205020404" pitchFamily="49" charset="0"/>
              </a:rPr>
              <a:t>(100, 18); // Ürün fiyatı 100, vergi oranı %18</a:t>
            </a:r>
            <a:endParaRPr lang="tr-TR" sz="23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959194"/>
      </p:ext>
    </p:extLst>
  </p:cSld>
  <p:clrMapOvr>
    <a:masterClrMapping/>
  </p:clrMapOvr>
</p:sld>
</file>

<file path=ppt/theme/theme1.xml><?xml version="1.0" encoding="utf-8"?>
<a:theme xmlns:a="http://schemas.openxmlformats.org/drawingml/2006/main" name="1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5_UMd_Draft4-8Oct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9BE7FF"/>
      </a:accent1>
      <a:accent2>
        <a:srgbClr val="AFFFC2"/>
      </a:accent2>
      <a:accent3>
        <a:srgbClr val="FFFFFF"/>
      </a:accent3>
      <a:accent4>
        <a:srgbClr val="000000"/>
      </a:accent4>
      <a:accent5>
        <a:srgbClr val="CBF1FF"/>
      </a:accent5>
      <a:accent6>
        <a:srgbClr val="9EE7B0"/>
      </a:accent6>
      <a:hlink>
        <a:srgbClr val="FF0066"/>
      </a:hlink>
      <a:folHlink>
        <a:srgbClr val="FFFF7D"/>
      </a:folHlink>
    </a:clrScheme>
    <a:fontScheme name="UMd_Draft4-8Oc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1125" marR="0" indent="-111125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50000"/>
          </a:spcAft>
          <a:buClrTx/>
          <a:buSzTx/>
          <a:buFontTx/>
          <a:buChar char="•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UMd_Draft4-8Oc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Md_Draft4-8Oc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Md_Draft4-8Oc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295730</TotalTime>
  <Words>1240</Words>
  <Application>Microsoft Office PowerPoint</Application>
  <PresentationFormat>Ekran Gösterisi (4:3)</PresentationFormat>
  <Paragraphs>179</Paragraphs>
  <Slides>19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6</vt:i4>
      </vt:variant>
      <vt:variant>
        <vt:lpstr>Slayt Başlıkları</vt:lpstr>
      </vt:variant>
      <vt:variant>
        <vt:i4>19</vt:i4>
      </vt:variant>
    </vt:vector>
  </HeadingPairs>
  <TitlesOfParts>
    <vt:vector size="29" baseType="lpstr">
      <vt:lpstr>Arial</vt:lpstr>
      <vt:lpstr>Courier New</vt:lpstr>
      <vt:lpstr>Times New Roman</vt:lpstr>
      <vt:lpstr>Wingdings</vt:lpstr>
      <vt:lpstr>1_UMd_Draft4-8Oct</vt:lpstr>
      <vt:lpstr>2_UMd_Draft4-8Oct</vt:lpstr>
      <vt:lpstr>3_UMd_Draft4-8Oct</vt:lpstr>
      <vt:lpstr>4_UMd_Draft4-8Oct</vt:lpstr>
      <vt:lpstr>5_UMd_Draft4-8Oct</vt:lpstr>
      <vt:lpstr>15_UMd_Draft4-8Oct</vt:lpstr>
      <vt:lpstr>PowerPoint Sunusu</vt:lpstr>
      <vt:lpstr>Fonksiyonlar</vt:lpstr>
      <vt:lpstr>Kullanıcı Tanımlı Fonksiyonlar</vt:lpstr>
      <vt:lpstr>Kullanıcı Tanımlı Fonksiyonlar</vt:lpstr>
      <vt:lpstr>Fonksiyon Argümanları</vt:lpstr>
      <vt:lpstr>Fonksiyon Argümanları</vt:lpstr>
      <vt:lpstr>Fonksiyon Argümanları</vt:lpstr>
      <vt:lpstr>Varsayılan Argüman Değeri</vt:lpstr>
      <vt:lpstr>Fonksiyon İçinden Döndürülen Değerler</vt:lpstr>
      <vt:lpstr>Argümanları Referansla Geçirme</vt:lpstr>
      <vt:lpstr>Değişken Sayıda Argüman</vt:lpstr>
      <vt:lpstr>Değişken Sayıda Argüman</vt:lpstr>
      <vt:lpstr>Argüman Tipi Bildirimi</vt:lpstr>
      <vt:lpstr>Argüman Tipi Bildirimi</vt:lpstr>
      <vt:lpstr>Geri Dönüş Tipi Bildirimi</vt:lpstr>
      <vt:lpstr>Örnek</vt:lpstr>
      <vt:lpstr>Örnek</vt:lpstr>
      <vt:lpstr>Örnek</vt:lpstr>
      <vt:lpstr>Örnek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JK/KR, modified by C.Xu/E.Attalla</dc:creator>
  <cp:lastModifiedBy>Zihni KAYA</cp:lastModifiedBy>
  <cp:revision>1718</cp:revision>
  <cp:lastPrinted>2013-04-21T19:31:14Z</cp:lastPrinted>
  <dcterms:created xsi:type="dcterms:W3CDTF">1999-10-08T19:08:27Z</dcterms:created>
  <dcterms:modified xsi:type="dcterms:W3CDTF">2026-03-11T11:43:43Z</dcterms:modified>
</cp:coreProperties>
</file>